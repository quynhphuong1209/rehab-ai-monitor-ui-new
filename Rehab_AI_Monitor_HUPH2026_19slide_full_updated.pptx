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85" r:id="rId7"/>
    <p:sldId id="262" r:id="rId8"/>
    <p:sldId id="265" r:id="rId9"/>
    <p:sldId id="266" r:id="rId10"/>
    <p:sldId id="267" r:id="rId11"/>
    <p:sldId id="270" r:id="rId12"/>
    <p:sldId id="271" r:id="rId13"/>
    <p:sldId id="272" r:id="rId14"/>
    <p:sldId id="276" r:id="rId15"/>
    <p:sldId id="999" r:id="rId16"/>
    <p:sldId id="277" r:id="rId17"/>
    <p:sldId id="278" r:id="rId18"/>
    <p:sldId id="279" r:id="rId19"/>
    <p:sldId id="1000" r:id="rId20"/>
    <p:sldId id="280"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261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Em là Quỳnh Phương, trình bày nghiên cứu ứng dụng AI và thị giác máy tính để giám sát tập luyện phục hồi chức năng khớp vai từ xa qua hệ thống Rehab AI Monitor.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có bốn đóng góp chính: một là bộ dữ liệu video bài tập khớp vai của bệnh nhân thực tại Việt Nam, lĩnh vực còn ít bằng chứng; hai là phương pháp marker-less hai tầng kết hợp ngưỡng góc và Random Forest, không cần cảm biến đeo; ba là đối chiếu định lượng giữa AI và chuyên gia bằng ICC, MAE, Bland-Altman và phiếu Bác sĩ / Kỹ thuật viên; bốn là hệ thống web tích hợp end-to-end cho bốn vai trò, phục vụ giám sát từ xa.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gồm 5 phần theo cấu trúc nghiên cứu: đặt vấn đề, mục tiêu, đối tượng-phương pháp, kết quả-bàn luận, kết luận kèm giới thiệu hệ thống.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cầu khoảng một phần ba dân số cần PHCN nhưng tiếp cận hạn chế. Tại Việt Nam thiếu nhân lực, người bệnh phải tự tập tại nhà, dễ tập sai. AI và thị giác máy tính mở ra hướng giám sát bằng camera thường.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Môi trường ghi hình thực tế nhiều yếu tố gây nhiễu điểm mốc. Bằng chứng trên video người bệnh thực ở Việt Nam còn rất ít, nên cần đánh giá tính khả thi trước khi triển khai rộng.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mục tiêu: xây dựng mô hình nhận diện và đánh giá bài tập khớp vai; đối chiếu kết quả AI với tham chiếu và chuyên gia trên video thực; mô tả khả năng tích hợp dashboard, overlay, frame gallery.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slide tóm tắt toàn bộ nghiên cứu: đối tượng là bệnh nhân viêm quanh khớp vai; dữ liệu 8 video 4 bệnh nhân hơn 45 nghìn khung hình; phương pháp MediaPipe Pose và Random Forest với ngưỡng góc; đầu ra là phân loại động tác cùng dashboard, overlay, frame gallery.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OpenCV đọc video, MediaPipe Pose trích 33 điểm mốc, tính góc. Hai nhánh: REF so góc với ngưỡng cho PASS/NEAR/FAIL/UNKNOWN; ML dùng Random Forest phân loại Đúng/Gần đúng/Sai. Không huấn luyện lại MediaPipe, chỉ Random Forest tầng hai được train.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Codman tách ba giai đoạn ngưỡng thắt dần ±45, ±30, ±15 độ. Bài gậy áp ngưỡng ±30 độ toàn video. Đánh giá bằng Accuracy, Precision, Recall, F1, ICC và sai số góc MAE, RMSE.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kết quả tổng hợp quan trọng nhất. Codman vượt trội mọi chỉ số: Accuracy 71,2 so 38,7, hơn 32 điểm phần trăm; PASS+NEAR 89,5 so 47,3; MAE 13,5 so 21,4 độ. Bài gậy có tới 4.221 khung UNKNOWN do phối hợp hai tay và che khuất.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Radar sáu chỉ số cho thấy Codman vượt bài tập với gậy ở hầu hết các chiều. Biểu đồ tương quan và Bland–Altman thể hiện mức độ đồng thuận giữa góc vai do AI tính và góc tham chiếu.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tích hợp phiếu đánh giá chuyên môn. Các lỗi chuyên gia ghi nhận — sai tư thế thân người, vị trí tay, biên độ — trùng hướng với điểm yếu AI phát hiện, củng cố giá trị phản hồi tự động. Tất cả ca đều được chỉ định tiếp tục tập.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Codman tốt hơn vì động tác đơn giản, biên độ nhỏ, ít phối hợp hai tay và tiêu chí góc rõ. Bài gậy phức tạp hơn, dễ bù trừ tư thế nên sai số và UNKNOWN cao. Các sai số phù hợp với giới hạn vốn có của ước lượng tư thế marker-less trên video RGB đơn.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vai trò: bệnh nhân khai báo triệu chứng và tải video; bác sĩ / kỹ thuật viên đối chiếu video, overlay, biểu đồ và nhập phiếu; nghiên cứu viên phân tích, cấu hình MediaPipe, xem dashboard; quản trị viên quản lý tài khoản, phân quyền và vận hành.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sử dụng: Bước 1, bệnh nhân tải video lên web và bấm Gửi. Bước 2, ngay khi gửi, cả Bác sĩ / Kỹ thuật viên và Nghiên cứu viên đều nhận được video. Bước 3a, nghiên cứu viên chạy luồng phân tích: MediaPipe Pose, tính góc, REF cộng Random Forest để phân loại. Bước 3b, bác sĩ / kỹ thuật viên thực hiện luồng đánh giá đối chiếu: xem video, overlay và biểu đồ, đối chiếu quan sát lâm sàng rồi nhập phiếu đánh giá. Bước 4, kết quả được lưu, theo dõi và phản hồi lại cho bệnh nhân.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công cụ kiểm tra trực quan giúp con người hiểu quyết định của AI. Video overlay vẽ khung xương, góc và nhãn lên từng khung. Frame gallery cho phép duyệt và lọc nhanh các khung theo nhãn kèm góc đo và sai số.</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hệ thống marker-less khả thi để lượng hóa và giám sát từ xa, tốt hơn rõ ở Codman, kết quả AI đồng hướng với chuyên gia. Rehab AI Monitor là nền tảng hỗ trợ; cần kiểm chứng cỡ mẫu lớn hơn. Hướng phát triển: mở rộng mẫu, chuẩn hóa ghi hình, bổ sung tiêu chí bù trừ tư thế, và thử các mô hình chuỗi thời gian.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Hội đồng quét mã QR để vào trực tiếp ứng dụng tại rehab-ai-monitor.com và đăng nhập theo bốn vai trò. Toàn bộ mã nguồn và README công khai trên GitHub của nhóm.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Em rất mong nhận được góp ý để hoàn thiện nghiên cứu và hệ thống Rehab AI Monitor.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9.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2.png"/><Relationship Id="rId4" Type="http://schemas.openxmlformats.org/officeDocument/2006/relationships/image" Target="../media/image13.pn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6.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image" Target="../media/image28.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32.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8.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1.png"/><Relationship Id="rId10" Type="http://schemas.openxmlformats.org/officeDocument/2006/relationships/image" Target="../media/image3.png"/><Relationship Id="rId4" Type="http://schemas.openxmlformats.org/officeDocument/2006/relationships/image" Target="../media/image35.png"/><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hyperlink" Target="https://github.com/quynhphuong1209/Rehab-AI-Monitor-UI-new"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hyperlink" Target="https://rehab-ai-monitor.com/" TargetMode="Externa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371F"/>
        </a:solidFill>
        <a:effectLst/>
      </p:bgPr>
    </p:bg>
    <p:spTree>
      <p:nvGrpSpPr>
        <p:cNvPr id="1" name=""/>
        <p:cNvGrpSpPr/>
        <p:nvPr/>
      </p:nvGrpSpPr>
      <p:grpSpPr>
        <a:xfrm>
          <a:off x="0" y="0"/>
          <a:ext cx="0" cy="0"/>
          <a:chOff x="0" y="0"/>
          <a:chExt cx="0" cy="0"/>
        </a:xfrm>
      </p:grpSpPr>
      <p:sp>
        <p:nvSpPr>
          <p:cNvPr id="2" name="Shape 0"/>
          <p:cNvSpPr/>
          <p:nvPr/>
        </p:nvSpPr>
        <p:spPr>
          <a:xfrm>
            <a:off x="8869680" y="-1554480"/>
            <a:ext cx="4754880" cy="4754880"/>
          </a:xfrm>
          <a:prstGeom prst="ellipse">
            <a:avLst/>
          </a:prstGeom>
          <a:solidFill>
            <a:srgbClr val="0C5238"/>
          </a:solidFill>
          <a:ln/>
        </p:spPr>
        <p:txBody>
          <a:bodyPr/>
          <a:lstStyle/>
          <a:p>
            <a:endParaRPr/>
          </a:p>
        </p:txBody>
      </p:sp>
      <p:sp>
        <p:nvSpPr>
          <p:cNvPr id="3" name="Shape 1"/>
          <p:cNvSpPr/>
          <p:nvPr/>
        </p:nvSpPr>
        <p:spPr>
          <a:xfrm>
            <a:off x="10515600" y="4206240"/>
            <a:ext cx="3840480" cy="3840480"/>
          </a:xfrm>
          <a:prstGeom prst="ellipse">
            <a:avLst/>
          </a:prstGeom>
          <a:solidFill>
            <a:srgbClr val="0A4A32"/>
          </a:solidFill>
          <a:ln/>
        </p:spPr>
        <p:txBody>
          <a:bodyPr/>
          <a:lstStyle/>
          <a:p>
            <a:endParaRPr/>
          </a:p>
        </p:txBody>
      </p:sp>
      <p:sp>
        <p:nvSpPr>
          <p:cNvPr id="4" name="Shape 2"/>
          <p:cNvSpPr/>
          <p:nvPr/>
        </p:nvSpPr>
        <p:spPr>
          <a:xfrm>
            <a:off x="-1371600" y="4754880"/>
            <a:ext cx="3474720" cy="3474720"/>
          </a:xfrm>
          <a:prstGeom prst="ellipse">
            <a:avLst/>
          </a:prstGeom>
          <a:solidFill>
            <a:srgbClr val="0A4A32"/>
          </a:solidFill>
          <a:ln/>
        </p:spPr>
        <p:txBody>
          <a:bodyPr/>
          <a:lstStyle/>
          <a:p>
            <a:endParaRPr/>
          </a:p>
        </p:txBody>
      </p:sp>
      <p:pic>
        <p:nvPicPr>
          <p:cNvPr id="5" name="Image 0" descr="/tmp/assets/huph_logo.png"/>
          <p:cNvPicPr>
            <a:picLocks noChangeAspect="1"/>
          </p:cNvPicPr>
          <p:nvPr/>
        </p:nvPicPr>
        <p:blipFill>
          <a:blip r:embed="rId3"/>
          <a:stretch>
            <a:fillRect/>
          </a:stretch>
        </p:blipFill>
        <p:spPr>
          <a:xfrm>
            <a:off x="566928" y="457200"/>
            <a:ext cx="841248" cy="841248"/>
          </a:xfrm>
          <a:prstGeom prst="rect">
            <a:avLst/>
          </a:prstGeom>
        </p:spPr>
      </p:pic>
      <p:sp>
        <p:nvSpPr>
          <p:cNvPr id="6" name="Text 3"/>
          <p:cNvSpPr/>
          <p:nvPr/>
        </p:nvSpPr>
        <p:spPr>
          <a:xfrm>
            <a:off x="1517904" y="475488"/>
            <a:ext cx="9875520" cy="365760"/>
          </a:xfrm>
          <a:prstGeom prst="rect">
            <a:avLst/>
          </a:prstGeom>
          <a:noFill/>
          <a:ln/>
        </p:spPr>
        <p:txBody>
          <a:bodyPr wrap="square" lIns="0" tIns="0" rIns="0" bIns="0" rtlCol="0" anchor="ctr"/>
          <a:lstStyle/>
          <a:p>
            <a:pPr marL="0" indent="0">
              <a:buNone/>
            </a:pPr>
            <a:r>
              <a:rPr lang="en-US" sz="1100" b="1" kern="0" spc="50" dirty="0">
                <a:solidFill>
                  <a:srgbClr val="BFE0CE"/>
                </a:solidFill>
                <a:latin typeface="Arial" pitchFamily="34" charset="0"/>
                <a:ea typeface="Arial" pitchFamily="34" charset="-122"/>
                <a:cs typeface="Arial" pitchFamily="34" charset="-120"/>
              </a:rPr>
              <a:t>TRƯỜNG ĐẠI HỌC Y TẾ CÔNG CỘNG  ·  HANOI UNIVERSITY OF PUBLIC HEALTH</a:t>
            </a:r>
            <a:endParaRPr lang="en-US" sz="1100" dirty="0"/>
          </a:p>
        </p:txBody>
      </p:sp>
      <p:sp>
        <p:nvSpPr>
          <p:cNvPr id="7" name="Text 4"/>
          <p:cNvSpPr/>
          <p:nvPr/>
        </p:nvSpPr>
        <p:spPr>
          <a:xfrm>
            <a:off x="1517904" y="786384"/>
            <a:ext cx="9875520" cy="310896"/>
          </a:xfrm>
          <a:prstGeom prst="rect">
            <a:avLst/>
          </a:prstGeom>
          <a:noFill/>
          <a:ln/>
        </p:spPr>
        <p:txBody>
          <a:bodyPr wrap="square" lIns="0" tIns="0" rIns="0" bIns="0" rtlCol="0" anchor="ctr"/>
          <a:lstStyle/>
          <a:p>
            <a:pPr marL="0" indent="0">
              <a:buNone/>
            </a:pPr>
            <a:r>
              <a:rPr lang="en-US" sz="1050" kern="0" spc="160" dirty="0">
                <a:solidFill>
                  <a:srgbClr val="8FBBA4"/>
                </a:solidFill>
                <a:latin typeface="Arial" pitchFamily="34" charset="0"/>
                <a:ea typeface="Arial" pitchFamily="34" charset="-122"/>
                <a:cs typeface="Arial" pitchFamily="34" charset="-120"/>
              </a:rPr>
              <a:t>HỘI NGHỊ KHOA HỌC VÀ CÔNG NGHỆ TUỔI TRẺ HUPH 2026</a:t>
            </a:r>
            <a:endParaRPr lang="en-US" sz="1050" dirty="0"/>
          </a:p>
        </p:txBody>
      </p:sp>
      <p:sp>
        <p:nvSpPr>
          <p:cNvPr id="8" name="Text 5"/>
          <p:cNvSpPr/>
          <p:nvPr/>
        </p:nvSpPr>
        <p:spPr>
          <a:xfrm>
            <a:off x="566928" y="1783080"/>
            <a:ext cx="10698480" cy="1828800"/>
          </a:xfrm>
          <a:prstGeom prst="rect">
            <a:avLst/>
          </a:prstGeom>
          <a:noFill/>
          <a:ln/>
        </p:spPr>
        <p:txBody>
          <a:bodyPr wrap="square" lIns="0" tIns="0" rIns="0" bIns="0" rtlCol="0" anchor="t"/>
          <a:lstStyle/>
          <a:p>
            <a:pPr marL="0" indent="0" algn="ctr">
              <a:lnSpc>
                <a:spcPct val="104000"/>
              </a:lnSpc>
              <a:buNone/>
            </a:pPr>
            <a:r>
              <a:rPr lang="en-US" sz="3300" b="1" dirty="0">
                <a:solidFill>
                  <a:srgbClr val="FFFFFF"/>
                </a:solidFill>
                <a:latin typeface="Arial" pitchFamily="34" charset="0"/>
                <a:ea typeface="Arial" pitchFamily="34" charset="-122"/>
                <a:cs typeface="Arial" pitchFamily="34" charset="-120"/>
              </a:rPr>
              <a:t>ỨNG DỤNG TRÍ TUỆ NHÂN TẠO (AI) VÀ THỊ GIÁC MÁY TÍNH TRONG GIÁM SÁT TẬP LUYỆN PHỤC HỒI CHỨC NĂNG TỪ XA TẠI VIỆT NAM</a:t>
            </a:r>
            <a:endParaRPr lang="en-US" sz="3300" dirty="0"/>
          </a:p>
        </p:txBody>
      </p:sp>
      <p:sp>
        <p:nvSpPr>
          <p:cNvPr id="9" name="Shape 6"/>
          <p:cNvSpPr/>
          <p:nvPr/>
        </p:nvSpPr>
        <p:spPr>
          <a:xfrm>
            <a:off x="603504" y="3785616"/>
            <a:ext cx="9509760" cy="585216"/>
          </a:xfrm>
          <a:prstGeom prst="roundRect">
            <a:avLst>
              <a:gd name="adj" fmla="val 50000"/>
            </a:avLst>
          </a:prstGeom>
          <a:solidFill>
            <a:srgbClr val="0E6A45"/>
          </a:solidFill>
          <a:ln/>
        </p:spPr>
        <p:txBody>
          <a:bodyPr/>
          <a:lstStyle/>
          <a:p>
            <a:endParaRPr/>
          </a:p>
        </p:txBody>
      </p:sp>
      <p:pic>
        <p:nvPicPr>
          <p:cNvPr id="10" name="Image 1" descr="preencoded.png"/>
          <p:cNvPicPr>
            <a:picLocks noChangeAspect="1"/>
          </p:cNvPicPr>
          <p:nvPr/>
        </p:nvPicPr>
        <p:blipFill>
          <a:blip r:embed="rId4"/>
          <a:stretch>
            <a:fillRect/>
          </a:stretch>
        </p:blipFill>
        <p:spPr>
          <a:xfrm>
            <a:off x="850392" y="3913632"/>
            <a:ext cx="329184" cy="329184"/>
          </a:xfrm>
          <a:prstGeom prst="rect">
            <a:avLst/>
          </a:prstGeom>
        </p:spPr>
      </p:pic>
      <p:sp>
        <p:nvSpPr>
          <p:cNvPr id="11" name="Text 7"/>
          <p:cNvSpPr/>
          <p:nvPr/>
        </p:nvSpPr>
        <p:spPr>
          <a:xfrm>
            <a:off x="1280160" y="3785616"/>
            <a:ext cx="8686800" cy="585216"/>
          </a:xfrm>
          <a:prstGeom prst="rect">
            <a:avLst/>
          </a:prstGeom>
          <a:noFill/>
          <a:ln/>
        </p:spPr>
        <p:txBody>
          <a:bodyPr wrap="square" lIns="0" tIns="0" rIns="0" bIns="0" rtlCol="0" anchor="ctr"/>
          <a:lstStyle/>
          <a:p>
            <a:pPr marL="0" indent="0">
              <a:buNone/>
            </a:pPr>
            <a:r>
              <a:rPr lang="en-US" sz="1400" i="1" dirty="0">
                <a:solidFill>
                  <a:srgbClr val="EAF6EF"/>
                </a:solidFill>
                <a:latin typeface="Arial" pitchFamily="34" charset="0"/>
                <a:ea typeface="Arial" pitchFamily="34" charset="-122"/>
                <a:cs typeface="Arial" pitchFamily="34" charset="-120"/>
              </a:rPr>
              <a:t>Hệ thống Rehab AI Monitor — đánh giá chất lượng bài tập khớp vai bằng MediaPipe Pose &amp; Random Forest</a:t>
            </a:r>
            <a:endParaRPr lang="en-US" sz="1400" dirty="0"/>
          </a:p>
        </p:txBody>
      </p:sp>
      <p:sp>
        <p:nvSpPr>
          <p:cNvPr id="12" name="Text 8"/>
          <p:cNvSpPr/>
          <p:nvPr/>
        </p:nvSpPr>
        <p:spPr>
          <a:xfrm>
            <a:off x="603504" y="4773168"/>
            <a:ext cx="10972800"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Báo cáo viên:  </a:t>
            </a:r>
            <a:r>
              <a:rPr lang="en-US" sz="1800" dirty="0">
                <a:solidFill>
                  <a:srgbClr val="DCEFE4"/>
                </a:solidFill>
                <a:latin typeface="Arial" pitchFamily="34" charset="0"/>
                <a:ea typeface="Arial" pitchFamily="34" charset="-122"/>
                <a:cs typeface="Arial" pitchFamily="34" charset="-120"/>
              </a:rPr>
              <a:t>Đinh Lê Quỳnh Phương (CNCQ KHDL1-1A)</a:t>
            </a:r>
            <a:endParaRPr lang="en-US" sz="1800" dirty="0"/>
          </a:p>
        </p:txBody>
      </p:sp>
      <p:sp>
        <p:nvSpPr>
          <p:cNvPr id="13" name="Text 9"/>
          <p:cNvSpPr/>
          <p:nvPr/>
        </p:nvSpPr>
        <p:spPr>
          <a:xfrm>
            <a:off x="603504" y="5330952"/>
            <a:ext cx="1133856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Người hướng dẫn:  </a:t>
            </a:r>
            <a:r>
              <a:rPr lang="en-US" sz="1600" dirty="0">
                <a:solidFill>
                  <a:srgbClr val="DCEFE4"/>
                </a:solidFill>
                <a:latin typeface="Arial" pitchFamily="34" charset="0"/>
                <a:ea typeface="Arial" pitchFamily="34" charset="-122"/>
                <a:cs typeface="Arial" pitchFamily="34" charset="-120"/>
              </a:rPr>
              <a:t>TS. Trần Hồng Việt (Viện Trí tuệ Nhân tạo, ĐH Công nghệ, ĐHQG HN)  ·  CN. Nguyễn Thị Thùy Chi (Trường ĐHYTCC)</a:t>
            </a:r>
            <a:endParaRPr lang="en-US" sz="1600" dirty="0"/>
          </a:p>
        </p:txBody>
      </p:sp>
      <p:sp>
        <p:nvSpPr>
          <p:cNvPr id="14" name="Text 10"/>
          <p:cNvSpPr/>
          <p:nvPr/>
        </p:nvSpPr>
        <p:spPr>
          <a:xfrm>
            <a:off x="603504" y="5932268"/>
            <a:ext cx="115214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Nhóm nghiên cứu:  </a:t>
            </a:r>
            <a:r>
              <a:rPr lang="en-US" sz="1600" dirty="0">
                <a:solidFill>
                  <a:srgbClr val="C7E4D5"/>
                </a:solidFill>
                <a:latin typeface="Arial" pitchFamily="34" charset="0"/>
                <a:ea typeface="Arial" pitchFamily="34" charset="-122"/>
                <a:cs typeface="Arial" pitchFamily="34" charset="-120"/>
              </a:rPr>
              <a:t>Kim Mạnh Hưng, Nguyễn Thị Thanh Nga (CNCQ KHDL1-1A) · Nguyễn Thị </a:t>
            </a:r>
            <a:r>
              <a:rPr lang="en-US" sz="1600" dirty="0" err="1">
                <a:solidFill>
                  <a:srgbClr val="C7E4D5"/>
                </a:solidFill>
                <a:latin typeface="Arial" pitchFamily="34" charset="0"/>
                <a:ea typeface="Arial" pitchFamily="34" charset="-122"/>
                <a:cs typeface="Arial" pitchFamily="34" charset="-120"/>
              </a:rPr>
              <a:t>Thơm</a:t>
            </a:r>
            <a:r>
              <a:rPr lang="en-US" sz="1600" dirty="0">
                <a:solidFill>
                  <a:srgbClr val="C7E4D5"/>
                </a:solidFill>
                <a:latin typeface="Arial" pitchFamily="34" charset="0"/>
                <a:ea typeface="Arial" pitchFamily="34" charset="-122"/>
                <a:cs typeface="Arial" pitchFamily="34" charset="-120"/>
              </a:rPr>
              <a:t> (CNCQ KTPHCN3-1A) · Nguyễn Thị Thu Hương (CNCQ YTCC22-1A)</a:t>
            </a:r>
            <a:endParaRPr lang="en-US" sz="1600" dirty="0"/>
          </a:p>
        </p:txBody>
      </p:sp>
      <p:pic>
        <p:nvPicPr>
          <p:cNvPr id="15" name="Image 0" descr="/tmp/assets/qr_web.png">
            <a:extLst>
              <a:ext uri="{FF2B5EF4-FFF2-40B4-BE49-F238E27FC236}">
                <a16:creationId xmlns:a16="http://schemas.microsoft.com/office/drawing/2014/main" id="{BB9789FB-05C3-A228-CCE8-8527CC5903EC}"/>
              </a:ext>
            </a:extLst>
          </p:cNvPr>
          <p:cNvPicPr>
            <a:picLocks noChangeAspect="1"/>
          </p:cNvPicPr>
          <p:nvPr/>
        </p:nvPicPr>
        <p:blipFill>
          <a:blip r:embed="rId5"/>
          <a:stretch>
            <a:fillRect/>
          </a:stretch>
        </p:blipFill>
        <p:spPr>
          <a:xfrm>
            <a:off x="10186337" y="207967"/>
            <a:ext cx="1346513" cy="13465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ĐIỂM NHẤN KHOA HỌC</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Bốn đóng góp khoa học chính</a:t>
            </a:r>
            <a:endParaRPr lang="en-US" sz="2900" dirty="0"/>
          </a:p>
        </p:txBody>
      </p:sp>
      <p:sp>
        <p:nvSpPr>
          <p:cNvPr id="4" name="Shape 2"/>
          <p:cNvSpPr/>
          <p:nvPr/>
        </p:nvSpPr>
        <p:spPr>
          <a:xfrm>
            <a:off x="566928" y="1828800"/>
            <a:ext cx="5413248" cy="1828800"/>
          </a:xfrm>
          <a:prstGeom prst="roundRect">
            <a:avLst>
              <a:gd name="adj" fmla="val 7000"/>
            </a:avLst>
          </a:prstGeom>
          <a:solidFill>
            <a:srgbClr val="005F35"/>
          </a:solidFill>
          <a:ln/>
          <a:effectLst>
            <a:outerShdw blurRad="114300" dist="50800" dir="5400000" algn="bl" rotWithShape="0">
              <a:srgbClr val="0B3322">
                <a:alpha val="13000"/>
              </a:srgbClr>
            </a:outerShdw>
          </a:effectLst>
        </p:spPr>
        <p:txBody>
          <a:bodyPr/>
          <a:lstStyle/>
          <a:p>
            <a:endParaRPr/>
          </a:p>
        </p:txBody>
      </p:sp>
      <p:sp>
        <p:nvSpPr>
          <p:cNvPr id="5" name="Text 3"/>
          <p:cNvSpPr/>
          <p:nvPr/>
        </p:nvSpPr>
        <p:spPr>
          <a:xfrm>
            <a:off x="841248" y="1874520"/>
            <a:ext cx="1280160" cy="566928"/>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01</a:t>
            </a:r>
            <a:endParaRPr lang="en-US" sz="3000" dirty="0"/>
          </a:p>
        </p:txBody>
      </p:sp>
      <p:sp>
        <p:nvSpPr>
          <p:cNvPr id="6" name="Shape 4"/>
          <p:cNvSpPr/>
          <p:nvPr/>
        </p:nvSpPr>
        <p:spPr>
          <a:xfrm>
            <a:off x="5010912" y="1927274"/>
            <a:ext cx="603504" cy="603504"/>
          </a:xfrm>
          <a:prstGeom prst="ellipse">
            <a:avLst/>
          </a:prstGeom>
          <a:solidFill>
            <a:srgbClr val="FFFFFF"/>
          </a:solidFill>
          <a:ln/>
          <a:effectLst>
            <a:outerShdw blurRad="114300" dist="50800" dir="5400000" algn="bl" rotWithShape="0">
              <a:srgbClr val="0B3322">
                <a:alpha val="13000"/>
              </a:srgbClr>
            </a:outerShdw>
          </a:effectLst>
        </p:spPr>
        <p:txBody>
          <a:bodyPr/>
          <a:lstStyle/>
          <a:p>
            <a:endParaRPr/>
          </a:p>
        </p:txBody>
      </p:sp>
      <p:pic>
        <p:nvPicPr>
          <p:cNvPr id="7" name="Image 0" descr="preencoded.png"/>
          <p:cNvPicPr>
            <a:picLocks noChangeAspect="1"/>
          </p:cNvPicPr>
          <p:nvPr/>
        </p:nvPicPr>
        <p:blipFill>
          <a:blip r:embed="rId3"/>
          <a:stretch>
            <a:fillRect/>
          </a:stretch>
        </p:blipFill>
        <p:spPr>
          <a:xfrm>
            <a:off x="5161788" y="2090723"/>
            <a:ext cx="301752" cy="301752"/>
          </a:xfrm>
          <a:prstGeom prst="rect">
            <a:avLst/>
          </a:prstGeom>
        </p:spPr>
      </p:pic>
      <p:sp>
        <p:nvSpPr>
          <p:cNvPr id="8" name="Text 5"/>
          <p:cNvSpPr/>
          <p:nvPr/>
        </p:nvSpPr>
        <p:spPr>
          <a:xfrm>
            <a:off x="832585" y="2286000"/>
            <a:ext cx="4828032" cy="402336"/>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Bộ dữ liệu người bệnh thực</a:t>
            </a:r>
            <a:endParaRPr lang="en-US" sz="1800" dirty="0"/>
          </a:p>
        </p:txBody>
      </p:sp>
      <p:sp>
        <p:nvSpPr>
          <p:cNvPr id="9" name="Text 6"/>
          <p:cNvSpPr/>
          <p:nvPr/>
        </p:nvSpPr>
        <p:spPr>
          <a:xfrm>
            <a:off x="832585" y="2705356"/>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EAF6EF"/>
                </a:solidFill>
                <a:latin typeface="Arial" pitchFamily="34" charset="0"/>
                <a:ea typeface="Arial" pitchFamily="34" charset="-122"/>
                <a:cs typeface="Arial" pitchFamily="34" charset="-120"/>
              </a:rPr>
              <a:t>Video bài tập khớp vai của bệnh nhân viêm quanh khớp vai thực tại Việt Nam (4 BN · 8 video · 45.446 khung hình) — bối cảnh lâm sàng gần như chưa có dữ liệu marker-less được kiểm chứng.</a:t>
            </a:r>
            <a:endParaRPr lang="en-US" sz="1400" dirty="0"/>
          </a:p>
        </p:txBody>
      </p:sp>
      <p:sp>
        <p:nvSpPr>
          <p:cNvPr id="10" name="Shape 7"/>
          <p:cNvSpPr/>
          <p:nvPr/>
        </p:nvSpPr>
        <p:spPr>
          <a:xfrm>
            <a:off x="6227064" y="1828800"/>
            <a:ext cx="5413248" cy="1828800"/>
          </a:xfrm>
          <a:prstGeom prst="roundRect">
            <a:avLst>
              <a:gd name="adj" fmla="val 7000"/>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1" name="Text 8"/>
          <p:cNvSpPr/>
          <p:nvPr/>
        </p:nvSpPr>
        <p:spPr>
          <a:xfrm>
            <a:off x="6501384" y="1881797"/>
            <a:ext cx="1280160" cy="566928"/>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02</a:t>
            </a:r>
            <a:endParaRPr lang="en-US" sz="3000" dirty="0"/>
          </a:p>
        </p:txBody>
      </p:sp>
      <p:sp>
        <p:nvSpPr>
          <p:cNvPr id="12" name="Shape 9"/>
          <p:cNvSpPr/>
          <p:nvPr/>
        </p:nvSpPr>
        <p:spPr>
          <a:xfrm>
            <a:off x="10671048" y="1934119"/>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3" name="Image 1" descr="preencoded.png"/>
          <p:cNvPicPr>
            <a:picLocks noChangeAspect="1"/>
          </p:cNvPicPr>
          <p:nvPr/>
        </p:nvPicPr>
        <p:blipFill>
          <a:blip r:embed="rId4"/>
          <a:stretch>
            <a:fillRect/>
          </a:stretch>
        </p:blipFill>
        <p:spPr>
          <a:xfrm>
            <a:off x="10821924" y="2061972"/>
            <a:ext cx="301752" cy="301752"/>
          </a:xfrm>
          <a:prstGeom prst="rect">
            <a:avLst/>
          </a:prstGeom>
        </p:spPr>
      </p:pic>
      <p:sp>
        <p:nvSpPr>
          <p:cNvPr id="14" name="Text 10"/>
          <p:cNvSpPr/>
          <p:nvPr/>
        </p:nvSpPr>
        <p:spPr>
          <a:xfrm>
            <a:off x="6501384" y="2258568"/>
            <a:ext cx="4828032" cy="402336"/>
          </a:xfrm>
          <a:prstGeom prst="rect">
            <a:avLst/>
          </a:prstGeom>
          <a:noFill/>
          <a:ln/>
        </p:spPr>
        <p:txBody>
          <a:bodyPr wrap="square" lIns="0" tIns="0" rIns="0" bIns="0" rtlCol="0" anchor="ctr"/>
          <a:lstStyle/>
          <a:p>
            <a:pPr marL="0" indent="0">
              <a:buNone/>
            </a:pPr>
            <a:r>
              <a:rPr lang="en-US" sz="1800" b="1" dirty="0">
                <a:solidFill>
                  <a:srgbClr val="13241B"/>
                </a:solidFill>
                <a:latin typeface="Arial" pitchFamily="34" charset="0"/>
                <a:ea typeface="Arial" pitchFamily="34" charset="-122"/>
                <a:cs typeface="Arial" pitchFamily="34" charset="-120"/>
              </a:rPr>
              <a:t>Phương pháp marker-less hai tầng</a:t>
            </a:r>
            <a:endParaRPr lang="en-US" sz="1800" dirty="0"/>
          </a:p>
        </p:txBody>
      </p:sp>
      <p:sp>
        <p:nvSpPr>
          <p:cNvPr id="15" name="Text 11"/>
          <p:cNvSpPr/>
          <p:nvPr/>
        </p:nvSpPr>
        <p:spPr>
          <a:xfrm>
            <a:off x="6501384" y="2660044"/>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32463C"/>
                </a:solidFill>
                <a:latin typeface="Arial" pitchFamily="34" charset="0"/>
                <a:ea typeface="Arial" pitchFamily="34" charset="-122"/>
                <a:cs typeface="Arial" pitchFamily="34" charset="-120"/>
              </a:rPr>
              <a:t>Pipeline hai tầng lai (REF rule-based → Random Forest) trên MediaPipe Pose: tầng ngưỡng xác định biên độ nhanh, tầng ML xử lý bù trừ tư thế — chỉ cần một camera RGB thông thường.</a:t>
            </a:r>
            <a:endParaRPr lang="en-US" sz="1400" dirty="0"/>
          </a:p>
        </p:txBody>
      </p:sp>
      <p:sp>
        <p:nvSpPr>
          <p:cNvPr id="16" name="Shape 12"/>
          <p:cNvSpPr/>
          <p:nvPr/>
        </p:nvSpPr>
        <p:spPr>
          <a:xfrm>
            <a:off x="566928" y="3822192"/>
            <a:ext cx="5413248" cy="1828800"/>
          </a:xfrm>
          <a:prstGeom prst="roundRect">
            <a:avLst>
              <a:gd name="adj" fmla="val 7000"/>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7" name="Text 13"/>
          <p:cNvSpPr/>
          <p:nvPr/>
        </p:nvSpPr>
        <p:spPr>
          <a:xfrm>
            <a:off x="841248" y="4023360"/>
            <a:ext cx="1280160" cy="566928"/>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03</a:t>
            </a:r>
            <a:endParaRPr lang="en-US" sz="3000" dirty="0"/>
          </a:p>
        </p:txBody>
      </p:sp>
      <p:sp>
        <p:nvSpPr>
          <p:cNvPr id="18" name="Shape 14"/>
          <p:cNvSpPr/>
          <p:nvPr/>
        </p:nvSpPr>
        <p:spPr>
          <a:xfrm>
            <a:off x="5010912" y="4096512"/>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9" name="Image 2" descr="preencoded.png"/>
          <p:cNvPicPr>
            <a:picLocks noChangeAspect="1"/>
          </p:cNvPicPr>
          <p:nvPr/>
        </p:nvPicPr>
        <p:blipFill>
          <a:blip r:embed="rId5"/>
          <a:stretch>
            <a:fillRect/>
          </a:stretch>
        </p:blipFill>
        <p:spPr>
          <a:xfrm>
            <a:off x="5161788" y="4247388"/>
            <a:ext cx="301752" cy="301752"/>
          </a:xfrm>
          <a:prstGeom prst="rect">
            <a:avLst/>
          </a:prstGeom>
        </p:spPr>
      </p:pic>
      <p:sp>
        <p:nvSpPr>
          <p:cNvPr id="20" name="Text 15"/>
          <p:cNvSpPr/>
          <p:nvPr/>
        </p:nvSpPr>
        <p:spPr>
          <a:xfrm>
            <a:off x="841248" y="4472258"/>
            <a:ext cx="4828032" cy="402336"/>
          </a:xfrm>
          <a:prstGeom prst="rect">
            <a:avLst/>
          </a:prstGeom>
          <a:noFill/>
          <a:ln/>
        </p:spPr>
        <p:txBody>
          <a:bodyPr wrap="square" lIns="0" tIns="0" rIns="0" bIns="0" rtlCol="0" anchor="ctr"/>
          <a:lstStyle/>
          <a:p>
            <a:pPr marL="0" indent="0">
              <a:buNone/>
            </a:pPr>
            <a:r>
              <a:rPr lang="en-US" sz="1800" b="1" dirty="0">
                <a:solidFill>
                  <a:srgbClr val="13241B"/>
                </a:solidFill>
                <a:latin typeface="Arial" pitchFamily="34" charset="0"/>
                <a:ea typeface="Arial" pitchFamily="34" charset="-122"/>
                <a:cs typeface="Arial" pitchFamily="34" charset="-120"/>
              </a:rPr>
              <a:t>Đối chiếu AI ↔ chuyên gia</a:t>
            </a:r>
            <a:endParaRPr lang="en-US" sz="1800" dirty="0"/>
          </a:p>
        </p:txBody>
      </p:sp>
      <p:sp>
        <p:nvSpPr>
          <p:cNvPr id="21" name="Text 16"/>
          <p:cNvSpPr/>
          <p:nvPr/>
        </p:nvSpPr>
        <p:spPr>
          <a:xfrm>
            <a:off x="841248" y="4924886"/>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32463C"/>
                </a:solidFill>
                <a:latin typeface="Arial" pitchFamily="34" charset="0"/>
                <a:ea typeface="Arial" pitchFamily="34" charset="-122"/>
                <a:cs typeface="Arial" pitchFamily="34" charset="-120"/>
              </a:rPr>
              <a:t>Kiểm chứng định lượng bằng ICC, MAE, Bland–Altman &amp; phiếu Bác sĩ / Kỹ thuật viên — AI và chuyên gia cùng phát hiện lỗi tư thế, biên độ.</a:t>
            </a:r>
            <a:endParaRPr lang="en-US" sz="1400" dirty="0"/>
          </a:p>
        </p:txBody>
      </p:sp>
      <p:sp>
        <p:nvSpPr>
          <p:cNvPr id="22" name="Shape 17"/>
          <p:cNvSpPr/>
          <p:nvPr/>
        </p:nvSpPr>
        <p:spPr>
          <a:xfrm>
            <a:off x="6227064" y="3822192"/>
            <a:ext cx="5413248" cy="1828800"/>
          </a:xfrm>
          <a:prstGeom prst="roundRect">
            <a:avLst>
              <a:gd name="adj" fmla="val 7000"/>
            </a:avLst>
          </a:prstGeom>
          <a:solidFill>
            <a:srgbClr val="005F35"/>
          </a:solidFill>
          <a:ln/>
          <a:effectLst>
            <a:outerShdw blurRad="114300" dist="50800" dir="5400000" algn="bl" rotWithShape="0">
              <a:srgbClr val="0B3322">
                <a:alpha val="13000"/>
              </a:srgbClr>
            </a:outerShdw>
          </a:effectLst>
        </p:spPr>
        <p:txBody>
          <a:bodyPr/>
          <a:lstStyle/>
          <a:p>
            <a:endParaRPr/>
          </a:p>
        </p:txBody>
      </p:sp>
      <p:sp>
        <p:nvSpPr>
          <p:cNvPr id="23" name="Text 18"/>
          <p:cNvSpPr/>
          <p:nvPr/>
        </p:nvSpPr>
        <p:spPr>
          <a:xfrm>
            <a:off x="6501384" y="4023360"/>
            <a:ext cx="1280160" cy="566928"/>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04</a:t>
            </a:r>
            <a:endParaRPr lang="en-US" sz="3000" dirty="0"/>
          </a:p>
        </p:txBody>
      </p:sp>
      <p:sp>
        <p:nvSpPr>
          <p:cNvPr id="24" name="Shape 19"/>
          <p:cNvSpPr/>
          <p:nvPr/>
        </p:nvSpPr>
        <p:spPr>
          <a:xfrm>
            <a:off x="10671048" y="4096512"/>
            <a:ext cx="603504" cy="603504"/>
          </a:xfrm>
          <a:prstGeom prst="ellipse">
            <a:avLst/>
          </a:prstGeom>
          <a:solidFill>
            <a:srgbClr val="FFFFFF"/>
          </a:solidFill>
          <a:ln/>
          <a:effectLst>
            <a:outerShdw blurRad="114300" dist="50800" dir="5400000" algn="bl" rotWithShape="0">
              <a:srgbClr val="0B3322">
                <a:alpha val="13000"/>
              </a:srgbClr>
            </a:outerShdw>
          </a:effectLst>
        </p:spPr>
        <p:txBody>
          <a:bodyPr/>
          <a:lstStyle/>
          <a:p>
            <a:endParaRPr/>
          </a:p>
        </p:txBody>
      </p:sp>
      <p:pic>
        <p:nvPicPr>
          <p:cNvPr id="25" name="Image 3" descr="preencoded.png"/>
          <p:cNvPicPr>
            <a:picLocks noChangeAspect="1"/>
          </p:cNvPicPr>
          <p:nvPr/>
        </p:nvPicPr>
        <p:blipFill>
          <a:blip r:embed="rId6"/>
          <a:stretch>
            <a:fillRect/>
          </a:stretch>
        </p:blipFill>
        <p:spPr>
          <a:xfrm>
            <a:off x="10821924" y="4247388"/>
            <a:ext cx="301752" cy="301752"/>
          </a:xfrm>
          <a:prstGeom prst="rect">
            <a:avLst/>
          </a:prstGeom>
        </p:spPr>
      </p:pic>
      <p:sp>
        <p:nvSpPr>
          <p:cNvPr id="26" name="Text 20"/>
          <p:cNvSpPr/>
          <p:nvPr/>
        </p:nvSpPr>
        <p:spPr>
          <a:xfrm>
            <a:off x="6519672" y="4472258"/>
            <a:ext cx="4828032" cy="402336"/>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Hệ thống tích hợp end-to-end</a:t>
            </a:r>
            <a:endParaRPr lang="en-US" sz="1800" dirty="0"/>
          </a:p>
        </p:txBody>
      </p:sp>
      <p:sp>
        <p:nvSpPr>
          <p:cNvPr id="27" name="Text 21"/>
          <p:cNvSpPr/>
          <p:nvPr/>
        </p:nvSpPr>
        <p:spPr>
          <a:xfrm>
            <a:off x="6501384" y="4929759"/>
            <a:ext cx="4828032" cy="548640"/>
          </a:xfrm>
          <a:prstGeom prst="rect">
            <a:avLst/>
          </a:prstGeom>
          <a:noFill/>
          <a:ln/>
        </p:spPr>
        <p:txBody>
          <a:bodyPr wrap="square" lIns="0" tIns="0" rIns="0" bIns="0" rtlCol="0" anchor="t"/>
          <a:lstStyle/>
          <a:p>
            <a:pPr marL="0" indent="0">
              <a:lnSpc>
                <a:spcPct val="105000"/>
              </a:lnSpc>
              <a:buNone/>
            </a:pPr>
            <a:r>
              <a:rPr lang="en-US" sz="1400" dirty="0">
                <a:solidFill>
                  <a:srgbClr val="EAF6EF"/>
                </a:solidFill>
                <a:latin typeface="Arial" pitchFamily="34" charset="0"/>
                <a:ea typeface="Arial" pitchFamily="34" charset="-122"/>
                <a:cs typeface="Arial" pitchFamily="34" charset="-120"/>
              </a:rPr>
              <a:t>Nền tảng web Rehab AI Monitor: phân tích AI + đánh giá lâm sàng + dashboard / overlay / frame gallery cho 4 vai trò, giám sát từ xa.</a:t>
            </a:r>
            <a:endParaRPr lang="en-US" sz="1400" dirty="0"/>
          </a:p>
        </p:txBody>
      </p:sp>
      <p:pic>
        <p:nvPicPr>
          <p:cNvPr id="28"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29" name="Text 2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0" name="Text 2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02 / 19</a:t>
            </a:r>
            <a:endParaRPr lang="en-US" sz="850" dirty="0"/>
          </a:p>
        </p:txBody>
      </p:sp>
      <p:pic>
        <p:nvPicPr>
          <p:cNvPr id="31" name="Image 0" descr="/tmp/assets/qr_web.png">
            <a:extLst>
              <a:ext uri="{FF2B5EF4-FFF2-40B4-BE49-F238E27FC236}">
                <a16:creationId xmlns:a16="http://schemas.microsoft.com/office/drawing/2014/main" id="{EC7B31D5-27B9-14DB-694D-FEC1D266F01B}"/>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ctr">
              <a:buNone/>
            </a:pPr>
            <a:r>
              <a:rPr lang="en-US" sz="2900" b="1" dirty="0">
                <a:solidFill>
                  <a:srgbClr val="13241B"/>
                </a:solidFill>
                <a:latin typeface="Arial" pitchFamily="34" charset="0"/>
                <a:ea typeface="Arial" pitchFamily="34" charset="-122"/>
                <a:cs typeface="Arial" pitchFamily="34" charset="-120"/>
              </a:rPr>
              <a:t>Nội dung</a:t>
            </a:r>
            <a:endParaRPr lang="en-US" sz="2900" dirty="0"/>
          </a:p>
        </p:txBody>
      </p:sp>
      <p:sp>
        <p:nvSpPr>
          <p:cNvPr id="4" name="Shape 2"/>
          <p:cNvSpPr/>
          <p:nvPr/>
        </p:nvSpPr>
        <p:spPr>
          <a:xfrm>
            <a:off x="822960" y="1783080"/>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Text 3"/>
          <p:cNvSpPr/>
          <p:nvPr/>
        </p:nvSpPr>
        <p:spPr>
          <a:xfrm>
            <a:off x="1024128" y="1783080"/>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01</a:t>
            </a:r>
            <a:endParaRPr lang="en-US" sz="2800" dirty="0"/>
          </a:p>
        </p:txBody>
      </p:sp>
      <p:sp>
        <p:nvSpPr>
          <p:cNvPr id="6" name="Shape 4"/>
          <p:cNvSpPr/>
          <p:nvPr/>
        </p:nvSpPr>
        <p:spPr>
          <a:xfrm>
            <a:off x="1737360" y="1929384"/>
            <a:ext cx="457200" cy="45720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7" name="Image 0" descr="preencoded.png"/>
          <p:cNvPicPr>
            <a:picLocks noChangeAspect="1"/>
          </p:cNvPicPr>
          <p:nvPr/>
        </p:nvPicPr>
        <p:blipFill>
          <a:blip r:embed="rId3"/>
          <a:stretch>
            <a:fillRect/>
          </a:stretch>
        </p:blipFill>
        <p:spPr>
          <a:xfrm>
            <a:off x="1847088" y="2039112"/>
            <a:ext cx="237744" cy="237744"/>
          </a:xfrm>
          <a:prstGeom prst="rect">
            <a:avLst/>
          </a:prstGeom>
        </p:spPr>
      </p:pic>
      <p:sp>
        <p:nvSpPr>
          <p:cNvPr id="8" name="Text 5"/>
          <p:cNvSpPr/>
          <p:nvPr/>
        </p:nvSpPr>
        <p:spPr>
          <a:xfrm>
            <a:off x="2395728" y="1874520"/>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ĐẶT VẤN ĐỀ</a:t>
            </a:r>
            <a:endParaRPr lang="en-US" sz="2000" dirty="0"/>
          </a:p>
        </p:txBody>
      </p:sp>
      <p:sp>
        <p:nvSpPr>
          <p:cNvPr id="9" name="Text 6"/>
          <p:cNvSpPr/>
          <p:nvPr/>
        </p:nvSpPr>
        <p:spPr>
          <a:xfrm>
            <a:off x="6126480" y="1832984"/>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Nhu cầu PHCN từ xa &amp; khoảng trống bằng chứng tại Việt Nam</a:t>
            </a:r>
            <a:endParaRPr lang="en-US" sz="1600" dirty="0"/>
          </a:p>
        </p:txBody>
      </p:sp>
      <p:sp>
        <p:nvSpPr>
          <p:cNvPr id="10" name="Shape 7"/>
          <p:cNvSpPr/>
          <p:nvPr/>
        </p:nvSpPr>
        <p:spPr>
          <a:xfrm>
            <a:off x="822960" y="2660904"/>
            <a:ext cx="10607040" cy="749808"/>
          </a:xfrm>
          <a:prstGeom prst="roundRect">
            <a:avLst>
              <a:gd name="adj" fmla="val 12195"/>
            </a:avLst>
          </a:prstGeom>
          <a:solidFill>
            <a:srgbClr val="FFFFFF"/>
          </a:solidFill>
          <a:ln/>
          <a:effectLst>
            <a:outerShdw blurRad="114300" dist="50800" dir="5400000" algn="bl" rotWithShape="0">
              <a:srgbClr val="0B3322">
                <a:alpha val="13000"/>
              </a:srgbClr>
            </a:outerShdw>
          </a:effectLst>
        </p:spPr>
        <p:txBody>
          <a:bodyPr/>
          <a:lstStyle/>
          <a:p>
            <a:endParaRPr lang="en-US" dirty="0"/>
          </a:p>
        </p:txBody>
      </p:sp>
      <p:sp>
        <p:nvSpPr>
          <p:cNvPr id="11" name="Text 8"/>
          <p:cNvSpPr/>
          <p:nvPr/>
        </p:nvSpPr>
        <p:spPr>
          <a:xfrm>
            <a:off x="1024128" y="2660904"/>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02</a:t>
            </a:r>
            <a:endParaRPr lang="en-US" sz="2800" dirty="0"/>
          </a:p>
        </p:txBody>
      </p:sp>
      <p:sp>
        <p:nvSpPr>
          <p:cNvPr id="12" name="Shape 9"/>
          <p:cNvSpPr/>
          <p:nvPr/>
        </p:nvSpPr>
        <p:spPr>
          <a:xfrm>
            <a:off x="1737360" y="2807208"/>
            <a:ext cx="457200" cy="45720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3" name="Image 1" descr="preencoded.png"/>
          <p:cNvPicPr>
            <a:picLocks noChangeAspect="1"/>
          </p:cNvPicPr>
          <p:nvPr/>
        </p:nvPicPr>
        <p:blipFill>
          <a:blip r:embed="rId4"/>
          <a:stretch>
            <a:fillRect/>
          </a:stretch>
        </p:blipFill>
        <p:spPr>
          <a:xfrm>
            <a:off x="1847088" y="2916936"/>
            <a:ext cx="237744" cy="237744"/>
          </a:xfrm>
          <a:prstGeom prst="rect">
            <a:avLst/>
          </a:prstGeom>
        </p:spPr>
      </p:pic>
      <p:sp>
        <p:nvSpPr>
          <p:cNvPr id="14" name="Text 10"/>
          <p:cNvSpPr/>
          <p:nvPr/>
        </p:nvSpPr>
        <p:spPr>
          <a:xfrm>
            <a:off x="2395728" y="2752344"/>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MỤC TIÊU NGHIÊN CỨU</a:t>
            </a:r>
            <a:endParaRPr lang="en-US" sz="2000" dirty="0"/>
          </a:p>
        </p:txBody>
      </p:sp>
      <p:sp>
        <p:nvSpPr>
          <p:cNvPr id="15" name="Text 11"/>
          <p:cNvSpPr/>
          <p:nvPr/>
        </p:nvSpPr>
        <p:spPr>
          <a:xfrm>
            <a:off x="6126480" y="2710808"/>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Hai mục tiêu: xây dựng và đánh giá mô hình; so sánh độ chính xác với chuyên gia</a:t>
            </a:r>
            <a:endParaRPr lang="en-US" sz="1600" dirty="0"/>
          </a:p>
        </p:txBody>
      </p:sp>
      <p:sp>
        <p:nvSpPr>
          <p:cNvPr id="16" name="Shape 12"/>
          <p:cNvSpPr/>
          <p:nvPr/>
        </p:nvSpPr>
        <p:spPr>
          <a:xfrm>
            <a:off x="822960" y="3538728"/>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7" name="Text 13"/>
          <p:cNvSpPr/>
          <p:nvPr/>
        </p:nvSpPr>
        <p:spPr>
          <a:xfrm>
            <a:off x="1024128" y="3538728"/>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03</a:t>
            </a:r>
            <a:endParaRPr lang="en-US" sz="2800" dirty="0"/>
          </a:p>
        </p:txBody>
      </p:sp>
      <p:sp>
        <p:nvSpPr>
          <p:cNvPr id="18" name="Shape 14"/>
          <p:cNvSpPr/>
          <p:nvPr/>
        </p:nvSpPr>
        <p:spPr>
          <a:xfrm>
            <a:off x="1737360" y="3685032"/>
            <a:ext cx="457200" cy="45720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9" name="Image 2" descr="preencoded.png"/>
          <p:cNvPicPr>
            <a:picLocks noChangeAspect="1"/>
          </p:cNvPicPr>
          <p:nvPr/>
        </p:nvPicPr>
        <p:blipFill>
          <a:blip r:embed="rId5"/>
          <a:stretch>
            <a:fillRect/>
          </a:stretch>
        </p:blipFill>
        <p:spPr>
          <a:xfrm>
            <a:off x="1847088" y="3794760"/>
            <a:ext cx="237744" cy="237744"/>
          </a:xfrm>
          <a:prstGeom prst="rect">
            <a:avLst/>
          </a:prstGeom>
        </p:spPr>
      </p:pic>
      <p:sp>
        <p:nvSpPr>
          <p:cNvPr id="20" name="Text 15"/>
          <p:cNvSpPr/>
          <p:nvPr/>
        </p:nvSpPr>
        <p:spPr>
          <a:xfrm>
            <a:off x="2395728" y="3630168"/>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cs typeface="Arial" pitchFamily="34" charset="-120"/>
              </a:rPr>
              <a:t>ĐỐI TƯỢNG &amp; PHƯƠNG PHÁP</a:t>
            </a:r>
            <a:endParaRPr lang="en-US" sz="2000" dirty="0"/>
          </a:p>
        </p:txBody>
      </p:sp>
      <p:sp>
        <p:nvSpPr>
          <p:cNvPr id="21" name="Text 16"/>
          <p:cNvSpPr/>
          <p:nvPr/>
        </p:nvSpPr>
        <p:spPr>
          <a:xfrm>
            <a:off x="6126480" y="3588632"/>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Bệnh nhân viêm quanh khớp vai · MediaPipe Pose + Random Forest</a:t>
            </a:r>
            <a:endParaRPr lang="en-US" sz="1600" dirty="0"/>
          </a:p>
        </p:txBody>
      </p:sp>
      <p:sp>
        <p:nvSpPr>
          <p:cNvPr id="22" name="Shape 17"/>
          <p:cNvSpPr/>
          <p:nvPr/>
        </p:nvSpPr>
        <p:spPr>
          <a:xfrm>
            <a:off x="822960" y="4416552"/>
            <a:ext cx="10607040" cy="749808"/>
          </a:xfrm>
          <a:prstGeom prst="roundRect">
            <a:avLst>
              <a:gd name="adj" fmla="val 12195"/>
            </a:avLst>
          </a:prstGeom>
          <a:solidFill>
            <a:srgbClr val="FFFFFF"/>
          </a:solidFill>
          <a:ln/>
          <a:effectLst>
            <a:outerShdw blurRad="114300" dist="50800" dir="5400000" algn="bl" rotWithShape="0">
              <a:srgbClr val="0B3322">
                <a:alpha val="13000"/>
              </a:srgbClr>
            </a:outerShdw>
          </a:effectLst>
        </p:spPr>
        <p:txBody>
          <a:bodyPr/>
          <a:lstStyle/>
          <a:p>
            <a:endParaRPr/>
          </a:p>
        </p:txBody>
      </p:sp>
      <p:sp>
        <p:nvSpPr>
          <p:cNvPr id="23" name="Text 18"/>
          <p:cNvSpPr/>
          <p:nvPr/>
        </p:nvSpPr>
        <p:spPr>
          <a:xfrm>
            <a:off x="1024128" y="4416552"/>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04</a:t>
            </a:r>
            <a:endParaRPr lang="en-US" sz="2800" dirty="0"/>
          </a:p>
        </p:txBody>
      </p:sp>
      <p:sp>
        <p:nvSpPr>
          <p:cNvPr id="24" name="Shape 19"/>
          <p:cNvSpPr/>
          <p:nvPr/>
        </p:nvSpPr>
        <p:spPr>
          <a:xfrm>
            <a:off x="1737360" y="4562856"/>
            <a:ext cx="457200" cy="45720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25" name="Image 3" descr="preencoded.png"/>
          <p:cNvPicPr>
            <a:picLocks noChangeAspect="1"/>
          </p:cNvPicPr>
          <p:nvPr/>
        </p:nvPicPr>
        <p:blipFill>
          <a:blip r:embed="rId6"/>
          <a:stretch>
            <a:fillRect/>
          </a:stretch>
        </p:blipFill>
        <p:spPr>
          <a:xfrm>
            <a:off x="1847088" y="4672584"/>
            <a:ext cx="237744" cy="237744"/>
          </a:xfrm>
          <a:prstGeom prst="rect">
            <a:avLst/>
          </a:prstGeom>
        </p:spPr>
      </p:pic>
      <p:sp>
        <p:nvSpPr>
          <p:cNvPr id="26" name="Text 20"/>
          <p:cNvSpPr/>
          <p:nvPr/>
        </p:nvSpPr>
        <p:spPr>
          <a:xfrm>
            <a:off x="2395728" y="4507992"/>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KẾT QUẢ &amp; BÀN LUẬN</a:t>
            </a:r>
            <a:endParaRPr lang="en-US" sz="2000" dirty="0"/>
          </a:p>
        </p:txBody>
      </p:sp>
      <p:sp>
        <p:nvSpPr>
          <p:cNvPr id="27" name="Text 21"/>
          <p:cNvSpPr/>
          <p:nvPr/>
        </p:nvSpPr>
        <p:spPr>
          <a:xfrm>
            <a:off x="6126480" y="4466456"/>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Kết quả tổng hợp theo bài tập, giai đoạn, người bệnh &amp; đánh giá của Bác sĩ / Kỹ thuật viên</a:t>
            </a:r>
            <a:endParaRPr lang="en-US" sz="1600" dirty="0"/>
          </a:p>
        </p:txBody>
      </p:sp>
      <p:sp>
        <p:nvSpPr>
          <p:cNvPr id="28" name="Shape 22"/>
          <p:cNvSpPr/>
          <p:nvPr/>
        </p:nvSpPr>
        <p:spPr>
          <a:xfrm>
            <a:off x="822960" y="5294376"/>
            <a:ext cx="10607040" cy="749808"/>
          </a:xfrm>
          <a:prstGeom prst="roundRect">
            <a:avLst>
              <a:gd name="adj" fmla="val 12195"/>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29" name="Text 23"/>
          <p:cNvSpPr/>
          <p:nvPr/>
        </p:nvSpPr>
        <p:spPr>
          <a:xfrm>
            <a:off x="1024128" y="5294376"/>
            <a:ext cx="731520" cy="749808"/>
          </a:xfrm>
          <a:prstGeom prst="rect">
            <a:avLst/>
          </a:prstGeom>
          <a:noFill/>
          <a:ln/>
        </p:spPr>
        <p:txBody>
          <a:bodyPr wrap="square" lIns="0" tIns="0" rIns="0" bIns="0" rtlCol="0" anchor="ctr"/>
          <a:lstStyle/>
          <a:p>
            <a:pPr marL="0" indent="0" algn="l">
              <a:buNone/>
            </a:pPr>
            <a:r>
              <a:rPr lang="en-US" sz="2800" b="1" dirty="0">
                <a:solidFill>
                  <a:srgbClr val="BCD8C8"/>
                </a:solidFill>
                <a:latin typeface="Arial" pitchFamily="34" charset="0"/>
                <a:ea typeface="Arial" pitchFamily="34" charset="-122"/>
                <a:cs typeface="Arial" pitchFamily="34" charset="-120"/>
              </a:rPr>
              <a:t>05</a:t>
            </a:r>
            <a:endParaRPr lang="en-US" sz="2800" dirty="0"/>
          </a:p>
        </p:txBody>
      </p:sp>
      <p:sp>
        <p:nvSpPr>
          <p:cNvPr id="30" name="Shape 24"/>
          <p:cNvSpPr/>
          <p:nvPr/>
        </p:nvSpPr>
        <p:spPr>
          <a:xfrm>
            <a:off x="1737360" y="5440680"/>
            <a:ext cx="457200" cy="45720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31" name="Image 4" descr="preencoded.png"/>
          <p:cNvPicPr>
            <a:picLocks noChangeAspect="1"/>
          </p:cNvPicPr>
          <p:nvPr/>
        </p:nvPicPr>
        <p:blipFill>
          <a:blip r:embed="rId7"/>
          <a:stretch>
            <a:fillRect/>
          </a:stretch>
        </p:blipFill>
        <p:spPr>
          <a:xfrm>
            <a:off x="1847088" y="5550408"/>
            <a:ext cx="237744" cy="237744"/>
          </a:xfrm>
          <a:prstGeom prst="rect">
            <a:avLst/>
          </a:prstGeom>
        </p:spPr>
      </p:pic>
      <p:sp>
        <p:nvSpPr>
          <p:cNvPr id="32" name="Text 25"/>
          <p:cNvSpPr/>
          <p:nvPr/>
        </p:nvSpPr>
        <p:spPr>
          <a:xfrm>
            <a:off x="2395728" y="5385816"/>
            <a:ext cx="3657600" cy="56692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cs typeface="Arial" pitchFamily="34" charset="-120"/>
              </a:rPr>
              <a:t>HỆ THỐNG &amp; KẾT LUẬN</a:t>
            </a:r>
            <a:endParaRPr lang="en-US" sz="2000" dirty="0"/>
          </a:p>
        </p:txBody>
      </p:sp>
      <p:sp>
        <p:nvSpPr>
          <p:cNvPr id="33" name="Text 26"/>
          <p:cNvSpPr/>
          <p:nvPr/>
        </p:nvSpPr>
        <p:spPr>
          <a:xfrm>
            <a:off x="6126480" y="5344280"/>
            <a:ext cx="5120640" cy="650000"/>
          </a:xfrm>
          <a:prstGeom prst="rect">
            <a:avLst/>
          </a:prstGeom>
          <a:noFill/>
          <a:ln/>
        </p:spPr>
        <p:txBody>
          <a:bodyPr wrap="square" lIns="0" tIns="0" rIns="0" bIns="0" rtlCol="0" anchor="ctr"/>
          <a:lstStyle/>
          <a:p>
            <a:pPr marL="0" indent="0">
              <a:buNone/>
            </a:pPr>
            <a:r>
              <a:rPr lang="en-US" sz="1600" dirty="0">
                <a:solidFill>
                  <a:srgbClr val="5C6E64"/>
                </a:solidFill>
                <a:latin typeface="Arial" pitchFamily="34" charset="0"/>
                <a:ea typeface="Arial" pitchFamily="34" charset="-122"/>
                <a:cs typeface="Arial" pitchFamily="34" charset="-120"/>
              </a:rPr>
              <a:t>Tính khả thi, hướng phát triển &amp; nền tảng Rehab AI Monitor</a:t>
            </a:r>
            <a:endParaRPr lang="en-US" sz="1600" dirty="0"/>
          </a:p>
        </p:txBody>
      </p:sp>
      <p:pic>
        <p:nvPicPr>
          <p:cNvPr id="34" name="Image 5"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35" name="Text 2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6" name="Text 2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03 / 19</a:t>
            </a:r>
            <a:endParaRPr lang="en-US" sz="850" dirty="0"/>
          </a:p>
        </p:txBody>
      </p:sp>
      <p:pic>
        <p:nvPicPr>
          <p:cNvPr id="37" name="Image 0" descr="/tmp/assets/qr_web.png">
            <a:extLst>
              <a:ext uri="{FF2B5EF4-FFF2-40B4-BE49-F238E27FC236}">
                <a16:creationId xmlns:a16="http://schemas.microsoft.com/office/drawing/2014/main" id="{AEAD82F6-A72B-D247-DEA7-5D5D46AA1767}"/>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01 · ĐẶT VẤN ĐỀ</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Phục hồi chức năng từ xa — nhu cầu thiết yếu</a:t>
            </a:r>
            <a:endParaRPr lang="en-US" sz="2900" dirty="0"/>
          </a:p>
        </p:txBody>
      </p:sp>
      <p:sp>
        <p:nvSpPr>
          <p:cNvPr id="4" name="Shape 2"/>
          <p:cNvSpPr/>
          <p:nvPr/>
        </p:nvSpPr>
        <p:spPr>
          <a:xfrm>
            <a:off x="566928" y="1783080"/>
            <a:ext cx="3529584" cy="1783080"/>
          </a:xfrm>
          <a:prstGeom prst="roundRect">
            <a:avLst>
              <a:gd name="adj" fmla="val 6154"/>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Text 3"/>
          <p:cNvSpPr/>
          <p:nvPr/>
        </p:nvSpPr>
        <p:spPr>
          <a:xfrm>
            <a:off x="676656" y="1892808"/>
            <a:ext cx="3310128" cy="891540"/>
          </a:xfrm>
          <a:prstGeom prst="rect">
            <a:avLst/>
          </a:prstGeom>
          <a:noFill/>
          <a:ln/>
        </p:spPr>
        <p:txBody>
          <a:bodyPr wrap="square" lIns="0" tIns="0" rIns="0" bIns="0" rtlCol="0" anchor="b"/>
          <a:lstStyle/>
          <a:p>
            <a:pPr marL="0" indent="0" algn="ctr">
              <a:buNone/>
            </a:pPr>
            <a:r>
              <a:rPr lang="en-US" sz="4000" b="1" dirty="0">
                <a:solidFill>
                  <a:srgbClr val="005F35"/>
                </a:solidFill>
                <a:latin typeface="Arial" pitchFamily="34" charset="0"/>
                <a:ea typeface="Arial" pitchFamily="34" charset="-122"/>
                <a:cs typeface="Arial" pitchFamily="34" charset="-120"/>
              </a:rPr>
              <a:t>~1/3</a:t>
            </a:r>
            <a:endParaRPr lang="en-US" sz="4000" dirty="0"/>
          </a:p>
        </p:txBody>
      </p:sp>
      <p:sp>
        <p:nvSpPr>
          <p:cNvPr id="6" name="Text 4"/>
          <p:cNvSpPr/>
          <p:nvPr/>
        </p:nvSpPr>
        <p:spPr>
          <a:xfrm>
            <a:off x="713232"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dân số toàn cầu có nhu cầu phục hồi chức năng (GBD 2019)</a:t>
            </a:r>
            <a:endParaRPr lang="en-US" sz="1600" dirty="0"/>
          </a:p>
        </p:txBody>
      </p:sp>
      <p:sp>
        <p:nvSpPr>
          <p:cNvPr id="7" name="Shape 5"/>
          <p:cNvSpPr/>
          <p:nvPr/>
        </p:nvSpPr>
        <p:spPr>
          <a:xfrm>
            <a:off x="4343400" y="1783080"/>
            <a:ext cx="3529584" cy="1783080"/>
          </a:xfrm>
          <a:prstGeom prst="roundRect">
            <a:avLst>
              <a:gd name="adj" fmla="val 6154"/>
            </a:avLst>
          </a:prstGeom>
          <a:solidFill>
            <a:srgbClr val="DCEDE3"/>
          </a:solidFill>
          <a:ln/>
          <a:effectLst>
            <a:outerShdw blurRad="114300" dist="50800" dir="5400000" algn="bl" rotWithShape="0">
              <a:srgbClr val="0B3322">
                <a:alpha val="13000"/>
              </a:srgbClr>
            </a:outerShdw>
          </a:effectLst>
        </p:spPr>
        <p:txBody>
          <a:bodyPr/>
          <a:lstStyle/>
          <a:p>
            <a:endParaRPr/>
          </a:p>
        </p:txBody>
      </p:sp>
      <p:sp>
        <p:nvSpPr>
          <p:cNvPr id="8" name="Text 6"/>
          <p:cNvSpPr/>
          <p:nvPr/>
        </p:nvSpPr>
        <p:spPr>
          <a:xfrm>
            <a:off x="4440936" y="1768934"/>
            <a:ext cx="3310128" cy="891540"/>
          </a:xfrm>
          <a:prstGeom prst="rect">
            <a:avLst/>
          </a:prstGeom>
          <a:noFill/>
          <a:ln/>
        </p:spPr>
        <p:txBody>
          <a:bodyPr wrap="square" lIns="0" tIns="0" rIns="0" bIns="0" rtlCol="0" anchor="b"/>
          <a:lstStyle/>
          <a:p>
            <a:pPr marL="0" indent="0" algn="ctr">
              <a:buNone/>
            </a:pPr>
            <a:r>
              <a:rPr lang="en-US" sz="3000" b="1" dirty="0">
                <a:solidFill>
                  <a:srgbClr val="005F35"/>
                </a:solidFill>
                <a:latin typeface="Arial" pitchFamily="34" charset="0"/>
                <a:ea typeface="Arial" pitchFamily="34" charset="-122"/>
                <a:cs typeface="Arial" pitchFamily="34" charset="-120"/>
              </a:rPr>
              <a:t>Thiếu hụt</a:t>
            </a:r>
            <a:endParaRPr lang="en-US" sz="3000" dirty="0"/>
          </a:p>
        </p:txBody>
      </p:sp>
      <p:sp>
        <p:nvSpPr>
          <p:cNvPr id="9" name="Text 7"/>
          <p:cNvSpPr/>
          <p:nvPr/>
        </p:nvSpPr>
        <p:spPr>
          <a:xfrm>
            <a:off x="4489704"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nhân lực PHCN, khoảng cách địa lý &amp; chi phí đi lại tại Việt Nam</a:t>
            </a:r>
            <a:endParaRPr lang="en-US" sz="1600" dirty="0"/>
          </a:p>
        </p:txBody>
      </p:sp>
      <p:sp>
        <p:nvSpPr>
          <p:cNvPr id="10" name="Shape 8"/>
          <p:cNvSpPr/>
          <p:nvPr/>
        </p:nvSpPr>
        <p:spPr>
          <a:xfrm>
            <a:off x="8119872" y="1783080"/>
            <a:ext cx="3529584" cy="1783080"/>
          </a:xfrm>
          <a:prstGeom prst="roundRect">
            <a:avLst>
              <a:gd name="adj" fmla="val 6154"/>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1" name="Text 9"/>
          <p:cNvSpPr/>
          <p:nvPr/>
        </p:nvSpPr>
        <p:spPr>
          <a:xfrm>
            <a:off x="8217408" y="1770419"/>
            <a:ext cx="3310128" cy="891540"/>
          </a:xfrm>
          <a:prstGeom prst="rect">
            <a:avLst/>
          </a:prstGeom>
          <a:noFill/>
          <a:ln/>
        </p:spPr>
        <p:txBody>
          <a:bodyPr wrap="square" lIns="0" tIns="0" rIns="0" bIns="0" rtlCol="0" anchor="b"/>
          <a:lstStyle/>
          <a:p>
            <a:pPr marL="0" indent="0" algn="ctr">
              <a:buNone/>
            </a:pPr>
            <a:r>
              <a:rPr lang="en-US" sz="3200" b="1" dirty="0">
                <a:solidFill>
                  <a:srgbClr val="005F35"/>
                </a:solidFill>
                <a:latin typeface="Arial" pitchFamily="34" charset="0"/>
                <a:ea typeface="Arial" pitchFamily="34" charset="-122"/>
                <a:cs typeface="Arial" pitchFamily="34" charset="-120"/>
              </a:rPr>
              <a:t>Tự tập</a:t>
            </a:r>
            <a:endParaRPr lang="en-US" sz="3200" dirty="0"/>
          </a:p>
        </p:txBody>
      </p:sp>
      <p:sp>
        <p:nvSpPr>
          <p:cNvPr id="12" name="Text 10"/>
          <p:cNvSpPr/>
          <p:nvPr/>
        </p:nvSpPr>
        <p:spPr>
          <a:xfrm>
            <a:off x="8266176" y="2763774"/>
            <a:ext cx="3236976" cy="748894"/>
          </a:xfrm>
          <a:prstGeom prst="rect">
            <a:avLst/>
          </a:prstGeom>
          <a:noFill/>
          <a:ln/>
        </p:spPr>
        <p:txBody>
          <a:bodyPr wrap="square" lIns="0" tIns="0" rIns="0" bIns="0" rtlCol="0" anchor="t"/>
          <a:lstStyle/>
          <a:p>
            <a:pPr marL="0" indent="0" algn="ctr">
              <a:buNone/>
            </a:pPr>
            <a:r>
              <a:rPr lang="en-US" sz="1600" dirty="0">
                <a:solidFill>
                  <a:srgbClr val="13241B"/>
                </a:solidFill>
                <a:latin typeface="Arial" pitchFamily="34" charset="0"/>
                <a:ea typeface="Arial" pitchFamily="34" charset="-122"/>
                <a:cs typeface="Arial" pitchFamily="34" charset="-120"/>
              </a:rPr>
              <a:t>tại nhà không giám sát → tập sai, đau tăng, giảm tuân thủ</a:t>
            </a:r>
            <a:endParaRPr lang="en-US" sz="1600" dirty="0"/>
          </a:p>
        </p:txBody>
      </p:sp>
      <p:sp>
        <p:nvSpPr>
          <p:cNvPr id="13" name="Shape 11"/>
          <p:cNvSpPr/>
          <p:nvPr/>
        </p:nvSpPr>
        <p:spPr>
          <a:xfrm>
            <a:off x="566928" y="3840480"/>
            <a:ext cx="11064240" cy="1783080"/>
          </a:xfrm>
          <a:prstGeom prst="roundRect">
            <a:avLst>
              <a:gd name="adj" fmla="val 6154"/>
            </a:avLst>
          </a:prstGeom>
          <a:solidFill>
            <a:srgbClr val="FFFFFF"/>
          </a:solidFill>
          <a:ln w="12700">
            <a:solidFill>
              <a:srgbClr val="CBE0D3"/>
            </a:solidFill>
            <a:prstDash val="solid"/>
          </a:ln>
        </p:spPr>
        <p:txBody>
          <a:bodyPr/>
          <a:lstStyle/>
          <a:p>
            <a:endParaRPr/>
          </a:p>
        </p:txBody>
      </p:sp>
      <p:sp>
        <p:nvSpPr>
          <p:cNvPr id="14" name="Shape 12"/>
          <p:cNvSpPr/>
          <p:nvPr/>
        </p:nvSpPr>
        <p:spPr>
          <a:xfrm>
            <a:off x="868680" y="4160520"/>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5" name="Image 0" descr="preencoded.png"/>
          <p:cNvPicPr>
            <a:picLocks noChangeAspect="1"/>
          </p:cNvPicPr>
          <p:nvPr/>
        </p:nvPicPr>
        <p:blipFill>
          <a:blip r:embed="rId3"/>
          <a:stretch>
            <a:fillRect/>
          </a:stretch>
        </p:blipFill>
        <p:spPr>
          <a:xfrm>
            <a:off x="1019556" y="4311396"/>
            <a:ext cx="301752" cy="301752"/>
          </a:xfrm>
          <a:prstGeom prst="rect">
            <a:avLst/>
          </a:prstGeom>
        </p:spPr>
      </p:pic>
      <p:sp>
        <p:nvSpPr>
          <p:cNvPr id="16" name="Text 13"/>
          <p:cNvSpPr/>
          <p:nvPr/>
        </p:nvSpPr>
        <p:spPr>
          <a:xfrm>
            <a:off x="1627632" y="4078224"/>
            <a:ext cx="969264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Cơ hội từ AI &amp; thị giác máy tính</a:t>
            </a:r>
            <a:endParaRPr lang="en-US" sz="2400" dirty="0"/>
          </a:p>
        </p:txBody>
      </p:sp>
      <p:sp>
        <p:nvSpPr>
          <p:cNvPr id="17" name="Text 14"/>
          <p:cNvSpPr/>
          <p:nvPr/>
        </p:nvSpPr>
        <p:spPr>
          <a:xfrm>
            <a:off x="1623060" y="4485132"/>
            <a:ext cx="9784080" cy="1097280"/>
          </a:xfrm>
          <a:prstGeom prst="rect">
            <a:avLst/>
          </a:prstGeom>
          <a:noFill/>
          <a:ln/>
        </p:spPr>
        <p:txBody>
          <a:bodyPr wrap="square" lIns="0" tIns="0" rIns="0" bIns="0" rtlCol="0" anchor="t"/>
          <a:lstStyle/>
          <a:p>
            <a:pPr marL="0" indent="0">
              <a:lnSpc>
                <a:spcPct val="106000"/>
              </a:lnSpc>
              <a:buNone/>
            </a:pPr>
            <a:r>
              <a:rPr lang="en-US" dirty="0">
                <a:solidFill>
                  <a:srgbClr val="32463C"/>
                </a:solidFill>
                <a:latin typeface="Arial" pitchFamily="34" charset="0"/>
                <a:ea typeface="Arial" pitchFamily="34" charset="-122"/>
                <a:cs typeface="Arial" pitchFamily="34" charset="-120"/>
              </a:rPr>
              <a:t>Lượng hóa vận động bằng camera thông thường, </a:t>
            </a:r>
            <a:r>
              <a:rPr lang="en-US" b="1" dirty="0">
                <a:solidFill>
                  <a:srgbClr val="13241B"/>
                </a:solidFill>
                <a:latin typeface="Arial" pitchFamily="34" charset="0"/>
                <a:ea typeface="Arial" pitchFamily="34" charset="-122"/>
                <a:cs typeface="Arial" pitchFamily="34" charset="-120"/>
              </a:rPr>
              <a:t>không cần cảm biến đeo hay hệ thống đánh dấu chuyên dụng</a:t>
            </a:r>
            <a:r>
              <a:rPr lang="en-US" dirty="0">
                <a:solidFill>
                  <a:srgbClr val="32463C"/>
                </a:solidFill>
                <a:latin typeface="Arial" pitchFamily="34" charset="0"/>
                <a:ea typeface="Arial" pitchFamily="34" charset="-122"/>
                <a:cs typeface="Arial" pitchFamily="34" charset="-120"/>
              </a:rPr>
              <a:t>. Mô hình ước lượng tư thế hỗ trợ cá nhân hóa phản hồi, theo dõi tuân thủ và tạo dữ liệu định lượng cho nhân viên y tế ngay tại nhà.</a:t>
            </a:r>
            <a:endParaRPr lang="en-US" dirty="0"/>
          </a:p>
        </p:txBody>
      </p:sp>
      <p:pic>
        <p:nvPicPr>
          <p:cNvPr id="18" name="Image 1" descr="/tmp/assets/huph_logo.png"/>
          <p:cNvPicPr>
            <a:picLocks noChangeAspect="1"/>
          </p:cNvPicPr>
          <p:nvPr/>
        </p:nvPicPr>
        <p:blipFill>
          <a:blip r:embed="rId4"/>
          <a:stretch>
            <a:fillRect/>
          </a:stretch>
        </p:blipFill>
        <p:spPr>
          <a:xfrm>
            <a:off x="566928" y="6419088"/>
            <a:ext cx="310896" cy="310896"/>
          </a:xfrm>
          <a:prstGeom prst="rect">
            <a:avLst/>
          </a:prstGeom>
        </p:spPr>
      </p:pic>
      <p:sp>
        <p:nvSpPr>
          <p:cNvPr id="19" name="Text 15"/>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0" name="Text 16"/>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04 / 19</a:t>
            </a:r>
            <a:endParaRPr lang="en-US" sz="850" dirty="0"/>
          </a:p>
        </p:txBody>
      </p:sp>
      <p:pic>
        <p:nvPicPr>
          <p:cNvPr id="21" name="Image 0" descr="/tmp/assets/qr_web.png">
            <a:extLst>
              <a:ext uri="{FF2B5EF4-FFF2-40B4-BE49-F238E27FC236}">
                <a16:creationId xmlns:a16="http://schemas.microsoft.com/office/drawing/2014/main" id="{40D36D8D-F5D5-75E2-3853-E41F2FF3681D}"/>
              </a:ext>
            </a:extLst>
          </p:cNvPr>
          <p:cNvPicPr>
            <a:picLocks noChangeAspect="1"/>
          </p:cNvPicPr>
          <p:nvPr/>
        </p:nvPicPr>
        <p:blipFill>
          <a:blip r:embed="rId5"/>
          <a:stretch>
            <a:fillRect/>
          </a:stretch>
        </p:blipFill>
        <p:spPr>
          <a:xfrm>
            <a:off x="10689336" y="146304"/>
            <a:ext cx="1170432" cy="11704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01 · ĐẶT VẤN ĐỀ</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Khoảng </a:t>
            </a:r>
            <a:r>
              <a:rPr lang="en-US" sz="2900" b="1" dirty="0" err="1">
                <a:solidFill>
                  <a:srgbClr val="13241B"/>
                </a:solidFill>
                <a:latin typeface="Arial" pitchFamily="34" charset="0"/>
                <a:ea typeface="Arial" pitchFamily="34" charset="-122"/>
                <a:cs typeface="Arial" pitchFamily="34" charset="-120"/>
              </a:rPr>
              <a:t>trống</a:t>
            </a:r>
            <a:r>
              <a:rPr lang="en-US" sz="2900" b="1" dirty="0">
                <a:solidFill>
                  <a:srgbClr val="13241B"/>
                </a:solidFill>
                <a:latin typeface="Arial" pitchFamily="34" charset="0"/>
                <a:ea typeface="Arial" pitchFamily="34" charset="-122"/>
                <a:cs typeface="Arial" pitchFamily="34" charset="-120"/>
              </a:rPr>
              <a:t> </a:t>
            </a:r>
            <a:r>
              <a:rPr lang="en-US" sz="2900" b="1" dirty="0" err="1">
                <a:solidFill>
                  <a:srgbClr val="13241B"/>
                </a:solidFill>
                <a:latin typeface="Arial" pitchFamily="34" charset="0"/>
                <a:ea typeface="Arial" pitchFamily="34" charset="-122"/>
                <a:cs typeface="Arial" pitchFamily="34" charset="-120"/>
              </a:rPr>
              <a:t>nghiên</a:t>
            </a:r>
            <a:r>
              <a:rPr lang="en-US" sz="2900" b="1" dirty="0">
                <a:solidFill>
                  <a:srgbClr val="13241B"/>
                </a:solidFill>
                <a:latin typeface="Arial" pitchFamily="34" charset="0"/>
                <a:ea typeface="Arial" pitchFamily="34" charset="-122"/>
                <a:cs typeface="Arial" pitchFamily="34" charset="-120"/>
              </a:rPr>
              <a:t> </a:t>
            </a:r>
            <a:r>
              <a:rPr lang="en-US" sz="2900" b="1" dirty="0" err="1">
                <a:solidFill>
                  <a:srgbClr val="13241B"/>
                </a:solidFill>
                <a:latin typeface="Arial" pitchFamily="34" charset="0"/>
                <a:ea typeface="Arial" pitchFamily="34" charset="-122"/>
                <a:cs typeface="Arial" pitchFamily="34" charset="-120"/>
              </a:rPr>
              <a:t>cứu</a:t>
            </a:r>
            <a:r>
              <a:rPr lang="en-US" sz="2900" b="1" dirty="0">
                <a:solidFill>
                  <a:srgbClr val="13241B"/>
                </a:solidFill>
                <a:latin typeface="Arial" pitchFamily="34" charset="0"/>
                <a:ea typeface="Arial" pitchFamily="34" charset="-122"/>
                <a:cs typeface="Arial" pitchFamily="34" charset="-120"/>
              </a:rPr>
              <a:t> tại Việt Nam</a:t>
            </a:r>
            <a:endParaRPr lang="en-US" sz="2900" dirty="0"/>
          </a:p>
        </p:txBody>
      </p:sp>
      <p:sp>
        <p:nvSpPr>
          <p:cNvPr id="4" name="Shape 2"/>
          <p:cNvSpPr/>
          <p:nvPr/>
        </p:nvSpPr>
        <p:spPr>
          <a:xfrm>
            <a:off x="566928" y="1783080"/>
            <a:ext cx="6446520" cy="3840480"/>
          </a:xfrm>
          <a:prstGeom prst="roundRect">
            <a:avLst>
              <a:gd name="adj" fmla="val 2857"/>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Text 3"/>
          <p:cNvSpPr/>
          <p:nvPr/>
        </p:nvSpPr>
        <p:spPr>
          <a:xfrm>
            <a:off x="868680" y="2011680"/>
            <a:ext cx="5852160" cy="457200"/>
          </a:xfrm>
          <a:prstGeom prst="rect">
            <a:avLst/>
          </a:prstGeom>
          <a:noFill/>
          <a:ln/>
        </p:spPr>
        <p:txBody>
          <a:bodyPr wrap="square" lIns="0" tIns="0" rIns="0" bIns="0" rtlCol="0" anchor="ctr"/>
          <a:lstStyle/>
          <a:p>
            <a:pPr marL="0" indent="0">
              <a:buNone/>
            </a:pPr>
            <a:r>
              <a:rPr lang="en-US" b="1" dirty="0">
                <a:solidFill>
                  <a:srgbClr val="005F35"/>
                </a:solidFill>
                <a:latin typeface="Arial" pitchFamily="34" charset="0"/>
                <a:ea typeface="Arial" pitchFamily="34" charset="-122"/>
                <a:cs typeface="Arial" pitchFamily="34" charset="-120"/>
              </a:rPr>
              <a:t>Thách thức khi ghi hình trên video người bệnh thực</a:t>
            </a:r>
            <a:endParaRPr lang="en-US" dirty="0"/>
          </a:p>
        </p:txBody>
      </p:sp>
      <p:sp>
        <p:nvSpPr>
          <p:cNvPr id="6" name="Shape 4"/>
          <p:cNvSpPr/>
          <p:nvPr/>
        </p:nvSpPr>
        <p:spPr>
          <a:xfrm>
            <a:off x="896112" y="2606040"/>
            <a:ext cx="420624" cy="420624"/>
          </a:xfrm>
          <a:prstGeom prst="ellipse">
            <a:avLst/>
          </a:prstGeom>
          <a:solidFill>
            <a:srgbClr val="0C8A52"/>
          </a:solidFill>
          <a:ln/>
          <a:effectLst>
            <a:outerShdw blurRad="114300" dist="50800" dir="5400000" algn="bl" rotWithShape="0">
              <a:srgbClr val="0B3322">
                <a:alpha val="13000"/>
              </a:srgbClr>
            </a:outerShdw>
          </a:effectLst>
        </p:spPr>
        <p:txBody>
          <a:bodyPr/>
          <a:lstStyle/>
          <a:p>
            <a:endParaRPr/>
          </a:p>
        </p:txBody>
      </p:sp>
      <p:pic>
        <p:nvPicPr>
          <p:cNvPr id="7" name="Image 0" descr="preencoded.png"/>
          <p:cNvPicPr>
            <a:picLocks noChangeAspect="1"/>
          </p:cNvPicPr>
          <p:nvPr/>
        </p:nvPicPr>
        <p:blipFill>
          <a:blip r:embed="rId3"/>
          <a:stretch>
            <a:fillRect/>
          </a:stretch>
        </p:blipFill>
        <p:spPr>
          <a:xfrm>
            <a:off x="997062" y="2706990"/>
            <a:ext cx="218724" cy="218724"/>
          </a:xfrm>
          <a:prstGeom prst="rect">
            <a:avLst/>
          </a:prstGeom>
        </p:spPr>
      </p:pic>
      <p:sp>
        <p:nvSpPr>
          <p:cNvPr id="8" name="Text 5"/>
          <p:cNvSpPr/>
          <p:nvPr/>
        </p:nvSpPr>
        <p:spPr>
          <a:xfrm>
            <a:off x="1463040" y="2551176"/>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Che khuất tay, thay đổi góc quay giữa các lượt ghi hình</a:t>
            </a:r>
            <a:endParaRPr lang="en-US" sz="1600" dirty="0"/>
          </a:p>
        </p:txBody>
      </p:sp>
      <p:sp>
        <p:nvSpPr>
          <p:cNvPr id="9" name="Shape 6"/>
          <p:cNvSpPr/>
          <p:nvPr/>
        </p:nvSpPr>
        <p:spPr>
          <a:xfrm>
            <a:off x="896112" y="3300984"/>
            <a:ext cx="420624" cy="420624"/>
          </a:xfrm>
          <a:prstGeom prst="ellipse">
            <a:avLst/>
          </a:prstGeom>
          <a:solidFill>
            <a:srgbClr val="0C8A52"/>
          </a:solidFill>
          <a:ln/>
          <a:effectLst>
            <a:outerShdw blurRad="114300" dist="50800" dir="5400000" algn="bl" rotWithShape="0">
              <a:srgbClr val="0B3322">
                <a:alpha val="13000"/>
              </a:srgbClr>
            </a:outerShdw>
          </a:effectLst>
        </p:spPr>
        <p:txBody>
          <a:bodyPr/>
          <a:lstStyle/>
          <a:p>
            <a:endParaRPr/>
          </a:p>
        </p:txBody>
      </p:sp>
      <p:pic>
        <p:nvPicPr>
          <p:cNvPr id="10" name="Image 1" descr="preencoded.png"/>
          <p:cNvPicPr>
            <a:picLocks noChangeAspect="1"/>
          </p:cNvPicPr>
          <p:nvPr/>
        </p:nvPicPr>
        <p:blipFill>
          <a:blip r:embed="rId4"/>
          <a:stretch>
            <a:fillRect/>
          </a:stretch>
        </p:blipFill>
        <p:spPr>
          <a:xfrm>
            <a:off x="997062" y="3401934"/>
            <a:ext cx="218724" cy="218724"/>
          </a:xfrm>
          <a:prstGeom prst="rect">
            <a:avLst/>
          </a:prstGeom>
        </p:spPr>
      </p:pic>
      <p:sp>
        <p:nvSpPr>
          <p:cNvPr id="11" name="Text 7"/>
          <p:cNvSpPr/>
          <p:nvPr/>
        </p:nvSpPr>
        <p:spPr>
          <a:xfrm>
            <a:off x="1463040" y="3246120"/>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Chuyển động bù trừ: xoay thân, gập khuỷu thay cho vận động đích</a:t>
            </a:r>
            <a:endParaRPr lang="en-US" sz="1600" dirty="0"/>
          </a:p>
        </p:txBody>
      </p:sp>
      <p:sp>
        <p:nvSpPr>
          <p:cNvPr id="12" name="Shape 8"/>
          <p:cNvSpPr/>
          <p:nvPr/>
        </p:nvSpPr>
        <p:spPr>
          <a:xfrm>
            <a:off x="896112" y="3995928"/>
            <a:ext cx="420624" cy="420624"/>
          </a:xfrm>
          <a:prstGeom prst="ellipse">
            <a:avLst/>
          </a:prstGeom>
          <a:solidFill>
            <a:srgbClr val="0C8A52"/>
          </a:solidFill>
          <a:ln/>
          <a:effectLst>
            <a:outerShdw blurRad="114300" dist="50800" dir="5400000" algn="bl" rotWithShape="0">
              <a:srgbClr val="0B3322">
                <a:alpha val="13000"/>
              </a:srgbClr>
            </a:outerShdw>
          </a:effectLst>
        </p:spPr>
        <p:txBody>
          <a:bodyPr/>
          <a:lstStyle/>
          <a:p>
            <a:endParaRPr/>
          </a:p>
        </p:txBody>
      </p:sp>
      <p:pic>
        <p:nvPicPr>
          <p:cNvPr id="13" name="Image 2" descr="preencoded.png"/>
          <p:cNvPicPr>
            <a:picLocks noChangeAspect="1"/>
          </p:cNvPicPr>
          <p:nvPr/>
        </p:nvPicPr>
        <p:blipFill>
          <a:blip r:embed="rId5"/>
          <a:stretch>
            <a:fillRect/>
          </a:stretch>
        </p:blipFill>
        <p:spPr>
          <a:xfrm>
            <a:off x="997062" y="4096878"/>
            <a:ext cx="218724" cy="218724"/>
          </a:xfrm>
          <a:prstGeom prst="rect">
            <a:avLst/>
          </a:prstGeom>
        </p:spPr>
      </p:pic>
      <p:sp>
        <p:nvSpPr>
          <p:cNvPr id="14" name="Text 9"/>
          <p:cNvSpPr/>
          <p:nvPr/>
        </p:nvSpPr>
        <p:spPr>
          <a:xfrm>
            <a:off x="1463040" y="3941064"/>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Ánh sáng không đồng đều, nhiễu nền tại nhà / phòng khám</a:t>
            </a:r>
            <a:endParaRPr lang="en-US" sz="1600" dirty="0"/>
          </a:p>
        </p:txBody>
      </p:sp>
      <p:sp>
        <p:nvSpPr>
          <p:cNvPr id="15" name="Shape 10"/>
          <p:cNvSpPr/>
          <p:nvPr/>
        </p:nvSpPr>
        <p:spPr>
          <a:xfrm>
            <a:off x="896112" y="4690872"/>
            <a:ext cx="420624" cy="420624"/>
          </a:xfrm>
          <a:prstGeom prst="ellipse">
            <a:avLst/>
          </a:prstGeom>
          <a:solidFill>
            <a:srgbClr val="0C8A52"/>
          </a:solidFill>
          <a:ln/>
          <a:effectLst>
            <a:outerShdw blurRad="114300" dist="50800" dir="5400000" algn="bl" rotWithShape="0">
              <a:srgbClr val="0B3322">
                <a:alpha val="13000"/>
              </a:srgbClr>
            </a:outerShdw>
          </a:effectLst>
        </p:spPr>
        <p:txBody>
          <a:bodyPr/>
          <a:lstStyle/>
          <a:p>
            <a:endParaRPr/>
          </a:p>
        </p:txBody>
      </p:sp>
      <p:pic>
        <p:nvPicPr>
          <p:cNvPr id="16" name="Image 3" descr="preencoded.png"/>
          <p:cNvPicPr>
            <a:picLocks noChangeAspect="1"/>
          </p:cNvPicPr>
          <p:nvPr/>
        </p:nvPicPr>
        <p:blipFill>
          <a:blip r:embed="rId6"/>
          <a:stretch>
            <a:fillRect/>
          </a:stretch>
        </p:blipFill>
        <p:spPr>
          <a:xfrm>
            <a:off x="997062" y="4791822"/>
            <a:ext cx="218724" cy="218724"/>
          </a:xfrm>
          <a:prstGeom prst="rect">
            <a:avLst/>
          </a:prstGeom>
        </p:spPr>
      </p:pic>
      <p:sp>
        <p:nvSpPr>
          <p:cNvPr id="17" name="Text 11"/>
          <p:cNvSpPr/>
          <p:nvPr/>
        </p:nvSpPr>
        <p:spPr>
          <a:xfrm>
            <a:off x="1463040" y="4636008"/>
            <a:ext cx="5349240" cy="548640"/>
          </a:xfrm>
          <a:prstGeom prst="rect">
            <a:avLst/>
          </a:prstGeom>
          <a:noFill/>
          <a:ln/>
        </p:spPr>
        <p:txBody>
          <a:bodyPr wrap="square" lIns="0" tIns="0" rIns="0" bIns="0" rtlCol="0" anchor="ctr"/>
          <a:lstStyle/>
          <a:p>
            <a:pPr marL="0" indent="0">
              <a:buNone/>
            </a:pPr>
            <a:r>
              <a:rPr lang="en-US" sz="1600" dirty="0">
                <a:solidFill>
                  <a:srgbClr val="13241B"/>
                </a:solidFill>
                <a:latin typeface="Arial" pitchFamily="34" charset="0"/>
                <a:ea typeface="Arial" pitchFamily="34" charset="-122"/>
                <a:cs typeface="Arial" pitchFamily="34" charset="-120"/>
              </a:rPr>
              <a:t>Người hỗ trợ lọt vào khung hình → sai lệch điểm mốc cơ thể</a:t>
            </a:r>
            <a:endParaRPr lang="en-US" sz="1600" dirty="0"/>
          </a:p>
        </p:txBody>
      </p:sp>
      <p:sp>
        <p:nvSpPr>
          <p:cNvPr id="18" name="Shape 12"/>
          <p:cNvSpPr/>
          <p:nvPr/>
        </p:nvSpPr>
        <p:spPr>
          <a:xfrm>
            <a:off x="7223760" y="1783080"/>
            <a:ext cx="4407408" cy="3840480"/>
          </a:xfrm>
          <a:prstGeom prst="roundRect">
            <a:avLst>
              <a:gd name="adj" fmla="val 2857"/>
            </a:avLst>
          </a:prstGeom>
          <a:solidFill>
            <a:srgbClr val="06371F"/>
          </a:solidFill>
          <a:ln/>
          <a:effectLst>
            <a:outerShdw blurRad="114300" dist="50800" dir="5400000" algn="bl" rotWithShape="0">
              <a:srgbClr val="0B3322">
                <a:alpha val="13000"/>
              </a:srgbClr>
            </a:outerShdw>
          </a:effectLst>
        </p:spPr>
        <p:txBody>
          <a:bodyPr/>
          <a:lstStyle/>
          <a:p>
            <a:endParaRPr/>
          </a:p>
        </p:txBody>
      </p:sp>
      <p:pic>
        <p:nvPicPr>
          <p:cNvPr id="19" name="Image 4" descr="preencoded.png"/>
          <p:cNvPicPr>
            <a:picLocks noChangeAspect="1"/>
          </p:cNvPicPr>
          <p:nvPr/>
        </p:nvPicPr>
        <p:blipFill>
          <a:blip r:embed="rId7"/>
          <a:stretch>
            <a:fillRect/>
          </a:stretch>
        </p:blipFill>
        <p:spPr>
          <a:xfrm>
            <a:off x="7516368" y="2057400"/>
            <a:ext cx="457200" cy="457200"/>
          </a:xfrm>
          <a:prstGeom prst="rect">
            <a:avLst/>
          </a:prstGeom>
        </p:spPr>
      </p:pic>
      <p:sp>
        <p:nvSpPr>
          <p:cNvPr id="20" name="Text 13"/>
          <p:cNvSpPr/>
          <p:nvPr/>
        </p:nvSpPr>
        <p:spPr>
          <a:xfrm>
            <a:off x="7516368" y="2606040"/>
            <a:ext cx="3840480" cy="6400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Bằng chứng tại Việt Nam còn hạn chế</a:t>
            </a:r>
            <a:endParaRPr lang="en-US" sz="1800" dirty="0"/>
          </a:p>
        </p:txBody>
      </p:sp>
      <p:sp>
        <p:nvSpPr>
          <p:cNvPr id="21" name="Text 14"/>
          <p:cNvSpPr/>
          <p:nvPr/>
        </p:nvSpPr>
        <p:spPr>
          <a:xfrm>
            <a:off x="7516368" y="3291840"/>
            <a:ext cx="3840480" cy="914400"/>
          </a:xfrm>
          <a:prstGeom prst="rect">
            <a:avLst/>
          </a:prstGeom>
          <a:noFill/>
          <a:ln/>
        </p:spPr>
        <p:txBody>
          <a:bodyPr wrap="square" lIns="0" tIns="0" rIns="0" bIns="0" rtlCol="0" anchor="t"/>
          <a:lstStyle/>
          <a:p>
            <a:pPr marL="0" indent="0">
              <a:lnSpc>
                <a:spcPct val="105000"/>
              </a:lnSpc>
              <a:buNone/>
            </a:pPr>
            <a:r>
              <a:rPr lang="en-US" sz="1600" dirty="0">
                <a:solidFill>
                  <a:srgbClr val="CFE7DA"/>
                </a:solidFill>
                <a:latin typeface="Arial" pitchFamily="34" charset="0"/>
                <a:ea typeface="Arial" pitchFamily="34" charset="-122"/>
                <a:cs typeface="Arial" pitchFamily="34" charset="-120"/>
              </a:rPr>
              <a:t>Ứng dụng thị giác máy tính marker-less trên video người bệnh thực gần như chưa được kiểm chứng trong bối cảnh lâm sàng Việt Nam.</a:t>
            </a:r>
            <a:endParaRPr lang="en-US" sz="1600" dirty="0"/>
          </a:p>
        </p:txBody>
      </p:sp>
      <p:sp>
        <p:nvSpPr>
          <p:cNvPr id="22" name="Shape 15"/>
          <p:cNvSpPr/>
          <p:nvPr/>
        </p:nvSpPr>
        <p:spPr>
          <a:xfrm>
            <a:off x="7516368" y="4315968"/>
            <a:ext cx="3657600" cy="0"/>
          </a:xfrm>
          <a:prstGeom prst="line">
            <a:avLst/>
          </a:prstGeom>
          <a:noFill/>
          <a:ln w="12700">
            <a:solidFill>
              <a:srgbClr val="1C7A54"/>
            </a:solidFill>
            <a:prstDash val="solid"/>
          </a:ln>
        </p:spPr>
        <p:txBody>
          <a:bodyPr/>
          <a:lstStyle/>
          <a:p>
            <a:endParaRPr/>
          </a:p>
        </p:txBody>
      </p:sp>
      <p:sp>
        <p:nvSpPr>
          <p:cNvPr id="23" name="Text 16"/>
          <p:cNvSpPr/>
          <p:nvPr/>
        </p:nvSpPr>
        <p:spPr>
          <a:xfrm>
            <a:off x="7516368" y="4480560"/>
            <a:ext cx="3840480" cy="1005840"/>
          </a:xfrm>
          <a:prstGeom prst="rect">
            <a:avLst/>
          </a:prstGeom>
          <a:noFill/>
          <a:ln/>
        </p:spPr>
        <p:txBody>
          <a:bodyPr wrap="square" lIns="0" tIns="0" rIns="0" bIns="0" rtlCol="0" anchor="t"/>
          <a:lstStyle/>
          <a:p>
            <a:pPr marL="0" indent="0">
              <a:lnSpc>
                <a:spcPct val="105000"/>
              </a:lnSpc>
              <a:buNone/>
            </a:pPr>
            <a:r>
              <a:rPr lang="en-US" sz="1600" b="1" dirty="0">
                <a:solidFill>
                  <a:srgbClr val="C98A1E"/>
                </a:solidFill>
                <a:latin typeface="Arial" pitchFamily="34" charset="0"/>
                <a:ea typeface="Arial" pitchFamily="34" charset="-122"/>
                <a:cs typeface="Arial" pitchFamily="34" charset="-120"/>
              </a:rPr>
              <a:t>→  </a:t>
            </a:r>
            <a:r>
              <a:rPr lang="en-US" sz="1600" b="1" dirty="0">
                <a:solidFill>
                  <a:srgbClr val="FFFFFF"/>
                </a:solidFill>
                <a:latin typeface="Arial" pitchFamily="34" charset="0"/>
                <a:ea typeface="Arial" pitchFamily="34" charset="-122"/>
                <a:cs typeface="Arial" pitchFamily="34" charset="-120"/>
              </a:rPr>
              <a:t>Cần đánh giá tính khả thi của hệ thống trên dữ liệu thực trước khi mở rộng triển khai lâm sàng.</a:t>
            </a:r>
            <a:endParaRPr lang="en-US" sz="1600" dirty="0"/>
          </a:p>
        </p:txBody>
      </p:sp>
      <p:pic>
        <p:nvPicPr>
          <p:cNvPr id="24" name="Image 5"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25" name="Text 1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6" name="Text 1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05 / 19</a:t>
            </a:r>
            <a:endParaRPr lang="en-US" sz="850" dirty="0"/>
          </a:p>
        </p:txBody>
      </p:sp>
      <p:pic>
        <p:nvPicPr>
          <p:cNvPr id="27" name="Image 0" descr="/tmp/assets/qr_web.png">
            <a:extLst>
              <a:ext uri="{FF2B5EF4-FFF2-40B4-BE49-F238E27FC236}">
                <a16:creationId xmlns:a16="http://schemas.microsoft.com/office/drawing/2014/main" id="{664A58E4-C8DD-87C3-6619-66EE38415D41}"/>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02 · MỤC TIÊU NGHIÊN CỨU</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Hai mục tiêu của nghiên cứu</a:t>
            </a:r>
            <a:endParaRPr lang="en-US" sz="2900" dirty="0"/>
          </a:p>
        </p:txBody>
      </p:sp>
      <p:sp>
        <p:nvSpPr>
          <p:cNvPr id="4" name="Card 1"/>
          <p:cNvSpPr/>
          <p:nvPr/>
        </p:nvSpPr>
        <p:spPr>
          <a:xfrm>
            <a:off x="566928" y="1965960"/>
            <a:ext cx="5417820" cy="3383280"/>
          </a:xfrm>
          <a:prstGeom prst="roundRect">
            <a:avLst>
              <a:gd name="adj" fmla="val 3784"/>
            </a:avLst>
          </a:prstGeom>
          <a:solidFill>
            <a:srgbClr val="EAF4EE"/>
          </a:solidFill>
          <a:ln/>
          <a:effectLst>
            <a:outerShdw blurRad="114300" dist="50800" dir="5400000" algn="bl" rotWithShape="0">
              <a:srgbClr val="0B3322">
                <a:alpha val="13000"/>
              </a:srgbClr>
            </a:outerShdw>
          </a:effectLst>
        </p:spPr>
        <p:txBody>
          <a:bodyPr/>
          <a:lstStyle/>
          <a:p>
            <a:endParaRPr lang="en-US"/>
          </a:p>
        </p:txBody>
      </p:sp>
      <p:sp>
        <p:nvSpPr>
          <p:cNvPr id="5" name="Num 1"/>
          <p:cNvSpPr/>
          <p:nvPr/>
        </p:nvSpPr>
        <p:spPr>
          <a:xfrm>
            <a:off x="841248" y="2221992"/>
            <a:ext cx="1828800" cy="548640"/>
          </a:xfrm>
          <a:prstGeom prst="rect">
            <a:avLst/>
          </a:prstGeom>
          <a:noFill/>
          <a:ln/>
        </p:spPr>
        <p:txBody>
          <a:bodyPr wrap="square" lIns="0" tIns="0" rIns="0" bIns="0" rtlCol="0" anchor="ctr"/>
          <a:lstStyle/>
          <a:p>
            <a:pPr marL="0" indent="0">
              <a:buNone/>
            </a:pPr>
            <a:r>
              <a:rPr lang="en-US" sz="3000" b="1" dirty="0">
                <a:solidFill>
                  <a:srgbClr val="BCD8C8"/>
                </a:solidFill>
                <a:latin typeface="Arial" pitchFamily="34" charset="0"/>
                <a:ea typeface="Arial" pitchFamily="34" charset="-122"/>
                <a:cs typeface="Arial" pitchFamily="34" charset="-120"/>
              </a:rPr>
              <a:t>01</a:t>
            </a:r>
            <a:endParaRPr lang="en-US" sz="3000" dirty="0"/>
          </a:p>
        </p:txBody>
      </p:sp>
      <p:sp>
        <p:nvSpPr>
          <p:cNvPr id="6" name="IconCircle 1"/>
          <p:cNvSpPr/>
          <p:nvPr/>
        </p:nvSpPr>
        <p:spPr>
          <a:xfrm>
            <a:off x="5024628" y="2258568"/>
            <a:ext cx="640080" cy="640080"/>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lang="en-US"/>
          </a:p>
        </p:txBody>
      </p:sp>
      <p:pic>
        <p:nvPicPr>
          <p:cNvPr id="7" name="Icon 1" descr="preencoded.png"/>
          <p:cNvPicPr>
            <a:picLocks noChangeAspect="1"/>
          </p:cNvPicPr>
          <p:nvPr/>
        </p:nvPicPr>
        <p:blipFill>
          <a:blip r:embed="rId3"/>
          <a:stretch>
            <a:fillRect/>
          </a:stretch>
        </p:blipFill>
        <p:spPr>
          <a:xfrm>
            <a:off x="5184648" y="2418588"/>
            <a:ext cx="320040" cy="320040"/>
          </a:xfrm>
          <a:prstGeom prst="rect">
            <a:avLst/>
          </a:prstGeom>
        </p:spPr>
      </p:pic>
      <p:sp>
        <p:nvSpPr>
          <p:cNvPr id="8" name="Title 1"/>
          <p:cNvSpPr/>
          <p:nvPr/>
        </p:nvSpPr>
        <p:spPr>
          <a:xfrm>
            <a:off x="859536" y="3000000"/>
            <a:ext cx="4832604" cy="620000"/>
          </a:xfrm>
          <a:prstGeom prst="rect">
            <a:avLst/>
          </a:prstGeom>
          <a:noFill/>
          <a:ln/>
        </p:spPr>
        <p:txBody>
          <a:bodyPr wrap="square" lIns="0" tIns="0" rIns="0" bIns="0" rtlCol="0" anchor="t"/>
          <a:lstStyle/>
          <a:p>
            <a:pPr marL="0" indent="0">
              <a:buNone/>
            </a:pPr>
            <a:r>
              <a:rPr lang="en-US" sz="2400" b="1" dirty="0">
                <a:solidFill>
                  <a:srgbClr val="13241B"/>
                </a:solidFill>
                <a:latin typeface="Arial" pitchFamily="34" charset="0"/>
                <a:ea typeface="Arial" pitchFamily="34" charset="-122"/>
                <a:cs typeface="Arial" pitchFamily="34" charset="-120"/>
              </a:rPr>
              <a:t>Xây dựng và đánh giá mô hình</a:t>
            </a:r>
            <a:endParaRPr lang="en-US" sz="2400" dirty="0"/>
          </a:p>
        </p:txBody>
      </p:sp>
      <p:sp>
        <p:nvSpPr>
          <p:cNvPr id="9" name="Body 1"/>
          <p:cNvSpPr/>
          <p:nvPr/>
        </p:nvSpPr>
        <p:spPr>
          <a:xfrm>
            <a:off x="859536" y="3544164"/>
            <a:ext cx="4832604" cy="1560000"/>
          </a:xfrm>
          <a:prstGeom prst="rect">
            <a:avLst/>
          </a:prstGeom>
          <a:noFill/>
          <a:ln/>
        </p:spPr>
        <p:txBody>
          <a:bodyPr wrap="square" lIns="0" tIns="0" rIns="0" bIns="0" rtlCol="0" anchor="t"/>
          <a:lstStyle/>
          <a:p>
            <a:pPr marL="0" indent="0">
              <a:lnSpc>
                <a:spcPct val="108000"/>
              </a:lnSpc>
              <a:buNone/>
            </a:pPr>
            <a:r>
              <a:rPr lang="en-US" sz="1600" b="1" dirty="0">
                <a:solidFill>
                  <a:srgbClr val="005F35"/>
                </a:solidFill>
                <a:latin typeface="Arial" pitchFamily="34" charset="0"/>
                <a:ea typeface="Arial" pitchFamily="34" charset="-122"/>
                <a:cs typeface="Arial" pitchFamily="34" charset="-120"/>
              </a:rPr>
              <a:t>Nhận diện động tác — </a:t>
            </a:r>
            <a:r>
              <a:rPr lang="en-US" sz="1600" dirty="0">
                <a:solidFill>
                  <a:srgbClr val="32463C"/>
                </a:solidFill>
                <a:latin typeface="Arial" pitchFamily="34" charset="0"/>
                <a:ea typeface="Arial" pitchFamily="34" charset="-122"/>
                <a:cs typeface="Arial" pitchFamily="34" charset="-120"/>
              </a:rPr>
              <a:t>xây dựng mô hình nhận diện 2-3 động tác phục hồi chức năng cơ bản (giơ tay ngang vai, co gối, xoay cổ tay) bằng pose estimation</a:t>
            </a:r>
          </a:p>
          <a:p>
            <a:pPr marL="0" indent="0">
              <a:lnSpc>
                <a:spcPct val="108000"/>
              </a:lnSpc>
              <a:spcBef>
                <a:spcPts val="700"/>
              </a:spcBef>
              <a:buNone/>
            </a:pPr>
            <a:r>
              <a:rPr lang="en-US" sz="1600" b="1" dirty="0">
                <a:solidFill>
                  <a:srgbClr val="005F35"/>
                </a:solidFill>
                <a:latin typeface="Arial" pitchFamily="34" charset="0"/>
                <a:ea typeface="Arial" pitchFamily="34" charset="-122"/>
                <a:cs typeface="Arial" pitchFamily="34" charset="-120"/>
              </a:rPr>
              <a:t>Đánh giá động tác — </a:t>
            </a:r>
            <a:r>
              <a:rPr lang="en-US" sz="1600" dirty="0">
                <a:solidFill>
                  <a:srgbClr val="32463C"/>
                </a:solidFill>
                <a:latin typeface="Arial" pitchFamily="34" charset="0"/>
                <a:ea typeface="Arial" pitchFamily="34" charset="-122"/>
                <a:cs typeface="Arial" pitchFamily="34" charset="-120"/>
              </a:rPr>
              <a:t>đánh giá các động tác nói trên dựa trên mô hình thị giác máy tính đã xây dựng</a:t>
            </a:r>
            <a:endParaRPr lang="en-US" sz="1600" dirty="0"/>
          </a:p>
        </p:txBody>
      </p:sp>
      <p:sp>
        <p:nvSpPr>
          <p:cNvPr id="10" name="Card 2"/>
          <p:cNvSpPr/>
          <p:nvPr/>
        </p:nvSpPr>
        <p:spPr>
          <a:xfrm>
            <a:off x="6231636" y="1965960"/>
            <a:ext cx="5417820" cy="3383280"/>
          </a:xfrm>
          <a:prstGeom prst="roundRect">
            <a:avLst>
              <a:gd name="adj" fmla="val 3784"/>
            </a:avLst>
          </a:prstGeom>
          <a:solidFill>
            <a:srgbClr val="005F35"/>
          </a:solidFill>
          <a:ln/>
          <a:effectLst>
            <a:outerShdw blurRad="114300" dist="50800" dir="5400000" algn="bl" rotWithShape="0">
              <a:srgbClr val="0B3322">
                <a:alpha val="13000"/>
              </a:srgbClr>
            </a:outerShdw>
          </a:effectLst>
        </p:spPr>
        <p:txBody>
          <a:bodyPr/>
          <a:lstStyle/>
          <a:p>
            <a:endParaRPr lang="en-US"/>
          </a:p>
        </p:txBody>
      </p:sp>
      <p:sp>
        <p:nvSpPr>
          <p:cNvPr id="11" name="Num 2"/>
          <p:cNvSpPr/>
          <p:nvPr/>
        </p:nvSpPr>
        <p:spPr>
          <a:xfrm>
            <a:off x="6505956" y="2221992"/>
            <a:ext cx="1828800" cy="548640"/>
          </a:xfrm>
          <a:prstGeom prst="rect">
            <a:avLst/>
          </a:prstGeom>
          <a:noFill/>
          <a:ln/>
        </p:spPr>
        <p:txBody>
          <a:bodyPr wrap="square" lIns="0" tIns="0" rIns="0" bIns="0" rtlCol="0" anchor="ctr"/>
          <a:lstStyle/>
          <a:p>
            <a:pPr marL="0" indent="0">
              <a:buNone/>
            </a:pPr>
            <a:r>
              <a:rPr lang="en-US" sz="3000" b="1" dirty="0">
                <a:solidFill>
                  <a:srgbClr val="5FB592"/>
                </a:solidFill>
                <a:latin typeface="Arial" pitchFamily="34" charset="0"/>
                <a:ea typeface="Arial" pitchFamily="34" charset="-122"/>
                <a:cs typeface="Arial" pitchFamily="34" charset="-120"/>
              </a:rPr>
              <a:t>02</a:t>
            </a:r>
            <a:endParaRPr lang="en-US" sz="3000" dirty="0"/>
          </a:p>
        </p:txBody>
      </p:sp>
      <p:sp>
        <p:nvSpPr>
          <p:cNvPr id="12" name="IconCircle 2"/>
          <p:cNvSpPr/>
          <p:nvPr/>
        </p:nvSpPr>
        <p:spPr>
          <a:xfrm>
            <a:off x="10689336" y="2258568"/>
            <a:ext cx="640080" cy="640080"/>
          </a:xfrm>
          <a:prstGeom prst="ellipse">
            <a:avLst/>
          </a:prstGeom>
          <a:solidFill>
            <a:srgbClr val="FFFFFF"/>
          </a:solidFill>
          <a:ln/>
          <a:effectLst>
            <a:outerShdw blurRad="114300" dist="50800" dir="5400000" algn="bl" rotWithShape="0">
              <a:srgbClr val="0B3322">
                <a:alpha val="13000"/>
              </a:srgbClr>
            </a:outerShdw>
          </a:effectLst>
        </p:spPr>
        <p:txBody>
          <a:bodyPr/>
          <a:lstStyle/>
          <a:p>
            <a:endParaRPr lang="en-US"/>
          </a:p>
        </p:txBody>
      </p:sp>
      <p:pic>
        <p:nvPicPr>
          <p:cNvPr id="13" name="Icon 2" descr="preencoded.png"/>
          <p:cNvPicPr>
            <a:picLocks noChangeAspect="1"/>
          </p:cNvPicPr>
          <p:nvPr/>
        </p:nvPicPr>
        <p:blipFill>
          <a:blip r:embed="rId4"/>
          <a:stretch>
            <a:fillRect/>
          </a:stretch>
        </p:blipFill>
        <p:spPr>
          <a:xfrm>
            <a:off x="10849356" y="2418588"/>
            <a:ext cx="320040" cy="320040"/>
          </a:xfrm>
          <a:prstGeom prst="rect">
            <a:avLst/>
          </a:prstGeom>
        </p:spPr>
      </p:pic>
      <p:sp>
        <p:nvSpPr>
          <p:cNvPr id="14" name="Title 2"/>
          <p:cNvSpPr/>
          <p:nvPr/>
        </p:nvSpPr>
        <p:spPr>
          <a:xfrm>
            <a:off x="6524244" y="2799396"/>
            <a:ext cx="4832604" cy="620000"/>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So sánh độ chính xác</a:t>
            </a:r>
            <a:endParaRPr lang="en-US" sz="2400" dirty="0"/>
          </a:p>
        </p:txBody>
      </p:sp>
      <p:sp>
        <p:nvSpPr>
          <p:cNvPr id="15" name="Body 2"/>
          <p:cNvSpPr/>
          <p:nvPr/>
        </p:nvSpPr>
        <p:spPr>
          <a:xfrm>
            <a:off x="6524244" y="3279456"/>
            <a:ext cx="4832604" cy="1560000"/>
          </a:xfrm>
          <a:prstGeom prst="rect">
            <a:avLst/>
          </a:prstGeom>
          <a:noFill/>
          <a:ln/>
        </p:spPr>
        <p:txBody>
          <a:bodyPr wrap="square" lIns="0" tIns="0" rIns="0" bIns="0" rtlCol="0" anchor="t"/>
          <a:lstStyle/>
          <a:p>
            <a:pPr marL="0" indent="0">
              <a:lnSpc>
                <a:spcPct val="108000"/>
              </a:lnSpc>
              <a:buNone/>
            </a:pPr>
            <a:r>
              <a:rPr lang="en-US" dirty="0">
                <a:solidFill>
                  <a:srgbClr val="E3F2EA"/>
                </a:solidFill>
                <a:latin typeface="Arial" pitchFamily="34" charset="0"/>
                <a:ea typeface="Arial" pitchFamily="34" charset="-122"/>
                <a:cs typeface="Arial" pitchFamily="34" charset="-120"/>
              </a:rPr>
              <a:t>So sánh độ chính xác của mô hình với đánh giá thủ công của chuyên gia (góc khớp, số lần lặp) trên một tập dữ liệu nhỏ (do nhóm tự quay hoặc dùng dữ liệu mở)</a:t>
            </a:r>
          </a:p>
          <a:p>
            <a:pPr marL="0" indent="0">
              <a:lnSpc>
                <a:spcPct val="108000"/>
              </a:lnSpc>
              <a:spcBef>
                <a:spcPts val="900"/>
              </a:spcBef>
              <a:buNone/>
            </a:pPr>
            <a:r>
              <a:rPr lang="en-US" sz="1600" b="1" dirty="0">
                <a:solidFill>
                  <a:srgbClr val="5FB592"/>
                </a:solidFill>
                <a:latin typeface="Arial" pitchFamily="34" charset="0"/>
                <a:ea typeface="Arial" pitchFamily="34" charset="-122"/>
                <a:cs typeface="Arial" pitchFamily="34" charset="-120"/>
              </a:rPr>
              <a:t>Chỉ số đánh giá: </a:t>
            </a:r>
            <a:r>
              <a:rPr lang="en-US" sz="1600" dirty="0">
                <a:solidFill>
                  <a:srgbClr val="C5D9CE"/>
                </a:solidFill>
                <a:latin typeface="Arial" pitchFamily="34" charset="0"/>
                <a:ea typeface="Arial" pitchFamily="34" charset="-122"/>
                <a:cs typeface="Arial" pitchFamily="34" charset="-120"/>
              </a:rPr>
              <a:t>MAE · RMSE · ICC · Accuracy · F1-score</a:t>
            </a:r>
            <a:endParaRPr lang="en-US" sz="1600" dirty="0"/>
          </a:p>
        </p:txBody>
      </p:sp>
      <p:pic>
        <p:nvPicPr>
          <p:cNvPr id="22" name="Image 3"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23" name="Text 17"/>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4" name="Text 18"/>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06 / 19</a:t>
            </a:r>
            <a:endParaRPr lang="en-US" sz="850" dirty="0"/>
          </a:p>
        </p:txBody>
      </p:sp>
      <p:pic>
        <p:nvPicPr>
          <p:cNvPr id="16" name="Image 0" descr="/tmp/assets/qr_web.png">
            <a:extLst>
              <a:ext uri="{FF2B5EF4-FFF2-40B4-BE49-F238E27FC236}">
                <a16:creationId xmlns:a16="http://schemas.microsoft.com/office/drawing/2014/main" id="{D385DB04-BCBD-36A3-C38F-EAD66D502204}"/>
              </a:ext>
            </a:extLst>
          </p:cNvPr>
          <p:cNvPicPr>
            <a:picLocks noChangeAspect="1"/>
          </p:cNvPicPr>
          <p:nvPr/>
        </p:nvPicPr>
        <p:blipFill>
          <a:blip r:embed="rId6"/>
          <a:stretch>
            <a:fillRect/>
          </a:stretch>
        </p:blipFill>
        <p:spPr>
          <a:xfrm>
            <a:off x="10689336" y="146304"/>
            <a:ext cx="1170432" cy="1170432"/>
          </a:xfrm>
          <a:prstGeom prst="rect">
            <a:avLst/>
          </a:prstGeom>
        </p:spPr>
      </p:pic>
    </p:spTree>
    <p:extLst>
      <p:ext uri="{BB962C8B-B14F-4D97-AF65-F5344CB8AC3E}">
        <p14:creationId xmlns:p14="http://schemas.microsoft.com/office/powerpoint/2010/main" val="480392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TỔNG QUAN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Tổng quan nghiên cứu — một bức tranh</a:t>
            </a:r>
            <a:endParaRPr lang="en-US" sz="2900" dirty="0"/>
          </a:p>
        </p:txBody>
      </p:sp>
      <p:sp>
        <p:nvSpPr>
          <p:cNvPr id="4" name="Shape 2"/>
          <p:cNvSpPr/>
          <p:nvPr/>
        </p:nvSpPr>
        <p:spPr>
          <a:xfrm>
            <a:off x="566928"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Shape 3"/>
          <p:cNvSpPr/>
          <p:nvPr/>
        </p:nvSpPr>
        <p:spPr>
          <a:xfrm>
            <a:off x="1549908" y="2194560"/>
            <a:ext cx="713232" cy="713232"/>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6" name="Image 0" descr="preencoded.png"/>
          <p:cNvPicPr>
            <a:picLocks noChangeAspect="1"/>
          </p:cNvPicPr>
          <p:nvPr/>
        </p:nvPicPr>
        <p:blipFill>
          <a:blip r:embed="rId3"/>
          <a:stretch>
            <a:fillRect/>
          </a:stretch>
        </p:blipFill>
        <p:spPr>
          <a:xfrm>
            <a:off x="1728216" y="2372868"/>
            <a:ext cx="356616" cy="356616"/>
          </a:xfrm>
          <a:prstGeom prst="rect">
            <a:avLst/>
          </a:prstGeom>
        </p:spPr>
      </p:pic>
      <p:sp>
        <p:nvSpPr>
          <p:cNvPr id="7" name="Text 4"/>
          <p:cNvSpPr/>
          <p:nvPr/>
        </p:nvSpPr>
        <p:spPr>
          <a:xfrm>
            <a:off x="704088"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Đối tượng</a:t>
            </a:r>
            <a:endParaRPr lang="en-US" sz="2400" dirty="0"/>
          </a:p>
        </p:txBody>
      </p:sp>
      <p:sp>
        <p:nvSpPr>
          <p:cNvPr id="8" name="Shape 5"/>
          <p:cNvSpPr/>
          <p:nvPr/>
        </p:nvSpPr>
        <p:spPr>
          <a:xfrm>
            <a:off x="1586484" y="3502152"/>
            <a:ext cx="640080" cy="0"/>
          </a:xfrm>
          <a:prstGeom prst="line">
            <a:avLst/>
          </a:prstGeom>
          <a:noFill/>
          <a:ln w="17780">
            <a:solidFill>
              <a:srgbClr val="B7D6C6"/>
            </a:solidFill>
            <a:prstDash val="solid"/>
          </a:ln>
        </p:spPr>
        <p:txBody>
          <a:bodyPr/>
          <a:lstStyle/>
          <a:p>
            <a:endParaRPr/>
          </a:p>
        </p:txBody>
      </p:sp>
      <p:sp>
        <p:nvSpPr>
          <p:cNvPr id="9" name="Text 6"/>
          <p:cNvSpPr/>
          <p:nvPr/>
        </p:nvSpPr>
        <p:spPr>
          <a:xfrm>
            <a:off x="768096"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400" dirty="0">
                <a:solidFill>
                  <a:srgbClr val="32463C"/>
                </a:solidFill>
                <a:latin typeface="Arial" pitchFamily="34" charset="0"/>
                <a:ea typeface="Arial" pitchFamily="34" charset="-122"/>
                <a:cs typeface="Arial" pitchFamily="34" charset="-120"/>
              </a:rPr>
              <a:t>Người bệnh viêm quanh khớp vai (ICD-10: M75)</a:t>
            </a:r>
            <a:endParaRPr lang="en-US" sz="1400" dirty="0"/>
          </a:p>
          <a:p>
            <a:pPr marL="0" indent="0" algn="ctr">
              <a:lnSpc>
                <a:spcPct val="112000"/>
              </a:lnSpc>
              <a:spcAft>
                <a:spcPts val="800"/>
              </a:spcAft>
              <a:buNone/>
            </a:pPr>
            <a:r>
              <a:rPr lang="en-US" sz="1400" dirty="0">
                <a:solidFill>
                  <a:srgbClr val="32463C"/>
                </a:solidFill>
                <a:latin typeface="Arial" pitchFamily="34" charset="0"/>
                <a:ea typeface="Arial" pitchFamily="34" charset="-122"/>
                <a:cs typeface="Arial" pitchFamily="34" charset="-120"/>
              </a:rPr>
              <a:t>Điều trị ngoại trú tại Khoa PHCN</a:t>
            </a:r>
            <a:endParaRPr lang="en-US" sz="1400" dirty="0"/>
          </a:p>
          <a:p>
            <a:pPr algn="ctr">
              <a:lnSpc>
                <a:spcPct val="112000"/>
              </a:lnSpc>
              <a:spcAft>
                <a:spcPts val="800"/>
              </a:spcAft>
            </a:pPr>
            <a:r>
              <a:rPr lang="vi-VN" sz="1400" dirty="0">
                <a:solidFill>
                  <a:srgbClr val="404040"/>
                </a:solidFill>
              </a:rPr>
              <a:t>Đối chiếu với Bác sĩ/KTV PHCN ≥1 năm kinh nghiệm</a:t>
            </a:r>
            <a:endParaRPr lang="en-US" sz="1400" dirty="0"/>
          </a:p>
        </p:txBody>
      </p:sp>
      <p:sp>
        <p:nvSpPr>
          <p:cNvPr id="10" name="Text 7"/>
          <p:cNvSpPr/>
          <p:nvPr/>
        </p:nvSpPr>
        <p:spPr>
          <a:xfrm>
            <a:off x="3227832"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429000"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2" name="Shape 9"/>
          <p:cNvSpPr/>
          <p:nvPr/>
        </p:nvSpPr>
        <p:spPr>
          <a:xfrm>
            <a:off x="4411980" y="2194560"/>
            <a:ext cx="713232" cy="713232"/>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3" name="Image 1" descr="preencoded.png"/>
          <p:cNvPicPr>
            <a:picLocks noChangeAspect="1"/>
          </p:cNvPicPr>
          <p:nvPr/>
        </p:nvPicPr>
        <p:blipFill>
          <a:blip r:embed="rId4"/>
          <a:stretch>
            <a:fillRect/>
          </a:stretch>
        </p:blipFill>
        <p:spPr>
          <a:xfrm>
            <a:off x="4590288" y="2372868"/>
            <a:ext cx="356616" cy="356616"/>
          </a:xfrm>
          <a:prstGeom prst="rect">
            <a:avLst/>
          </a:prstGeom>
        </p:spPr>
      </p:pic>
      <p:sp>
        <p:nvSpPr>
          <p:cNvPr id="14" name="Text 10"/>
          <p:cNvSpPr/>
          <p:nvPr/>
        </p:nvSpPr>
        <p:spPr>
          <a:xfrm>
            <a:off x="3566160"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Dữ liệu</a:t>
            </a:r>
            <a:endParaRPr lang="en-US" sz="2400" dirty="0"/>
          </a:p>
        </p:txBody>
      </p:sp>
      <p:sp>
        <p:nvSpPr>
          <p:cNvPr id="15" name="Shape 11"/>
          <p:cNvSpPr/>
          <p:nvPr/>
        </p:nvSpPr>
        <p:spPr>
          <a:xfrm>
            <a:off x="4448556" y="3502152"/>
            <a:ext cx="640080" cy="0"/>
          </a:xfrm>
          <a:prstGeom prst="line">
            <a:avLst/>
          </a:prstGeom>
          <a:noFill/>
          <a:ln w="17780">
            <a:solidFill>
              <a:srgbClr val="B7D6C6"/>
            </a:solidFill>
            <a:prstDash val="solid"/>
          </a:ln>
        </p:spPr>
        <p:txBody>
          <a:bodyPr/>
          <a:lstStyle/>
          <a:p>
            <a:endParaRPr/>
          </a:p>
        </p:txBody>
      </p:sp>
      <p:sp>
        <p:nvSpPr>
          <p:cNvPr id="16" name="Text 12"/>
          <p:cNvSpPr/>
          <p:nvPr/>
        </p:nvSpPr>
        <p:spPr>
          <a:xfrm>
            <a:off x="3630168"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4 người bệnh · 8 video</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45.446 khung hình</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Codman &amp; bài tập với gậy</a:t>
            </a:r>
            <a:endParaRPr lang="en-US" sz="1600" dirty="0"/>
          </a:p>
        </p:txBody>
      </p:sp>
      <p:sp>
        <p:nvSpPr>
          <p:cNvPr id="17" name="Text 13"/>
          <p:cNvSpPr/>
          <p:nvPr/>
        </p:nvSpPr>
        <p:spPr>
          <a:xfrm>
            <a:off x="6089904"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18" name="Shape 14"/>
          <p:cNvSpPr/>
          <p:nvPr/>
        </p:nvSpPr>
        <p:spPr>
          <a:xfrm>
            <a:off x="6291072" y="1874520"/>
            <a:ext cx="2679192" cy="3703320"/>
          </a:xfrm>
          <a:prstGeom prst="roundRect">
            <a:avLst>
              <a:gd name="adj" fmla="val 4778"/>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9" name="Shape 15"/>
          <p:cNvSpPr/>
          <p:nvPr/>
        </p:nvSpPr>
        <p:spPr>
          <a:xfrm>
            <a:off x="7274052" y="2194560"/>
            <a:ext cx="713232" cy="713232"/>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20" name="Image 2" descr="preencoded.png"/>
          <p:cNvPicPr>
            <a:picLocks noChangeAspect="1"/>
          </p:cNvPicPr>
          <p:nvPr/>
        </p:nvPicPr>
        <p:blipFill>
          <a:blip r:embed="rId5"/>
          <a:stretch>
            <a:fillRect/>
          </a:stretch>
        </p:blipFill>
        <p:spPr>
          <a:xfrm>
            <a:off x="7452360" y="2372868"/>
            <a:ext cx="356616" cy="356616"/>
          </a:xfrm>
          <a:prstGeom prst="rect">
            <a:avLst/>
          </a:prstGeom>
        </p:spPr>
      </p:pic>
      <p:sp>
        <p:nvSpPr>
          <p:cNvPr id="21" name="Text 16"/>
          <p:cNvSpPr/>
          <p:nvPr/>
        </p:nvSpPr>
        <p:spPr>
          <a:xfrm>
            <a:off x="6428232" y="3044952"/>
            <a:ext cx="2404872" cy="411480"/>
          </a:xfrm>
          <a:prstGeom prst="rect">
            <a:avLst/>
          </a:prstGeom>
          <a:noFill/>
          <a:ln/>
        </p:spPr>
        <p:txBody>
          <a:bodyPr wrap="square" lIns="0" tIns="0" rIns="0" bIns="0" rtlCol="0" anchor="ctr"/>
          <a:lstStyle/>
          <a:p>
            <a:pPr marL="0" indent="0" algn="ctr">
              <a:buNone/>
            </a:pPr>
            <a:r>
              <a:rPr lang="en-US" sz="2400" b="1" dirty="0">
                <a:solidFill>
                  <a:srgbClr val="005F35"/>
                </a:solidFill>
                <a:latin typeface="Arial" pitchFamily="34" charset="0"/>
                <a:ea typeface="Arial" pitchFamily="34" charset="-122"/>
                <a:cs typeface="Arial" pitchFamily="34" charset="-120"/>
              </a:rPr>
              <a:t>Phương pháp</a:t>
            </a:r>
            <a:endParaRPr lang="en-US" sz="2400" dirty="0"/>
          </a:p>
        </p:txBody>
      </p:sp>
      <p:sp>
        <p:nvSpPr>
          <p:cNvPr id="22" name="Shape 17"/>
          <p:cNvSpPr/>
          <p:nvPr/>
        </p:nvSpPr>
        <p:spPr>
          <a:xfrm>
            <a:off x="7310628" y="3502152"/>
            <a:ext cx="640080" cy="0"/>
          </a:xfrm>
          <a:prstGeom prst="line">
            <a:avLst/>
          </a:prstGeom>
          <a:noFill/>
          <a:ln w="17780">
            <a:solidFill>
              <a:srgbClr val="B7D6C6"/>
            </a:solidFill>
            <a:prstDash val="solid"/>
          </a:ln>
        </p:spPr>
        <p:txBody>
          <a:bodyPr/>
          <a:lstStyle/>
          <a:p>
            <a:endParaRPr/>
          </a:p>
        </p:txBody>
      </p:sp>
      <p:sp>
        <p:nvSpPr>
          <p:cNvPr id="23" name="Text 18"/>
          <p:cNvSpPr/>
          <p:nvPr/>
        </p:nvSpPr>
        <p:spPr>
          <a:xfrm>
            <a:off x="6492240"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MediaPipe Pose — 33 điểm mốc</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Random Forest tầng hai</a:t>
            </a:r>
            <a:endParaRPr lang="en-US" sz="1600" dirty="0"/>
          </a:p>
          <a:p>
            <a:pPr marL="0" indent="0" algn="ctr">
              <a:lnSpc>
                <a:spcPct val="112000"/>
              </a:lnSpc>
              <a:spcAft>
                <a:spcPts val="800"/>
              </a:spcAft>
              <a:buNone/>
            </a:pPr>
            <a:r>
              <a:rPr lang="en-US" sz="1600" dirty="0">
                <a:solidFill>
                  <a:srgbClr val="32463C"/>
                </a:solidFill>
                <a:latin typeface="Arial" pitchFamily="34" charset="0"/>
                <a:ea typeface="Arial" pitchFamily="34" charset="-122"/>
                <a:cs typeface="Arial" pitchFamily="34" charset="-120"/>
              </a:rPr>
              <a:t>Ngưỡng góc REF theo bài tập</a:t>
            </a:r>
            <a:endParaRPr lang="en-US" sz="1600" dirty="0"/>
          </a:p>
        </p:txBody>
      </p:sp>
      <p:sp>
        <p:nvSpPr>
          <p:cNvPr id="24" name="Text 19"/>
          <p:cNvSpPr/>
          <p:nvPr/>
        </p:nvSpPr>
        <p:spPr>
          <a:xfrm>
            <a:off x="8951976" y="2148840"/>
            <a:ext cx="237744" cy="713232"/>
          </a:xfrm>
          <a:prstGeom prst="rect">
            <a:avLst/>
          </a:prstGeom>
          <a:noFill/>
          <a:ln/>
        </p:spPr>
        <p:txBody>
          <a:bodyPr wrap="square" lIns="0" tIns="0" rIns="0" bIns="0" rtlCol="0" anchor="ctr"/>
          <a:lstStyle/>
          <a:p>
            <a:pPr marL="0" indent="0" algn="ctr">
              <a:buNone/>
            </a:pPr>
            <a:r>
              <a:rPr lang="en-US" sz="2000" b="1" dirty="0">
                <a:solidFill>
                  <a:srgbClr val="0C8A52"/>
                </a:solidFill>
                <a:latin typeface="Arial" pitchFamily="34" charset="0"/>
                <a:ea typeface="Arial" pitchFamily="34" charset="-122"/>
                <a:cs typeface="Arial" pitchFamily="34" charset="-120"/>
              </a:rPr>
              <a:t>→</a:t>
            </a:r>
            <a:endParaRPr lang="en-US" sz="2000" dirty="0"/>
          </a:p>
        </p:txBody>
      </p:sp>
      <p:sp>
        <p:nvSpPr>
          <p:cNvPr id="25" name="Shape 20"/>
          <p:cNvSpPr/>
          <p:nvPr/>
        </p:nvSpPr>
        <p:spPr>
          <a:xfrm>
            <a:off x="9153144" y="1874520"/>
            <a:ext cx="2679192" cy="3703320"/>
          </a:xfrm>
          <a:prstGeom prst="roundRect">
            <a:avLst>
              <a:gd name="adj" fmla="val 4778"/>
            </a:avLst>
          </a:prstGeom>
          <a:solidFill>
            <a:srgbClr val="005F35"/>
          </a:solidFill>
          <a:ln/>
          <a:effectLst>
            <a:outerShdw blurRad="114300" dist="50800" dir="5400000" algn="bl" rotWithShape="0">
              <a:srgbClr val="0B3322">
                <a:alpha val="13000"/>
              </a:srgbClr>
            </a:outerShdw>
          </a:effectLst>
        </p:spPr>
        <p:txBody>
          <a:bodyPr/>
          <a:lstStyle/>
          <a:p>
            <a:endParaRPr/>
          </a:p>
        </p:txBody>
      </p:sp>
      <p:sp>
        <p:nvSpPr>
          <p:cNvPr id="26" name="Shape 21"/>
          <p:cNvSpPr/>
          <p:nvPr/>
        </p:nvSpPr>
        <p:spPr>
          <a:xfrm>
            <a:off x="10136124" y="2194560"/>
            <a:ext cx="713232" cy="713232"/>
          </a:xfrm>
          <a:prstGeom prst="ellipse">
            <a:avLst/>
          </a:prstGeom>
          <a:solidFill>
            <a:srgbClr val="FFFFFF"/>
          </a:solidFill>
          <a:ln/>
          <a:effectLst>
            <a:outerShdw blurRad="114300" dist="50800" dir="5400000" algn="bl" rotWithShape="0">
              <a:srgbClr val="0B3322">
                <a:alpha val="13000"/>
              </a:srgbClr>
            </a:outerShdw>
          </a:effectLst>
        </p:spPr>
        <p:txBody>
          <a:bodyPr/>
          <a:lstStyle/>
          <a:p>
            <a:endParaRPr/>
          </a:p>
        </p:txBody>
      </p:sp>
      <p:pic>
        <p:nvPicPr>
          <p:cNvPr id="27" name="Image 3" descr="preencoded.png"/>
          <p:cNvPicPr>
            <a:picLocks noChangeAspect="1"/>
          </p:cNvPicPr>
          <p:nvPr/>
        </p:nvPicPr>
        <p:blipFill>
          <a:blip r:embed="rId6"/>
          <a:stretch>
            <a:fillRect/>
          </a:stretch>
        </p:blipFill>
        <p:spPr>
          <a:xfrm>
            <a:off x="10314432" y="2372868"/>
            <a:ext cx="356616" cy="356616"/>
          </a:xfrm>
          <a:prstGeom prst="rect">
            <a:avLst/>
          </a:prstGeom>
        </p:spPr>
      </p:pic>
      <p:sp>
        <p:nvSpPr>
          <p:cNvPr id="28" name="Text 22"/>
          <p:cNvSpPr/>
          <p:nvPr/>
        </p:nvSpPr>
        <p:spPr>
          <a:xfrm>
            <a:off x="9290304" y="3044952"/>
            <a:ext cx="2404872" cy="41148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Đầu ra</a:t>
            </a:r>
            <a:endParaRPr lang="en-US" sz="2400" dirty="0"/>
          </a:p>
        </p:txBody>
      </p:sp>
      <p:sp>
        <p:nvSpPr>
          <p:cNvPr id="29" name="Shape 23"/>
          <p:cNvSpPr/>
          <p:nvPr/>
        </p:nvSpPr>
        <p:spPr>
          <a:xfrm>
            <a:off x="10172700" y="3502152"/>
            <a:ext cx="640080" cy="0"/>
          </a:xfrm>
          <a:prstGeom prst="line">
            <a:avLst/>
          </a:prstGeom>
          <a:noFill/>
          <a:ln w="17780">
            <a:solidFill>
              <a:srgbClr val="3C9A72"/>
            </a:solidFill>
            <a:prstDash val="solid"/>
          </a:ln>
        </p:spPr>
        <p:txBody>
          <a:bodyPr/>
          <a:lstStyle/>
          <a:p>
            <a:endParaRPr/>
          </a:p>
        </p:txBody>
      </p:sp>
      <p:sp>
        <p:nvSpPr>
          <p:cNvPr id="30" name="Text 24"/>
          <p:cNvSpPr/>
          <p:nvPr/>
        </p:nvSpPr>
        <p:spPr>
          <a:xfrm>
            <a:off x="9354312" y="3657600"/>
            <a:ext cx="2276856" cy="1783080"/>
          </a:xfrm>
          <a:prstGeom prst="rect">
            <a:avLst/>
          </a:prstGeom>
          <a:noFill/>
          <a:ln/>
        </p:spPr>
        <p:txBody>
          <a:bodyPr wrap="square" lIns="0" tIns="0" rIns="0" bIns="0" rtlCol="0" anchor="t"/>
          <a:lstStyle/>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Phân loại PASS / NEAR / FAIL</a:t>
            </a:r>
            <a:endParaRPr lang="en-US" sz="1600" dirty="0"/>
          </a:p>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Dashboard định lượng</a:t>
            </a:r>
            <a:endParaRPr lang="en-US" sz="1600" dirty="0"/>
          </a:p>
          <a:p>
            <a:pPr marL="0" indent="0" algn="ctr">
              <a:lnSpc>
                <a:spcPct val="112000"/>
              </a:lnSpc>
              <a:spcAft>
                <a:spcPts val="800"/>
              </a:spcAft>
              <a:buNone/>
            </a:pPr>
            <a:r>
              <a:rPr lang="en-US" sz="1600" dirty="0">
                <a:solidFill>
                  <a:srgbClr val="EAF6EF"/>
                </a:solidFill>
                <a:latin typeface="Arial" pitchFamily="34" charset="0"/>
                <a:ea typeface="Arial" pitchFamily="34" charset="-122"/>
                <a:cs typeface="Arial" pitchFamily="34" charset="-120"/>
              </a:rPr>
              <a:t>Video overlay &amp; frame gallery</a:t>
            </a:r>
            <a:endParaRPr lang="en-US" sz="1600" dirty="0"/>
          </a:p>
        </p:txBody>
      </p:sp>
      <p:sp>
        <p:nvSpPr>
          <p:cNvPr id="92" name="Ethics Caption"/>
          <p:cNvSpPr/>
          <p:nvPr/>
        </p:nvSpPr>
        <p:spPr>
          <a:xfrm>
            <a:off x="566928" y="5660000"/>
            <a:ext cx="10058400" cy="430000"/>
          </a:xfrm>
          <a:prstGeom prst="rect">
            <a:avLst/>
          </a:prstGeom>
          <a:noFill/>
          <a:ln/>
        </p:spPr>
        <p:txBody>
          <a:bodyPr wrap="square" lIns="0" tIns="0" rIns="0" bIns="0" rtlCol="0" anchor="t"/>
          <a:lstStyle/>
          <a:p>
            <a:pPr marL="0" indent="0" algn="l">
              <a:buNone/>
            </a:pPr>
            <a:r>
              <a:rPr lang="vi-VN" sz="800" b="1" dirty="0">
                <a:solidFill>
                  <a:srgbClr val="005F35"/>
                </a:solidFill>
                <a:latin typeface="Arial" pitchFamily="34" charset="0"/>
              </a:rPr>
              <a:t>Đối tượng &amp; đạo đức: </a:t>
            </a:r>
            <a:r>
              <a:rPr lang="vi-VN" sz="800" dirty="0">
                <a:solidFill>
                  <a:srgbClr val="404040"/>
                </a:solidFill>
                <a:latin typeface="Arial" pitchFamily="34" charset="0"/>
              </a:rPr>
              <a:t>Người bệnh viêm quanh khớp vai (ICD-10: M75) điều trị ngoại trú tại Khoa PHCN, Bệnh viện Đa khoa Phạm Ngọc Thạch. Tiêu chuẩn chọn: có chẩn đoán, được chỉ định bài tập chuẩn hóa, hợp tác tốt, đồng ý ghi hình &amp; ký cam kết tham gia; loại trừ ca có chống chỉ định vận động hoặc video không đủ chất lượng trích xuất điểm mốc. Đối chiếu với Bác sĩ/KTV PHCN ≥1 năm kinh nghiệm; chấp thuận bởi Hội đồng Đạo đức Trường ĐHYTCC, mã 026-024/ĐĐ-YTCC.</a:t>
            </a:r>
          </a:p>
        </p:txBody>
      </p:sp>
      <p:pic>
        <p:nvPicPr>
          <p:cNvPr id="31"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32" name="Text 25"/>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3" name="Text 26"/>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07 / 19</a:t>
            </a:r>
            <a:endParaRPr lang="en-US" sz="850" dirty="0"/>
          </a:p>
        </p:txBody>
      </p:sp>
      <p:pic>
        <p:nvPicPr>
          <p:cNvPr id="34" name="Image 0" descr="/tmp/assets/qr_web.png">
            <a:extLst>
              <a:ext uri="{FF2B5EF4-FFF2-40B4-BE49-F238E27FC236}">
                <a16:creationId xmlns:a16="http://schemas.microsoft.com/office/drawing/2014/main" id="{A4C22505-18D8-7B77-C4D9-A921925EAC69}"/>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Quy trình xử lý AI</a:t>
            </a:r>
            <a:endParaRPr lang="en-US" sz="2900" dirty="0"/>
          </a:p>
        </p:txBody>
      </p:sp>
      <p:sp>
        <p:nvSpPr>
          <p:cNvPr id="4" name="Shape 2"/>
          <p:cNvSpPr/>
          <p:nvPr/>
        </p:nvSpPr>
        <p:spPr>
          <a:xfrm>
            <a:off x="56692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Shape 3"/>
          <p:cNvSpPr/>
          <p:nvPr/>
        </p:nvSpPr>
        <p:spPr>
          <a:xfrm>
            <a:off x="768096" y="2121408"/>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6" name="Image 0" descr="preencoded.png"/>
          <p:cNvPicPr>
            <a:picLocks noChangeAspect="1"/>
          </p:cNvPicPr>
          <p:nvPr/>
        </p:nvPicPr>
        <p:blipFill>
          <a:blip r:embed="rId3"/>
          <a:stretch>
            <a:fillRect/>
          </a:stretch>
        </p:blipFill>
        <p:spPr>
          <a:xfrm>
            <a:off x="918972" y="2272284"/>
            <a:ext cx="301752" cy="301752"/>
          </a:xfrm>
          <a:prstGeom prst="rect">
            <a:avLst/>
          </a:prstGeom>
        </p:spPr>
      </p:pic>
      <p:sp>
        <p:nvSpPr>
          <p:cNvPr id="7" name="Text 4"/>
          <p:cNvSpPr/>
          <p:nvPr/>
        </p:nvSpPr>
        <p:spPr>
          <a:xfrm>
            <a:off x="148132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Video RGB</a:t>
            </a:r>
            <a:endParaRPr lang="en-US" dirty="0"/>
          </a:p>
          <a:p>
            <a:pPr marL="0" indent="0">
              <a:buNone/>
            </a:pPr>
            <a:r>
              <a:rPr lang="en-US" b="1" dirty="0">
                <a:solidFill>
                  <a:srgbClr val="13241B"/>
                </a:solidFill>
                <a:latin typeface="Arial" pitchFamily="34" charset="0"/>
                <a:ea typeface="Arial" pitchFamily="34" charset="-122"/>
                <a:cs typeface="Arial" pitchFamily="34" charset="-120"/>
              </a:rPr>
              <a:t>điện thoại</a:t>
            </a:r>
            <a:endParaRPr lang="en-US" dirty="0"/>
          </a:p>
        </p:txBody>
      </p:sp>
      <p:sp>
        <p:nvSpPr>
          <p:cNvPr id="8" name="Text 5"/>
          <p:cNvSpPr/>
          <p:nvPr/>
        </p:nvSpPr>
        <p:spPr>
          <a:xfrm>
            <a:off x="3721608" y="1874520"/>
            <a:ext cx="594360" cy="1097280"/>
          </a:xfrm>
          <a:prstGeom prst="rect">
            <a:avLst/>
          </a:prstGeom>
          <a:noFill/>
          <a:ln/>
        </p:spPr>
        <p:txBody>
          <a:bodyPr wrap="square" lIns="0" tIns="0" rIns="0" bIns="0" rtlCol="0" anchor="ctr"/>
          <a:lstStyle/>
          <a:p>
            <a:pPr marL="0" indent="0" algn="ctr">
              <a:buNone/>
            </a:pPr>
            <a:r>
              <a:rPr lang="en-US" sz="2400" b="1" dirty="0">
                <a:solidFill>
                  <a:srgbClr val="0C8A52"/>
                </a:solidFill>
                <a:latin typeface="Arial" pitchFamily="34" charset="0"/>
                <a:ea typeface="Arial" pitchFamily="34" charset="-122"/>
                <a:cs typeface="Arial" pitchFamily="34" charset="-120"/>
              </a:rPr>
              <a:t>→</a:t>
            </a:r>
            <a:endParaRPr lang="en-US" sz="2400" dirty="0"/>
          </a:p>
        </p:txBody>
      </p:sp>
      <p:sp>
        <p:nvSpPr>
          <p:cNvPr id="9" name="Shape 6"/>
          <p:cNvSpPr/>
          <p:nvPr/>
        </p:nvSpPr>
        <p:spPr>
          <a:xfrm>
            <a:off x="427024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0" name="Shape 7"/>
          <p:cNvSpPr/>
          <p:nvPr/>
        </p:nvSpPr>
        <p:spPr>
          <a:xfrm>
            <a:off x="4471416" y="2121408"/>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1" name="Image 1" descr="preencoded.png"/>
          <p:cNvPicPr>
            <a:picLocks noChangeAspect="1"/>
          </p:cNvPicPr>
          <p:nvPr/>
        </p:nvPicPr>
        <p:blipFill>
          <a:blip r:embed="rId4"/>
          <a:stretch>
            <a:fillRect/>
          </a:stretch>
        </p:blipFill>
        <p:spPr>
          <a:xfrm>
            <a:off x="4622292" y="2272284"/>
            <a:ext cx="301752" cy="301752"/>
          </a:xfrm>
          <a:prstGeom prst="rect">
            <a:avLst/>
          </a:prstGeom>
        </p:spPr>
      </p:pic>
      <p:sp>
        <p:nvSpPr>
          <p:cNvPr id="12" name="Text 8"/>
          <p:cNvSpPr/>
          <p:nvPr/>
        </p:nvSpPr>
        <p:spPr>
          <a:xfrm>
            <a:off x="518464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MediaPipe Pose</a:t>
            </a:r>
            <a:endParaRPr lang="en-US" dirty="0"/>
          </a:p>
          <a:p>
            <a:pPr marL="0" indent="0">
              <a:buNone/>
            </a:pPr>
            <a:r>
              <a:rPr lang="en-US" b="1" dirty="0">
                <a:solidFill>
                  <a:srgbClr val="13241B"/>
                </a:solidFill>
                <a:latin typeface="Arial" pitchFamily="34" charset="0"/>
                <a:ea typeface="Arial" pitchFamily="34" charset="-122"/>
                <a:cs typeface="Arial" pitchFamily="34" charset="-120"/>
              </a:rPr>
              <a:t>33 điểm mốc</a:t>
            </a:r>
            <a:endParaRPr lang="en-US" dirty="0"/>
          </a:p>
        </p:txBody>
      </p:sp>
      <p:sp>
        <p:nvSpPr>
          <p:cNvPr id="13" name="Text 9"/>
          <p:cNvSpPr/>
          <p:nvPr/>
        </p:nvSpPr>
        <p:spPr>
          <a:xfrm>
            <a:off x="7424928" y="1874520"/>
            <a:ext cx="594360" cy="1097280"/>
          </a:xfrm>
          <a:prstGeom prst="rect">
            <a:avLst/>
          </a:prstGeom>
          <a:noFill/>
          <a:ln/>
        </p:spPr>
        <p:txBody>
          <a:bodyPr wrap="square" lIns="0" tIns="0" rIns="0" bIns="0" rtlCol="0" anchor="ctr"/>
          <a:lstStyle/>
          <a:p>
            <a:pPr marL="0" indent="0" algn="ctr">
              <a:buNone/>
            </a:pPr>
            <a:r>
              <a:rPr lang="en-US" sz="2400" b="1" dirty="0">
                <a:solidFill>
                  <a:srgbClr val="0C8A52"/>
                </a:solidFill>
                <a:latin typeface="Arial" pitchFamily="34" charset="0"/>
                <a:ea typeface="Arial" pitchFamily="34" charset="-122"/>
                <a:cs typeface="Arial" pitchFamily="34" charset="-120"/>
              </a:rPr>
              <a:t>→</a:t>
            </a:r>
            <a:endParaRPr lang="en-US" sz="2400" dirty="0"/>
          </a:p>
        </p:txBody>
      </p:sp>
      <p:sp>
        <p:nvSpPr>
          <p:cNvPr id="14" name="Shape 10"/>
          <p:cNvSpPr/>
          <p:nvPr/>
        </p:nvSpPr>
        <p:spPr>
          <a:xfrm>
            <a:off x="7973568" y="1874520"/>
            <a:ext cx="3200400" cy="1097280"/>
          </a:xfrm>
          <a:prstGeom prst="roundRect">
            <a:avLst>
              <a:gd name="adj" fmla="val 10000"/>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15" name="Shape 11"/>
          <p:cNvSpPr/>
          <p:nvPr/>
        </p:nvSpPr>
        <p:spPr>
          <a:xfrm>
            <a:off x="8174736" y="2121408"/>
            <a:ext cx="603504" cy="60350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16" name="Image 2" descr="preencoded.png"/>
          <p:cNvPicPr>
            <a:picLocks noChangeAspect="1"/>
          </p:cNvPicPr>
          <p:nvPr/>
        </p:nvPicPr>
        <p:blipFill>
          <a:blip r:embed="rId5"/>
          <a:stretch>
            <a:fillRect/>
          </a:stretch>
        </p:blipFill>
        <p:spPr>
          <a:xfrm>
            <a:off x="8325612" y="2272284"/>
            <a:ext cx="301752" cy="301752"/>
          </a:xfrm>
          <a:prstGeom prst="rect">
            <a:avLst/>
          </a:prstGeom>
        </p:spPr>
      </p:pic>
      <p:sp>
        <p:nvSpPr>
          <p:cNvPr id="17" name="Text 12"/>
          <p:cNvSpPr/>
          <p:nvPr/>
        </p:nvSpPr>
        <p:spPr>
          <a:xfrm>
            <a:off x="8887968" y="1874520"/>
            <a:ext cx="2148840" cy="1097280"/>
          </a:xfrm>
          <a:prstGeom prst="rect">
            <a:avLst/>
          </a:prstGeom>
          <a:noFill/>
          <a:ln/>
        </p:spPr>
        <p:txBody>
          <a:bodyPr wrap="square" lIns="0" tIns="0" rIns="0" bIns="0" rtlCol="0" anchor="ctr"/>
          <a:lstStyle/>
          <a:p>
            <a:pPr marL="0" indent="0">
              <a:buNone/>
            </a:pPr>
            <a:r>
              <a:rPr lang="en-US" b="1" dirty="0">
                <a:solidFill>
                  <a:srgbClr val="13241B"/>
                </a:solidFill>
                <a:latin typeface="Arial" pitchFamily="34" charset="0"/>
                <a:ea typeface="Arial" pitchFamily="34" charset="-122"/>
                <a:cs typeface="Arial" pitchFamily="34" charset="-120"/>
              </a:rPr>
              <a:t>Tính góc</a:t>
            </a:r>
            <a:endParaRPr lang="en-US" dirty="0"/>
          </a:p>
          <a:p>
            <a:pPr marL="0" indent="0">
              <a:buNone/>
            </a:pPr>
            <a:r>
              <a:rPr lang="en-US" b="1" dirty="0">
                <a:solidFill>
                  <a:srgbClr val="13241B"/>
                </a:solidFill>
                <a:latin typeface="Arial" pitchFamily="34" charset="0"/>
                <a:ea typeface="Arial" pitchFamily="34" charset="-122"/>
                <a:cs typeface="Arial" pitchFamily="34" charset="-120"/>
              </a:rPr>
              <a:t>vai / khuỷu</a:t>
            </a:r>
            <a:endParaRPr lang="en-US" dirty="0"/>
          </a:p>
        </p:txBody>
      </p:sp>
      <p:sp>
        <p:nvSpPr>
          <p:cNvPr id="18" name="Shape 13"/>
          <p:cNvSpPr/>
          <p:nvPr/>
        </p:nvSpPr>
        <p:spPr>
          <a:xfrm>
            <a:off x="566928" y="3291840"/>
            <a:ext cx="5413248" cy="1371600"/>
          </a:xfrm>
          <a:prstGeom prst="roundRect">
            <a:avLst>
              <a:gd name="adj" fmla="val 8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txBody>
          <a:bodyPr/>
          <a:lstStyle/>
          <a:p>
            <a:endParaRPr/>
          </a:p>
        </p:txBody>
      </p:sp>
      <p:sp>
        <p:nvSpPr>
          <p:cNvPr id="19" name="Shape 14"/>
          <p:cNvSpPr/>
          <p:nvPr/>
        </p:nvSpPr>
        <p:spPr>
          <a:xfrm>
            <a:off x="813816" y="3346704"/>
            <a:ext cx="512064" cy="51206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20" name="Image 3" descr="preencoded.png"/>
          <p:cNvPicPr>
            <a:picLocks noChangeAspect="1"/>
          </p:cNvPicPr>
          <p:nvPr/>
        </p:nvPicPr>
        <p:blipFill>
          <a:blip r:embed="rId5"/>
          <a:stretch>
            <a:fillRect/>
          </a:stretch>
        </p:blipFill>
        <p:spPr>
          <a:xfrm>
            <a:off x="950976" y="3455729"/>
            <a:ext cx="256032" cy="256032"/>
          </a:xfrm>
          <a:prstGeom prst="rect">
            <a:avLst/>
          </a:prstGeom>
        </p:spPr>
      </p:pic>
      <p:sp>
        <p:nvSpPr>
          <p:cNvPr id="21" name="Text 15"/>
          <p:cNvSpPr/>
          <p:nvPr/>
        </p:nvSpPr>
        <p:spPr>
          <a:xfrm>
            <a:off x="1463040" y="3456432"/>
            <a:ext cx="429768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Nhánh REF (rule-based)</a:t>
            </a:r>
            <a:endParaRPr lang="en-US" sz="2400" dirty="0"/>
          </a:p>
        </p:txBody>
      </p:sp>
      <p:sp>
        <p:nvSpPr>
          <p:cNvPr id="22" name="Text 16"/>
          <p:cNvSpPr/>
          <p:nvPr/>
        </p:nvSpPr>
        <p:spPr>
          <a:xfrm>
            <a:off x="841248" y="3913632"/>
            <a:ext cx="5029200" cy="685800"/>
          </a:xfrm>
          <a:prstGeom prst="rect">
            <a:avLst/>
          </a:prstGeom>
          <a:noFill/>
          <a:ln/>
        </p:spPr>
        <p:txBody>
          <a:bodyPr wrap="square" lIns="0" tIns="0" rIns="0" bIns="0" rtlCol="0" anchor="t"/>
          <a:lstStyle/>
          <a:p>
            <a:pPr marL="0" indent="0">
              <a:lnSpc>
                <a:spcPct val="104000"/>
              </a:lnSpc>
              <a:buNone/>
            </a:pPr>
            <a:r>
              <a:rPr lang="en-US" sz="1600" dirty="0">
                <a:solidFill>
                  <a:srgbClr val="32463C"/>
                </a:solidFill>
                <a:latin typeface="Arial" pitchFamily="34" charset="0"/>
                <a:ea typeface="Arial" pitchFamily="34" charset="-122"/>
                <a:cs typeface="Arial" pitchFamily="34" charset="-120"/>
              </a:rPr>
              <a:t>So góc đo với ngưỡng tham chiếu của từng bài tập → PASS / NEAR / FAIL / UNKNOWN.</a:t>
            </a:r>
            <a:endParaRPr lang="en-US" sz="1600" dirty="0"/>
          </a:p>
        </p:txBody>
      </p:sp>
      <p:sp>
        <p:nvSpPr>
          <p:cNvPr id="23" name="Shape 17"/>
          <p:cNvSpPr/>
          <p:nvPr/>
        </p:nvSpPr>
        <p:spPr>
          <a:xfrm>
            <a:off x="6217920" y="3291840"/>
            <a:ext cx="5413248" cy="1371600"/>
          </a:xfrm>
          <a:prstGeom prst="roundRect">
            <a:avLst>
              <a:gd name="adj" fmla="val 8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txBody>
          <a:bodyPr/>
          <a:lstStyle/>
          <a:p>
            <a:endParaRPr/>
          </a:p>
        </p:txBody>
      </p:sp>
      <p:sp>
        <p:nvSpPr>
          <p:cNvPr id="24" name="Shape 18"/>
          <p:cNvSpPr/>
          <p:nvPr/>
        </p:nvSpPr>
        <p:spPr>
          <a:xfrm>
            <a:off x="6423152" y="3346704"/>
            <a:ext cx="512064" cy="512064"/>
          </a:xfrm>
          <a:prstGeom prst="ellipse">
            <a:avLst/>
          </a:prstGeom>
          <a:solidFill>
            <a:srgbClr val="005F35"/>
          </a:solidFill>
          <a:ln/>
          <a:effectLst>
            <a:outerShdw blurRad="114300" dist="50800" dir="5400000" algn="bl" rotWithShape="0">
              <a:srgbClr val="0B3322">
                <a:alpha val="13000"/>
              </a:srgbClr>
            </a:outerShdw>
          </a:effectLst>
        </p:spPr>
        <p:txBody>
          <a:bodyPr/>
          <a:lstStyle/>
          <a:p>
            <a:endParaRPr/>
          </a:p>
        </p:txBody>
      </p:sp>
      <p:pic>
        <p:nvPicPr>
          <p:cNvPr id="25" name="Image 4" descr="preencoded.png"/>
          <p:cNvPicPr>
            <a:picLocks noChangeAspect="1"/>
          </p:cNvPicPr>
          <p:nvPr/>
        </p:nvPicPr>
        <p:blipFill>
          <a:blip r:embed="rId6"/>
          <a:stretch>
            <a:fillRect/>
          </a:stretch>
        </p:blipFill>
        <p:spPr>
          <a:xfrm>
            <a:off x="6551168" y="3455729"/>
            <a:ext cx="256032" cy="256032"/>
          </a:xfrm>
          <a:prstGeom prst="rect">
            <a:avLst/>
          </a:prstGeom>
        </p:spPr>
      </p:pic>
      <p:sp>
        <p:nvSpPr>
          <p:cNvPr id="26" name="Text 19"/>
          <p:cNvSpPr/>
          <p:nvPr/>
        </p:nvSpPr>
        <p:spPr>
          <a:xfrm>
            <a:off x="7041662" y="3456432"/>
            <a:ext cx="4297680" cy="36576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Nhánh ML (Random Forest)</a:t>
            </a:r>
            <a:endParaRPr lang="en-US" sz="2400" dirty="0"/>
          </a:p>
        </p:txBody>
      </p:sp>
      <p:sp>
        <p:nvSpPr>
          <p:cNvPr id="27" name="Text 20"/>
          <p:cNvSpPr/>
          <p:nvPr/>
        </p:nvSpPr>
        <p:spPr>
          <a:xfrm>
            <a:off x="6423152" y="3926645"/>
            <a:ext cx="5029200" cy="685800"/>
          </a:xfrm>
          <a:prstGeom prst="rect">
            <a:avLst/>
          </a:prstGeom>
          <a:noFill/>
          <a:ln/>
        </p:spPr>
        <p:txBody>
          <a:bodyPr wrap="square" lIns="0" tIns="0" rIns="0" bIns="0" rtlCol="0" anchor="t"/>
          <a:lstStyle/>
          <a:p>
            <a:pPr marL="0" indent="0">
              <a:lnSpc>
                <a:spcPct val="104000"/>
              </a:lnSpc>
              <a:buNone/>
            </a:pPr>
            <a:r>
              <a:rPr lang="en-US" sz="1600" dirty="0">
                <a:solidFill>
                  <a:srgbClr val="32463C"/>
                </a:solidFill>
                <a:latin typeface="Arial" pitchFamily="34" charset="0"/>
                <a:ea typeface="Arial" pitchFamily="34" charset="-122"/>
                <a:cs typeface="Arial" pitchFamily="34" charset="-120"/>
              </a:rPr>
              <a:t>RandomForestClassifier huấn luyện từ đặc trưng tọa độ + góc → Đúng / Gần đúng / Sai ở mức khung hình.</a:t>
            </a:r>
            <a:endParaRPr lang="en-US" sz="1600" dirty="0"/>
          </a:p>
        </p:txBody>
      </p:sp>
      <p:sp>
        <p:nvSpPr>
          <p:cNvPr id="28" name="Shape 21"/>
          <p:cNvSpPr/>
          <p:nvPr/>
        </p:nvSpPr>
        <p:spPr>
          <a:xfrm>
            <a:off x="566928" y="4864608"/>
            <a:ext cx="11064240" cy="749808"/>
          </a:xfrm>
          <a:prstGeom prst="roundRect">
            <a:avLst>
              <a:gd name="adj" fmla="val 12195"/>
            </a:avLst>
          </a:prstGeom>
          <a:solidFill>
            <a:srgbClr val="06371F"/>
          </a:solidFill>
          <a:ln/>
        </p:spPr>
        <p:txBody>
          <a:bodyPr/>
          <a:lstStyle/>
          <a:p>
            <a:endParaRPr/>
          </a:p>
        </p:txBody>
      </p:sp>
      <p:pic>
        <p:nvPicPr>
          <p:cNvPr id="29" name="Image 5" descr="preencoded.png"/>
          <p:cNvPicPr>
            <a:picLocks noChangeAspect="1"/>
          </p:cNvPicPr>
          <p:nvPr/>
        </p:nvPicPr>
        <p:blipFill>
          <a:blip r:embed="rId7"/>
          <a:stretch>
            <a:fillRect/>
          </a:stretch>
        </p:blipFill>
        <p:spPr>
          <a:xfrm>
            <a:off x="786384" y="5074920"/>
            <a:ext cx="347472" cy="347472"/>
          </a:xfrm>
          <a:prstGeom prst="rect">
            <a:avLst/>
          </a:prstGeom>
        </p:spPr>
      </p:pic>
      <p:sp>
        <p:nvSpPr>
          <p:cNvPr id="30" name="Text 22"/>
          <p:cNvSpPr/>
          <p:nvPr/>
        </p:nvSpPr>
        <p:spPr>
          <a:xfrm>
            <a:off x="1243584" y="4864608"/>
            <a:ext cx="10149840" cy="749808"/>
          </a:xfrm>
          <a:prstGeom prst="rect">
            <a:avLst/>
          </a:prstGeom>
          <a:noFill/>
          <a:ln/>
        </p:spPr>
        <p:txBody>
          <a:bodyPr wrap="square" lIns="0" tIns="0" rIns="0" bIns="0" rtlCol="0" anchor="ctr"/>
          <a:lstStyle/>
          <a:p>
            <a:pPr marL="0" indent="0">
              <a:lnSpc>
                <a:spcPct val="102000"/>
              </a:lnSpc>
              <a:buNone/>
            </a:pPr>
            <a:r>
              <a:rPr lang="en-US" sz="1400" b="1" dirty="0">
                <a:solidFill>
                  <a:srgbClr val="C98A1E"/>
                </a:solidFill>
                <a:latin typeface="Arial" pitchFamily="34" charset="0"/>
                <a:ea typeface="Arial" pitchFamily="34" charset="-122"/>
                <a:cs typeface="Arial" pitchFamily="34" charset="-120"/>
              </a:rPr>
              <a:t>Đầu ra:  </a:t>
            </a:r>
            <a:r>
              <a:rPr lang="en-US" sz="1400" dirty="0">
                <a:solidFill>
                  <a:srgbClr val="FFFFFF"/>
                </a:solidFill>
                <a:latin typeface="Arial" pitchFamily="34" charset="0"/>
                <a:ea typeface="Arial" pitchFamily="34" charset="-122"/>
                <a:cs typeface="Arial" pitchFamily="34" charset="-120"/>
              </a:rPr>
              <a:t>CSV / JSON theo từng khung hình · nhãn REF + ML · video overlay khung xương · biểu đồ góc khớp</a:t>
            </a:r>
            <a:endParaRPr lang="en-US" sz="1400" dirty="0"/>
          </a:p>
          <a:p>
            <a:pPr marL="0" indent="0">
              <a:lnSpc>
                <a:spcPct val="102000"/>
              </a:lnSpc>
              <a:buNone/>
            </a:pPr>
            <a:r>
              <a:rPr lang="en-US" sz="1400" b="1" dirty="0">
                <a:solidFill>
                  <a:srgbClr val="C98A1E"/>
                </a:solidFill>
                <a:latin typeface="Arial" pitchFamily="34" charset="0"/>
                <a:ea typeface="Arial" pitchFamily="34" charset="-122"/>
                <a:cs typeface="Arial" pitchFamily="34" charset="-120"/>
              </a:rPr>
              <a:t>Lưu ý: </a:t>
            </a:r>
            <a:r>
              <a:rPr lang="en-US" sz="1400" b="1" i="1" dirty="0" err="1">
                <a:solidFill>
                  <a:srgbClr val="CFE7DA"/>
                </a:solidFill>
                <a:latin typeface="Arial" pitchFamily="34" charset="0"/>
                <a:ea typeface="Arial" pitchFamily="34" charset="-122"/>
                <a:cs typeface="Arial" pitchFamily="34" charset="-120"/>
              </a:rPr>
              <a:t>K</a:t>
            </a:r>
            <a:r>
              <a:rPr lang="en-US" sz="1400" i="1" dirty="0" err="1">
                <a:solidFill>
                  <a:srgbClr val="CFE7DA"/>
                </a:solidFill>
                <a:latin typeface="Arial" pitchFamily="34" charset="0"/>
                <a:ea typeface="Arial" pitchFamily="34" charset="-122"/>
                <a:cs typeface="Arial" pitchFamily="34" charset="-120"/>
              </a:rPr>
              <a:t>hông</a:t>
            </a:r>
            <a:r>
              <a:rPr lang="en-US" sz="1400" i="1" dirty="0">
                <a:solidFill>
                  <a:srgbClr val="CFE7DA"/>
                </a:solidFill>
                <a:latin typeface="Arial" pitchFamily="34" charset="0"/>
                <a:ea typeface="Arial" pitchFamily="34" charset="-122"/>
                <a:cs typeface="Arial" pitchFamily="34" charset="-120"/>
              </a:rPr>
              <a:t> huấn luyện lại MediaPipe — chỉ Random Forest tầng hai được huấn luyện trong nghiên cứu.</a:t>
            </a:r>
            <a:endParaRPr lang="en-US" sz="1400" dirty="0"/>
          </a:p>
        </p:txBody>
      </p:sp>
      <p:pic>
        <p:nvPicPr>
          <p:cNvPr id="31" name="Image 6"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32" name="Text 23"/>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3" name="Text 24"/>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08 / 19</a:t>
            </a:r>
            <a:endParaRPr lang="en-US" sz="850" dirty="0"/>
          </a:p>
        </p:txBody>
      </p:sp>
      <p:pic>
        <p:nvPicPr>
          <p:cNvPr id="34" name="Image 0" descr="/tmp/assets/qr_web.png">
            <a:extLst>
              <a:ext uri="{FF2B5EF4-FFF2-40B4-BE49-F238E27FC236}">
                <a16:creationId xmlns:a16="http://schemas.microsoft.com/office/drawing/2014/main" id="{B3482930-C11B-4B7A-5FC1-C500369BA8C9}"/>
              </a:ext>
            </a:extLst>
          </p:cNvPr>
          <p:cNvPicPr>
            <a:picLocks noChangeAspect="1"/>
          </p:cNvPicPr>
          <p:nvPr/>
        </p:nvPicPr>
        <p:blipFill>
          <a:blip r:embed="rId9"/>
          <a:stretch>
            <a:fillRect/>
          </a:stretch>
        </p:blipFill>
        <p:spPr>
          <a:xfrm>
            <a:off x="10689336" y="146304"/>
            <a:ext cx="1170432" cy="11704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03 · ĐỐI TƯỢNG &amp; PHƯƠNG PHÁP</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Ngưỡng tham chiếu &amp; chỉ số đánh giá</a:t>
            </a:r>
            <a:endParaRPr lang="en-US" sz="2900" dirty="0"/>
          </a:p>
        </p:txBody>
      </p:sp>
      <p:sp>
        <p:nvSpPr>
          <p:cNvPr id="4" name="Shape 2"/>
          <p:cNvSpPr/>
          <p:nvPr/>
        </p:nvSpPr>
        <p:spPr>
          <a:xfrm>
            <a:off x="566928" y="1783080"/>
            <a:ext cx="5413248" cy="3840480"/>
          </a:xfrm>
          <a:prstGeom prst="roundRect">
            <a:avLst>
              <a:gd name="adj" fmla="val 3333"/>
            </a:avLst>
          </a:prstGeom>
          <a:solidFill>
            <a:srgbClr val="EAF4EE"/>
          </a:solidFill>
          <a:ln/>
          <a:effectLst>
            <a:outerShdw blurRad="114300" dist="50800" dir="5400000" algn="bl" rotWithShape="0">
              <a:srgbClr val="0B3322">
                <a:alpha val="13000"/>
              </a:srgbClr>
            </a:outerShdw>
          </a:effectLst>
        </p:spPr>
        <p:txBody>
          <a:bodyPr/>
          <a:lstStyle/>
          <a:p>
            <a:endParaRPr/>
          </a:p>
        </p:txBody>
      </p:sp>
      <p:sp>
        <p:nvSpPr>
          <p:cNvPr id="5" name="Text 3"/>
          <p:cNvSpPr/>
          <p:nvPr/>
        </p:nvSpPr>
        <p:spPr>
          <a:xfrm>
            <a:off x="868680" y="2011680"/>
            <a:ext cx="4846320" cy="41148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Ngưỡng tham chiếu (REF)</a:t>
            </a:r>
            <a:endParaRPr lang="en-US" sz="2000" dirty="0"/>
          </a:p>
        </p:txBody>
      </p:sp>
      <p:sp>
        <p:nvSpPr>
          <p:cNvPr id="6" name="Shape 4"/>
          <p:cNvSpPr/>
          <p:nvPr/>
        </p:nvSpPr>
        <p:spPr>
          <a:xfrm>
            <a:off x="868680" y="2542032"/>
            <a:ext cx="4809744" cy="1325880"/>
          </a:xfrm>
          <a:prstGeom prst="roundRect">
            <a:avLst>
              <a:gd name="adj" fmla="val 6897"/>
            </a:avLst>
          </a:prstGeom>
          <a:solidFill>
            <a:srgbClr val="FFFFFF"/>
          </a:solidFill>
          <a:ln/>
        </p:spPr>
        <p:txBody>
          <a:bodyPr/>
          <a:lstStyle/>
          <a:p>
            <a:endParaRPr/>
          </a:p>
        </p:txBody>
      </p:sp>
      <p:sp>
        <p:nvSpPr>
          <p:cNvPr id="7" name="Text 5"/>
          <p:cNvSpPr/>
          <p:nvPr/>
        </p:nvSpPr>
        <p:spPr>
          <a:xfrm>
            <a:off x="1051560" y="2651760"/>
            <a:ext cx="4480560" cy="329184"/>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Bài con lắc Codman — theo giai đoạn</a:t>
            </a:r>
            <a:endParaRPr lang="en-US" sz="1600" dirty="0"/>
          </a:p>
        </p:txBody>
      </p:sp>
      <p:sp>
        <p:nvSpPr>
          <p:cNvPr id="8" name="Shape 6"/>
          <p:cNvSpPr/>
          <p:nvPr/>
        </p:nvSpPr>
        <p:spPr>
          <a:xfrm>
            <a:off x="1051560" y="3017520"/>
            <a:ext cx="1335024" cy="713232"/>
          </a:xfrm>
          <a:prstGeom prst="roundRect">
            <a:avLst>
              <a:gd name="adj" fmla="val 12821"/>
            </a:avLst>
          </a:prstGeom>
          <a:solidFill>
            <a:srgbClr val="DCEDE3"/>
          </a:solidFill>
          <a:ln/>
        </p:spPr>
        <p:txBody>
          <a:bodyPr/>
          <a:lstStyle/>
          <a:p>
            <a:endParaRPr/>
          </a:p>
        </p:txBody>
      </p:sp>
      <p:sp>
        <p:nvSpPr>
          <p:cNvPr id="9" name="Text 7"/>
          <p:cNvSpPr/>
          <p:nvPr/>
        </p:nvSpPr>
        <p:spPr>
          <a:xfrm>
            <a:off x="1051560"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GĐ1</a:t>
            </a:r>
            <a:endParaRPr lang="en-US" sz="1200" dirty="0"/>
          </a:p>
        </p:txBody>
      </p:sp>
      <p:sp>
        <p:nvSpPr>
          <p:cNvPr id="10" name="Text 8"/>
          <p:cNvSpPr/>
          <p:nvPr/>
        </p:nvSpPr>
        <p:spPr>
          <a:xfrm>
            <a:off x="1051560"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±45°</a:t>
            </a:r>
            <a:endParaRPr lang="en-US" sz="1800" dirty="0"/>
          </a:p>
        </p:txBody>
      </p:sp>
      <p:sp>
        <p:nvSpPr>
          <p:cNvPr id="11" name="Shape 9"/>
          <p:cNvSpPr/>
          <p:nvPr/>
        </p:nvSpPr>
        <p:spPr>
          <a:xfrm>
            <a:off x="2532888" y="3017520"/>
            <a:ext cx="1335024" cy="713232"/>
          </a:xfrm>
          <a:prstGeom prst="roundRect">
            <a:avLst>
              <a:gd name="adj" fmla="val 12821"/>
            </a:avLst>
          </a:prstGeom>
          <a:solidFill>
            <a:srgbClr val="DCEDE3"/>
          </a:solidFill>
          <a:ln/>
        </p:spPr>
        <p:txBody>
          <a:bodyPr/>
          <a:lstStyle/>
          <a:p>
            <a:endParaRPr/>
          </a:p>
        </p:txBody>
      </p:sp>
      <p:sp>
        <p:nvSpPr>
          <p:cNvPr id="12" name="Text 10"/>
          <p:cNvSpPr/>
          <p:nvPr/>
        </p:nvSpPr>
        <p:spPr>
          <a:xfrm>
            <a:off x="2532888"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GĐ2</a:t>
            </a:r>
            <a:endParaRPr lang="en-US" sz="1200" dirty="0"/>
          </a:p>
        </p:txBody>
      </p:sp>
      <p:sp>
        <p:nvSpPr>
          <p:cNvPr id="13" name="Text 11"/>
          <p:cNvSpPr/>
          <p:nvPr/>
        </p:nvSpPr>
        <p:spPr>
          <a:xfrm>
            <a:off x="2532888"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±30°</a:t>
            </a:r>
            <a:endParaRPr lang="en-US" sz="1800" dirty="0"/>
          </a:p>
        </p:txBody>
      </p:sp>
      <p:sp>
        <p:nvSpPr>
          <p:cNvPr id="14" name="Shape 12"/>
          <p:cNvSpPr/>
          <p:nvPr/>
        </p:nvSpPr>
        <p:spPr>
          <a:xfrm>
            <a:off x="4014216" y="3017520"/>
            <a:ext cx="1335024" cy="713232"/>
          </a:xfrm>
          <a:prstGeom prst="roundRect">
            <a:avLst>
              <a:gd name="adj" fmla="val 12821"/>
            </a:avLst>
          </a:prstGeom>
          <a:solidFill>
            <a:srgbClr val="DCEDE3"/>
          </a:solidFill>
          <a:ln/>
        </p:spPr>
        <p:txBody>
          <a:bodyPr/>
          <a:lstStyle/>
          <a:p>
            <a:endParaRPr/>
          </a:p>
        </p:txBody>
      </p:sp>
      <p:sp>
        <p:nvSpPr>
          <p:cNvPr id="15" name="Text 13"/>
          <p:cNvSpPr/>
          <p:nvPr/>
        </p:nvSpPr>
        <p:spPr>
          <a:xfrm>
            <a:off x="4014216" y="3090672"/>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GĐ3</a:t>
            </a:r>
            <a:endParaRPr lang="en-US" sz="1200" dirty="0"/>
          </a:p>
        </p:txBody>
      </p:sp>
      <p:sp>
        <p:nvSpPr>
          <p:cNvPr id="16" name="Text 14"/>
          <p:cNvSpPr/>
          <p:nvPr/>
        </p:nvSpPr>
        <p:spPr>
          <a:xfrm>
            <a:off x="4014216" y="3310128"/>
            <a:ext cx="1335024" cy="365760"/>
          </a:xfrm>
          <a:prstGeom prst="rect">
            <a:avLst/>
          </a:prstGeom>
          <a:noFill/>
          <a:ln/>
        </p:spPr>
        <p:txBody>
          <a:bodyPr wrap="square" lIns="0" tIns="0" rIns="0" bIns="0" rtlCol="0" anchor="ctr"/>
          <a:lstStyle/>
          <a:p>
            <a:pPr marL="0" indent="0" algn="ctr">
              <a:buNone/>
            </a:pPr>
            <a:r>
              <a:rPr lang="en-US" sz="1800" b="1" dirty="0">
                <a:solidFill>
                  <a:srgbClr val="005F35"/>
                </a:solidFill>
                <a:latin typeface="Arial" pitchFamily="34" charset="0"/>
                <a:ea typeface="Arial" pitchFamily="34" charset="-122"/>
                <a:cs typeface="Arial" pitchFamily="34" charset="-120"/>
              </a:rPr>
              <a:t>±15°</a:t>
            </a:r>
            <a:endParaRPr lang="en-US" sz="1800" dirty="0"/>
          </a:p>
        </p:txBody>
      </p:sp>
      <p:sp>
        <p:nvSpPr>
          <p:cNvPr id="17" name="Shape 15"/>
          <p:cNvSpPr/>
          <p:nvPr/>
        </p:nvSpPr>
        <p:spPr>
          <a:xfrm>
            <a:off x="868680" y="4023360"/>
            <a:ext cx="4809744" cy="1371600"/>
          </a:xfrm>
          <a:prstGeom prst="roundRect">
            <a:avLst>
              <a:gd name="adj" fmla="val 6667"/>
            </a:avLst>
          </a:prstGeom>
          <a:solidFill>
            <a:srgbClr val="FFFFFF"/>
          </a:solidFill>
          <a:ln/>
        </p:spPr>
        <p:txBody>
          <a:bodyPr/>
          <a:lstStyle/>
          <a:p>
            <a:endParaRPr/>
          </a:p>
        </p:txBody>
      </p:sp>
      <p:sp>
        <p:nvSpPr>
          <p:cNvPr id="18" name="Text 16"/>
          <p:cNvSpPr/>
          <p:nvPr/>
        </p:nvSpPr>
        <p:spPr>
          <a:xfrm>
            <a:off x="1051560" y="4160520"/>
            <a:ext cx="4480560" cy="329184"/>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Bài tập với gậy — toàn bộ video</a:t>
            </a:r>
            <a:endParaRPr lang="en-US" sz="1600" dirty="0"/>
          </a:p>
        </p:txBody>
      </p:sp>
      <p:sp>
        <p:nvSpPr>
          <p:cNvPr id="19" name="Shape 17"/>
          <p:cNvSpPr/>
          <p:nvPr/>
        </p:nvSpPr>
        <p:spPr>
          <a:xfrm>
            <a:off x="1051560" y="4553712"/>
            <a:ext cx="1335024" cy="713232"/>
          </a:xfrm>
          <a:prstGeom prst="roundRect">
            <a:avLst>
              <a:gd name="adj" fmla="val 12821"/>
            </a:avLst>
          </a:prstGeom>
          <a:solidFill>
            <a:srgbClr val="F7E9E2"/>
          </a:solidFill>
          <a:ln/>
        </p:spPr>
        <p:txBody>
          <a:bodyPr/>
          <a:lstStyle/>
          <a:p>
            <a:endParaRPr/>
          </a:p>
        </p:txBody>
      </p:sp>
      <p:sp>
        <p:nvSpPr>
          <p:cNvPr id="20" name="Text 18"/>
          <p:cNvSpPr/>
          <p:nvPr/>
        </p:nvSpPr>
        <p:spPr>
          <a:xfrm>
            <a:off x="1051560" y="4626864"/>
            <a:ext cx="1335024" cy="274320"/>
          </a:xfrm>
          <a:prstGeom prst="rect">
            <a:avLst/>
          </a:prstGeom>
          <a:noFill/>
          <a:ln/>
        </p:spPr>
        <p:txBody>
          <a:bodyPr wrap="square" lIns="0" tIns="0" rIns="0" bIns="0" rtlCol="0" anchor="ctr"/>
          <a:lstStyle/>
          <a:p>
            <a:pPr marL="0" indent="0" algn="ctr">
              <a:buNone/>
            </a:pPr>
            <a:r>
              <a:rPr lang="en-US" sz="1200" dirty="0">
                <a:solidFill>
                  <a:srgbClr val="5C6E64"/>
                </a:solidFill>
                <a:latin typeface="Arial" pitchFamily="34" charset="0"/>
                <a:ea typeface="Arial" pitchFamily="34" charset="-122"/>
                <a:cs typeface="Arial" pitchFamily="34" charset="-120"/>
              </a:rPr>
              <a:t>Ngưỡng</a:t>
            </a:r>
            <a:endParaRPr lang="en-US" sz="1200" dirty="0"/>
          </a:p>
        </p:txBody>
      </p:sp>
      <p:sp>
        <p:nvSpPr>
          <p:cNvPr id="21" name="Text 19"/>
          <p:cNvSpPr/>
          <p:nvPr/>
        </p:nvSpPr>
        <p:spPr>
          <a:xfrm>
            <a:off x="1051560" y="4846320"/>
            <a:ext cx="1335024" cy="365760"/>
          </a:xfrm>
          <a:prstGeom prst="rect">
            <a:avLst/>
          </a:prstGeom>
          <a:noFill/>
          <a:ln/>
        </p:spPr>
        <p:txBody>
          <a:bodyPr wrap="square" lIns="0" tIns="0" rIns="0" bIns="0" rtlCol="0" anchor="ctr"/>
          <a:lstStyle/>
          <a:p>
            <a:pPr marL="0" indent="0" algn="ctr">
              <a:buNone/>
            </a:pPr>
            <a:r>
              <a:rPr lang="en-US" sz="1800" b="1" dirty="0">
                <a:solidFill>
                  <a:srgbClr val="D9663A"/>
                </a:solidFill>
                <a:latin typeface="Arial" pitchFamily="34" charset="0"/>
                <a:ea typeface="Arial" pitchFamily="34" charset="-122"/>
                <a:cs typeface="Arial" pitchFamily="34" charset="-120"/>
              </a:rPr>
              <a:t>±30°</a:t>
            </a:r>
            <a:endParaRPr lang="en-US" sz="1800" dirty="0"/>
          </a:p>
        </p:txBody>
      </p:sp>
      <p:sp>
        <p:nvSpPr>
          <p:cNvPr id="22" name="Text 20"/>
          <p:cNvSpPr/>
          <p:nvPr/>
        </p:nvSpPr>
        <p:spPr>
          <a:xfrm>
            <a:off x="2560320" y="4572000"/>
            <a:ext cx="3017520" cy="685800"/>
          </a:xfrm>
          <a:prstGeom prst="rect">
            <a:avLst/>
          </a:prstGeom>
          <a:noFill/>
          <a:ln/>
        </p:spPr>
        <p:txBody>
          <a:bodyPr wrap="square" lIns="0" tIns="0" rIns="0" bIns="0" rtlCol="0" anchor="ctr"/>
          <a:lstStyle/>
          <a:p>
            <a:pPr marL="0" indent="0">
              <a:lnSpc>
                <a:spcPct val="104000"/>
              </a:lnSpc>
              <a:buNone/>
            </a:pPr>
            <a:r>
              <a:rPr lang="en-US" sz="1400" dirty="0">
                <a:solidFill>
                  <a:srgbClr val="32463C"/>
                </a:solidFill>
                <a:latin typeface="Arial" pitchFamily="34" charset="0"/>
                <a:ea typeface="Arial" pitchFamily="34" charset="-122"/>
                <a:cs typeface="Arial" pitchFamily="34" charset="-120"/>
              </a:rPr>
              <a:t>Áp dụng đồng nhất cho mọi khung hình, không tách giai đoạn.</a:t>
            </a:r>
            <a:endParaRPr lang="en-US" sz="1400" dirty="0"/>
          </a:p>
        </p:txBody>
      </p:sp>
      <p:sp>
        <p:nvSpPr>
          <p:cNvPr id="23" name="Shape 21"/>
          <p:cNvSpPr/>
          <p:nvPr/>
        </p:nvSpPr>
        <p:spPr>
          <a:xfrm>
            <a:off x="6217920" y="1783080"/>
            <a:ext cx="5413248" cy="3840480"/>
          </a:xfrm>
          <a:prstGeom prst="roundRect">
            <a:avLst>
              <a:gd name="adj" fmla="val 3333"/>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txBody>
          <a:bodyPr/>
          <a:lstStyle/>
          <a:p>
            <a:endParaRPr/>
          </a:p>
        </p:txBody>
      </p:sp>
      <p:sp>
        <p:nvSpPr>
          <p:cNvPr id="24" name="Text 22"/>
          <p:cNvSpPr/>
          <p:nvPr/>
        </p:nvSpPr>
        <p:spPr>
          <a:xfrm>
            <a:off x="6492240" y="2011680"/>
            <a:ext cx="4846320" cy="41148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Chỉ số đánh giá</a:t>
            </a:r>
            <a:endParaRPr lang="en-US" sz="2000" dirty="0"/>
          </a:p>
        </p:txBody>
      </p:sp>
      <p:sp>
        <p:nvSpPr>
          <p:cNvPr id="25" name="Shape 23"/>
          <p:cNvSpPr/>
          <p:nvPr/>
        </p:nvSpPr>
        <p:spPr>
          <a:xfrm>
            <a:off x="6510528" y="2560320"/>
            <a:ext cx="292608" cy="292608"/>
          </a:xfrm>
          <a:prstGeom prst="ellipse">
            <a:avLst/>
          </a:prstGeom>
          <a:solidFill>
            <a:srgbClr val="005F35"/>
          </a:solidFill>
          <a:ln/>
        </p:spPr>
        <p:txBody>
          <a:bodyPr/>
          <a:lstStyle/>
          <a:p>
            <a:endParaRPr/>
          </a:p>
        </p:txBody>
      </p:sp>
      <p:sp>
        <p:nvSpPr>
          <p:cNvPr id="26" name="Text 24"/>
          <p:cNvSpPr/>
          <p:nvPr/>
        </p:nvSpPr>
        <p:spPr>
          <a:xfrm>
            <a:off x="6510528" y="25603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5"/>
          <p:cNvSpPr/>
          <p:nvPr/>
        </p:nvSpPr>
        <p:spPr>
          <a:xfrm>
            <a:off x="6931152" y="2505456"/>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Accuracy  </a:t>
            </a:r>
            <a:r>
              <a:rPr lang="en-US" sz="1600" dirty="0">
                <a:solidFill>
                  <a:srgbClr val="5C6E64"/>
                </a:solidFill>
                <a:latin typeface="Arial" pitchFamily="34" charset="0"/>
                <a:ea typeface="Arial" pitchFamily="34" charset="-122"/>
                <a:cs typeface="Arial" pitchFamily="34" charset="-120"/>
              </a:rPr>
              <a:t>— Tỷ lệ khung hình phân loại đúng</a:t>
            </a:r>
            <a:endParaRPr lang="en-US" sz="1600" dirty="0"/>
          </a:p>
        </p:txBody>
      </p:sp>
      <p:sp>
        <p:nvSpPr>
          <p:cNvPr id="28" name="Shape 26"/>
          <p:cNvSpPr/>
          <p:nvPr/>
        </p:nvSpPr>
        <p:spPr>
          <a:xfrm>
            <a:off x="6510528" y="3163824"/>
            <a:ext cx="292608" cy="292608"/>
          </a:xfrm>
          <a:prstGeom prst="ellipse">
            <a:avLst/>
          </a:prstGeom>
          <a:solidFill>
            <a:srgbClr val="005F35"/>
          </a:solidFill>
          <a:ln/>
        </p:spPr>
        <p:txBody>
          <a:bodyPr/>
          <a:lstStyle/>
          <a:p>
            <a:endParaRPr/>
          </a:p>
        </p:txBody>
      </p:sp>
      <p:sp>
        <p:nvSpPr>
          <p:cNvPr id="29" name="Text 27"/>
          <p:cNvSpPr/>
          <p:nvPr/>
        </p:nvSpPr>
        <p:spPr>
          <a:xfrm>
            <a:off x="6510528" y="316382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0" name="Text 28"/>
          <p:cNvSpPr/>
          <p:nvPr/>
        </p:nvSpPr>
        <p:spPr>
          <a:xfrm>
            <a:off x="6931152" y="3108960"/>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Precision / Recall  </a:t>
            </a:r>
            <a:r>
              <a:rPr lang="en-US" sz="1600" dirty="0">
                <a:solidFill>
                  <a:srgbClr val="5C6E64"/>
                </a:solidFill>
                <a:latin typeface="Arial" pitchFamily="34" charset="0"/>
                <a:ea typeface="Arial" pitchFamily="34" charset="-122"/>
                <a:cs typeface="Arial" pitchFamily="34" charset="-120"/>
              </a:rPr>
              <a:t>— Độ chính xác &amp; độ bao phủ theo lớp</a:t>
            </a:r>
            <a:endParaRPr lang="en-US" sz="1600" dirty="0"/>
          </a:p>
        </p:txBody>
      </p:sp>
      <p:sp>
        <p:nvSpPr>
          <p:cNvPr id="31" name="Shape 29"/>
          <p:cNvSpPr/>
          <p:nvPr/>
        </p:nvSpPr>
        <p:spPr>
          <a:xfrm>
            <a:off x="6510528" y="3767328"/>
            <a:ext cx="292608" cy="292608"/>
          </a:xfrm>
          <a:prstGeom prst="ellipse">
            <a:avLst/>
          </a:prstGeom>
          <a:solidFill>
            <a:srgbClr val="005F35"/>
          </a:solidFill>
          <a:ln/>
        </p:spPr>
        <p:txBody>
          <a:bodyPr/>
          <a:lstStyle/>
          <a:p>
            <a:endParaRPr/>
          </a:p>
        </p:txBody>
      </p:sp>
      <p:sp>
        <p:nvSpPr>
          <p:cNvPr id="32" name="Text 30"/>
          <p:cNvSpPr/>
          <p:nvPr/>
        </p:nvSpPr>
        <p:spPr>
          <a:xfrm>
            <a:off x="6510528" y="376732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3" name="Text 31"/>
          <p:cNvSpPr/>
          <p:nvPr/>
        </p:nvSpPr>
        <p:spPr>
          <a:xfrm>
            <a:off x="6931152" y="3712464"/>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F1-score  </a:t>
            </a:r>
            <a:r>
              <a:rPr lang="en-US" sz="1600" dirty="0">
                <a:solidFill>
                  <a:srgbClr val="5C6E64"/>
                </a:solidFill>
                <a:latin typeface="Arial" pitchFamily="34" charset="0"/>
                <a:ea typeface="Arial" pitchFamily="34" charset="-122"/>
                <a:cs typeface="Arial" pitchFamily="34" charset="-120"/>
              </a:rPr>
              <a:t>— Trung bình điều hòa Precision–Recall</a:t>
            </a:r>
            <a:endParaRPr lang="en-US" sz="1600" dirty="0"/>
          </a:p>
        </p:txBody>
      </p:sp>
      <p:sp>
        <p:nvSpPr>
          <p:cNvPr id="34" name="Shape 32"/>
          <p:cNvSpPr/>
          <p:nvPr/>
        </p:nvSpPr>
        <p:spPr>
          <a:xfrm>
            <a:off x="6510528" y="4370832"/>
            <a:ext cx="292608" cy="292608"/>
          </a:xfrm>
          <a:prstGeom prst="ellipse">
            <a:avLst/>
          </a:prstGeom>
          <a:solidFill>
            <a:srgbClr val="005F35"/>
          </a:solidFill>
          <a:ln/>
        </p:spPr>
        <p:txBody>
          <a:bodyPr/>
          <a:lstStyle/>
          <a:p>
            <a:endParaRPr/>
          </a:p>
        </p:txBody>
      </p:sp>
      <p:sp>
        <p:nvSpPr>
          <p:cNvPr id="35" name="Text 33"/>
          <p:cNvSpPr/>
          <p:nvPr/>
        </p:nvSpPr>
        <p:spPr>
          <a:xfrm>
            <a:off x="6510528" y="43708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6" name="Text 34"/>
          <p:cNvSpPr/>
          <p:nvPr/>
        </p:nvSpPr>
        <p:spPr>
          <a:xfrm>
            <a:off x="6931152" y="4315968"/>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ICC  </a:t>
            </a:r>
            <a:r>
              <a:rPr lang="en-US" sz="1600" dirty="0">
                <a:solidFill>
                  <a:srgbClr val="5C6E64"/>
                </a:solidFill>
                <a:latin typeface="Arial" pitchFamily="34" charset="0"/>
                <a:ea typeface="Arial" pitchFamily="34" charset="-122"/>
                <a:cs typeface="Arial" pitchFamily="34" charset="-120"/>
              </a:rPr>
              <a:t>— Tương quan nội lớp AI ↔ tham chiếu</a:t>
            </a:r>
            <a:endParaRPr lang="en-US" sz="1600" dirty="0"/>
          </a:p>
        </p:txBody>
      </p:sp>
      <p:sp>
        <p:nvSpPr>
          <p:cNvPr id="37" name="Shape 35"/>
          <p:cNvSpPr/>
          <p:nvPr/>
        </p:nvSpPr>
        <p:spPr>
          <a:xfrm>
            <a:off x="6510528" y="4974336"/>
            <a:ext cx="292608" cy="292608"/>
          </a:xfrm>
          <a:prstGeom prst="ellipse">
            <a:avLst/>
          </a:prstGeom>
          <a:solidFill>
            <a:srgbClr val="005F35"/>
          </a:solidFill>
          <a:ln/>
        </p:spPr>
        <p:txBody>
          <a:bodyPr/>
          <a:lstStyle/>
          <a:p>
            <a:endParaRPr/>
          </a:p>
        </p:txBody>
      </p:sp>
      <p:sp>
        <p:nvSpPr>
          <p:cNvPr id="38" name="Text 36"/>
          <p:cNvSpPr/>
          <p:nvPr/>
        </p:nvSpPr>
        <p:spPr>
          <a:xfrm>
            <a:off x="6510528" y="497433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9" name="Text 37"/>
          <p:cNvSpPr/>
          <p:nvPr/>
        </p:nvSpPr>
        <p:spPr>
          <a:xfrm>
            <a:off x="6931152" y="4919472"/>
            <a:ext cx="4480560" cy="411480"/>
          </a:xfrm>
          <a:prstGeom prst="rect">
            <a:avLst/>
          </a:prstGeom>
          <a:noFill/>
          <a:ln/>
        </p:spPr>
        <p:txBody>
          <a:bodyPr wrap="square" lIns="0" tIns="0" rIns="0" bIns="0" rtlCol="0" anchor="ctr"/>
          <a:lstStyle/>
          <a:p>
            <a:pPr marL="0" indent="0">
              <a:buNone/>
            </a:pPr>
            <a:r>
              <a:rPr lang="en-US" sz="1600" b="1" dirty="0">
                <a:solidFill>
                  <a:srgbClr val="13241B"/>
                </a:solidFill>
                <a:latin typeface="Arial" pitchFamily="34" charset="0"/>
                <a:ea typeface="Arial" pitchFamily="34" charset="-122"/>
                <a:cs typeface="Arial" pitchFamily="34" charset="-120"/>
              </a:rPr>
              <a:t>MAE / RMSE  </a:t>
            </a:r>
            <a:r>
              <a:rPr lang="en-US" sz="1600" dirty="0">
                <a:solidFill>
                  <a:srgbClr val="5C6E64"/>
                </a:solidFill>
                <a:latin typeface="Arial" pitchFamily="34" charset="0"/>
                <a:ea typeface="Arial" pitchFamily="34" charset="-122"/>
                <a:cs typeface="Arial" pitchFamily="34" charset="-120"/>
              </a:rPr>
              <a:t>— Sai số góc trung bình (đơn vị: độ)</a:t>
            </a:r>
            <a:endParaRPr lang="en-US" sz="1600" dirty="0"/>
          </a:p>
        </p:txBody>
      </p:sp>
      <p:pic>
        <p:nvPicPr>
          <p:cNvPr id="40" name="Image 0" descr="/tmp/assets/huph_logo.png"/>
          <p:cNvPicPr>
            <a:picLocks noChangeAspect="1"/>
          </p:cNvPicPr>
          <p:nvPr/>
        </p:nvPicPr>
        <p:blipFill>
          <a:blip r:embed="rId3"/>
          <a:stretch>
            <a:fillRect/>
          </a:stretch>
        </p:blipFill>
        <p:spPr>
          <a:xfrm>
            <a:off x="566928" y="6419088"/>
            <a:ext cx="310896" cy="310896"/>
          </a:xfrm>
          <a:prstGeom prst="rect">
            <a:avLst/>
          </a:prstGeom>
        </p:spPr>
      </p:pic>
      <p:sp>
        <p:nvSpPr>
          <p:cNvPr id="41" name="Text 38"/>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42" name="Text 39"/>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09 / 19</a:t>
            </a:r>
            <a:endParaRPr lang="en-US" sz="850" dirty="0"/>
          </a:p>
        </p:txBody>
      </p:sp>
      <p:pic>
        <p:nvPicPr>
          <p:cNvPr id="43" name="Image 0" descr="/tmp/assets/qr_web.png">
            <a:extLst>
              <a:ext uri="{FF2B5EF4-FFF2-40B4-BE49-F238E27FC236}">
                <a16:creationId xmlns:a16="http://schemas.microsoft.com/office/drawing/2014/main" id="{E555D05B-BAE8-6C16-F283-404862974D32}"/>
              </a:ext>
            </a:extLst>
          </p:cNvPr>
          <p:cNvPicPr>
            <a:picLocks noChangeAspect="1"/>
          </p:cNvPicPr>
          <p:nvPr/>
        </p:nvPicPr>
        <p:blipFill>
          <a:blip r:embed="rId4"/>
          <a:stretch>
            <a:fillRect/>
          </a:stretch>
        </p:blipFill>
        <p:spPr>
          <a:xfrm>
            <a:off x="10689336" y="146304"/>
            <a:ext cx="1170432" cy="11704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Kết quả frame-level tổng hợp theo bài tập</a:t>
            </a:r>
            <a:endParaRPr lang="en-US" sz="2900" dirty="0"/>
          </a:p>
        </p:txBody>
      </p:sp>
      <p:sp>
        <p:nvSpPr>
          <p:cNvPr id="101" name="Card101"/>
          <p:cNvSpPr/>
          <p:nvPr/>
        </p:nvSpPr>
        <p:spPr>
          <a:xfrm>
            <a:off x="566928" y="1560000"/>
            <a:ext cx="5389072" cy="3940000"/>
          </a:xfrm>
          <a:prstGeom prst="roundRect">
            <a:avLst>
              <a:gd name="adj" fmla="val 4200"/>
            </a:avLst>
          </a:prstGeom>
          <a:solidFill>
            <a:srgbClr val="FFFFFF"/>
          </a:solidFill>
          <a:ln w="12700">
            <a:solidFill>
              <a:srgbClr val="D5E3DB"/>
            </a:solidFill>
          </a:ln>
          <a:effectLst>
            <a:outerShdw blurRad="114300" dist="50800" dir="5400000" algn="bl" rotWithShape="0">
              <a:srgbClr val="0B3322">
                <a:alpha val="13000"/>
              </a:srgbClr>
            </a:outerShdw>
          </a:effectLst>
        </p:spPr>
        <p:txBody>
          <a:bodyPr/>
          <a:lstStyle/>
          <a:p>
            <a:endParaRPr lang="vi-VN"/>
          </a:p>
        </p:txBody>
      </p:sp>
      <p:sp>
        <p:nvSpPr>
          <p:cNvPr id="102" name="T102"/>
          <p:cNvSpPr/>
          <p:nvPr/>
        </p:nvSpPr>
        <p:spPr>
          <a:xfrm>
            <a:off x="866928" y="1810000"/>
            <a:ext cx="3549072" cy="400000"/>
          </a:xfrm>
          <a:prstGeom prst="rect">
            <a:avLst/>
          </a:prstGeom>
          <a:noFill/>
          <a:ln/>
        </p:spPr>
        <p:txBody>
          <a:bodyPr wrap="square" lIns="0" tIns="0" rIns="0" bIns="0" rtlCol="0" anchor="ctr"/>
          <a:lstStyle/>
          <a:p>
            <a:pPr marL="0" indent="0" algn="l">
              <a:buNone/>
            </a:pPr>
            <a:r>
              <a:rPr lang="vi-VN" sz="1850" b="1" kern="0" dirty="0">
                <a:solidFill>
                  <a:srgbClr val="13241B"/>
                </a:solidFill>
                <a:latin typeface="Arial" pitchFamily="34" charset="0"/>
                <a:ea typeface="Arial" pitchFamily="34" charset="-122"/>
                <a:cs typeface="Arial" pitchFamily="34" charset="-120"/>
              </a:rPr>
              <a:t>Con lắc Codman</a:t>
            </a:r>
          </a:p>
        </p:txBody>
      </p:sp>
      <p:sp>
        <p:nvSpPr>
          <p:cNvPr id="103" name="Pill103"/>
          <p:cNvSpPr/>
          <p:nvPr/>
        </p:nvSpPr>
        <p:spPr>
          <a:xfrm>
            <a:off x="4536000" y="1845000"/>
            <a:ext cx="1120000" cy="330000"/>
          </a:xfrm>
          <a:prstGeom prst="roundRect">
            <a:avLst>
              <a:gd name="adj" fmla="val 50000"/>
            </a:avLst>
          </a:prstGeom>
          <a:solidFill>
            <a:srgbClr val="005F35"/>
          </a:solidFill>
          <a:ln/>
        </p:spPr>
        <p:txBody>
          <a:bodyPr wrap="square" lIns="18000" tIns="0" rIns="18000" bIns="0" anchor="ctr"/>
          <a:lstStyle/>
          <a:p>
            <a:pPr marL="0" indent="0" algn="ctr">
              <a:buNone/>
            </a:pPr>
            <a:r>
              <a:rPr lang="vi-VN" sz="1100" b="1" kern="0" dirty="0">
                <a:solidFill>
                  <a:srgbClr val="FFFFFF"/>
                </a:solidFill>
                <a:latin typeface="Arial" pitchFamily="34" charset="0"/>
                <a:ea typeface="Arial" pitchFamily="34" charset="-122"/>
                <a:cs typeface="Arial" pitchFamily="34" charset="-120"/>
              </a:rPr>
              <a:t>Gần đúng</a:t>
            </a:r>
          </a:p>
        </p:txBody>
      </p:sp>
      <p:sp>
        <p:nvSpPr>
          <p:cNvPr id="104" name="T104"/>
          <p:cNvSpPr/>
          <p:nvPr/>
        </p:nvSpPr>
        <p:spPr>
          <a:xfrm>
            <a:off x="866928" y="2235000"/>
            <a:ext cx="4789072" cy="240000"/>
          </a:xfrm>
          <a:prstGeom prst="rect">
            <a:avLst/>
          </a:prstGeom>
          <a:noFill/>
          <a:ln/>
        </p:spPr>
        <p:txBody>
          <a:bodyPr wrap="square" lIns="0" tIns="0" rIns="0" bIns="0" rtlCol="0" anchor="t"/>
          <a:lstStyle/>
          <a:p>
            <a:pPr algn="l"/>
            <a:r>
              <a:rPr sz="900"/>
              <a:t>Tổng frame 11.479 · PASS+NEAR/tổng frame 89,5%</a:t>
            </a:r>
          </a:p>
        </p:txBody>
      </p:sp>
      <p:sp>
        <p:nvSpPr>
          <p:cNvPr id="105" name="T105"/>
          <p:cNvSpPr/>
          <p:nvPr/>
        </p:nvSpPr>
        <p:spPr>
          <a:xfrm>
            <a:off x="866928" y="2540000"/>
            <a:ext cx="4789072" cy="880000"/>
          </a:xfrm>
          <a:prstGeom prst="rect">
            <a:avLst/>
          </a:prstGeom>
          <a:noFill/>
          <a:ln/>
        </p:spPr>
        <p:txBody>
          <a:bodyPr wrap="square" lIns="0" tIns="0" rIns="0" bIns="0" rtlCol="0" anchor="t"/>
          <a:lstStyle/>
          <a:p>
            <a:pPr marL="0" indent="0" algn="l">
              <a:buNone/>
            </a:pPr>
            <a:r>
              <a:rPr lang="vi-VN" sz="4800" b="1" kern="0" dirty="0">
                <a:solidFill>
                  <a:srgbClr val="005F35"/>
                </a:solidFill>
                <a:latin typeface="Arial" pitchFamily="34" charset="0"/>
                <a:ea typeface="Arial" pitchFamily="34" charset="-122"/>
                <a:cs typeface="Arial" pitchFamily="34" charset="-120"/>
              </a:rPr>
              <a:t>71,2%</a:t>
            </a:r>
          </a:p>
        </p:txBody>
      </p:sp>
      <p:sp>
        <p:nvSpPr>
          <p:cNvPr id="106" name="T106"/>
          <p:cNvSpPr/>
          <p:nvPr/>
        </p:nvSpPr>
        <p:spPr>
          <a:xfrm>
            <a:off x="866928" y="3440000"/>
            <a:ext cx="4789072" cy="250000"/>
          </a:xfrm>
          <a:prstGeom prst="rect">
            <a:avLst/>
          </a:prstGeom>
          <a:noFill/>
          <a:ln/>
        </p:spPr>
        <p:txBody>
          <a:bodyPr wrap="square" lIns="0" tIns="0" rIns="0" bIns="0" rtlCol="0" anchor="t"/>
          <a:lstStyle/>
          <a:p>
            <a:pPr marL="0" indent="0" algn="l">
              <a:buNone/>
            </a:pPr>
            <a:r>
              <a:rPr lang="vi-VN" sz="1100" b="0" kern="0" dirty="0">
                <a:solidFill>
                  <a:srgbClr val="5C6E64"/>
                </a:solidFill>
                <a:latin typeface="Arial" pitchFamily="34" charset="0"/>
                <a:ea typeface="Arial" pitchFamily="34" charset="-122"/>
                <a:cs typeface="Arial" pitchFamily="34" charset="-120"/>
              </a:rPr>
              <a:t>Accuracy trên khung hình hợp lệ</a:t>
            </a:r>
          </a:p>
        </p:txBody>
      </p:sp>
      <p:sp>
        <p:nvSpPr>
          <p:cNvPr id="107" name="Bar107"/>
          <p:cNvSpPr/>
          <p:nvPr/>
        </p:nvSpPr>
        <p:spPr>
          <a:xfrm>
            <a:off x="866928" y="3800000"/>
            <a:ext cx="4789072" cy="9525"/>
          </a:xfrm>
          <a:prstGeom prst="roundRect">
            <a:avLst>
              <a:gd name="adj" fmla="val 0"/>
            </a:avLst>
          </a:prstGeom>
          <a:solidFill>
            <a:srgbClr val="D5E3DB"/>
          </a:solidFill>
          <a:ln/>
        </p:spPr>
        <p:txBody>
          <a:bodyPr/>
          <a:lstStyle/>
          <a:p>
            <a:endParaRPr lang="vi-VN"/>
          </a:p>
        </p:txBody>
      </p:sp>
      <p:sp>
        <p:nvSpPr>
          <p:cNvPr id="108" name="T108"/>
          <p:cNvSpPr/>
          <p:nvPr/>
        </p:nvSpPr>
        <p:spPr>
          <a:xfrm>
            <a:off x="866928" y="3930000"/>
            <a:ext cx="1596357" cy="600000"/>
          </a:xfrm>
          <a:prstGeom prst="rect">
            <a:avLst/>
          </a:prstGeom>
          <a:noFill/>
          <a:ln/>
        </p:spPr>
        <p:txBody>
          <a:bodyPr wrap="square" lIns="0" tIns="0" rIns="0" bIns="0" rtlCol="0" anchor="t"/>
          <a:lstStyle/>
          <a:p>
            <a:pPr algn="ctr"/>
            <a:r>
              <a:rPr sz="1500"/>
              <a:t>0,75 / 0,71</a:t>
            </a:r>
          </a:p>
          <a:p>
            <a:pPr algn="ctr"/>
            <a:r>
              <a:rPr sz="1500"/>
              <a:t>F1 / ICC</a:t>
            </a:r>
          </a:p>
        </p:txBody>
      </p:sp>
      <p:sp>
        <p:nvSpPr>
          <p:cNvPr id="109" name="T109"/>
          <p:cNvSpPr/>
          <p:nvPr/>
        </p:nvSpPr>
        <p:spPr>
          <a:xfrm>
            <a:off x="2463285" y="3930000"/>
            <a:ext cx="1596357" cy="600000"/>
          </a:xfrm>
          <a:prstGeom prst="rect">
            <a:avLst/>
          </a:prstGeom>
          <a:noFill/>
          <a:ln/>
        </p:spPr>
        <p:txBody>
          <a:bodyPr wrap="square" lIns="0" tIns="0" rIns="0" bIns="0" rtlCol="0" anchor="t"/>
          <a:lstStyle/>
          <a:p>
            <a:pPr algn="ctr"/>
            <a:r>
              <a:rPr sz="1500"/>
              <a:t>13,5° / 16,8°</a:t>
            </a:r>
          </a:p>
          <a:p>
            <a:pPr algn="ctr"/>
            <a:r>
              <a:rPr sz="1500"/>
              <a:t>MAE / RMSE</a:t>
            </a:r>
          </a:p>
        </p:txBody>
      </p:sp>
      <p:sp>
        <p:nvSpPr>
          <p:cNvPr id="110" name="T110"/>
          <p:cNvSpPr/>
          <p:nvPr/>
        </p:nvSpPr>
        <p:spPr>
          <a:xfrm>
            <a:off x="4059642" y="3930000"/>
            <a:ext cx="1596357" cy="600000"/>
          </a:xfrm>
          <a:prstGeom prst="rect">
            <a:avLst/>
          </a:prstGeom>
          <a:noFill/>
          <a:ln/>
        </p:spPr>
        <p:txBody>
          <a:bodyPr wrap="square" lIns="0" tIns="0" rIns="0" bIns="0" rtlCol="0" anchor="t"/>
          <a:lstStyle/>
          <a:p>
            <a:pPr algn="ctr"/>
            <a:r>
              <a:rPr sz="1500" dirty="0"/>
              <a:t>0,76 / 0,74</a:t>
            </a:r>
          </a:p>
          <a:p>
            <a:pPr algn="ctr"/>
            <a:r>
              <a:rPr sz="1500" dirty="0"/>
              <a:t>Precision / Recall</a:t>
            </a:r>
          </a:p>
        </p:txBody>
      </p:sp>
      <p:sp>
        <p:nvSpPr>
          <p:cNvPr id="111" name="T111"/>
          <p:cNvSpPr/>
          <p:nvPr/>
        </p:nvSpPr>
        <p:spPr>
          <a:xfrm>
            <a:off x="866928" y="4580000"/>
            <a:ext cx="4789072" cy="230000"/>
          </a:xfrm>
          <a:prstGeom prst="rect">
            <a:avLst/>
          </a:prstGeom>
          <a:noFill/>
          <a:ln/>
        </p:spPr>
        <p:txBody>
          <a:bodyPr wrap="square" lIns="0" tIns="0" rIns="0" bIns="0" rtlCol="0" anchor="t"/>
          <a:lstStyle/>
          <a:p>
            <a:pPr algn="l"/>
            <a:r>
              <a:rPr sz="850" b="1"/>
              <a:t>GĐ Codman ±45°/±30°/±15°: 85,4% → 79,3% → 48,0%</a:t>
            </a:r>
          </a:p>
          <a:p>
            <a:pPr algn="l"/>
            <a:r>
              <a:rPr sz="850"/>
              <a:t>PHÂN BỐ KHUNG HÌNH</a:t>
            </a:r>
          </a:p>
        </p:txBody>
      </p:sp>
      <p:sp>
        <p:nvSpPr>
          <p:cNvPr id="112" name="T112"/>
          <p:cNvSpPr/>
          <p:nvPr/>
        </p:nvSpPr>
        <p:spPr>
          <a:xfrm>
            <a:off x="866928"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0C8A52"/>
                </a:solidFill>
                <a:latin typeface="Arial" pitchFamily="34" charset="0"/>
                <a:ea typeface="Arial" pitchFamily="34" charset="-122"/>
                <a:cs typeface="Arial" pitchFamily="34" charset="-120"/>
              </a:rPr>
              <a:t>PASS</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8.149</a:t>
            </a:r>
          </a:p>
        </p:txBody>
      </p:sp>
      <p:sp>
        <p:nvSpPr>
          <p:cNvPr id="113" name="T113"/>
          <p:cNvSpPr/>
          <p:nvPr/>
        </p:nvSpPr>
        <p:spPr>
          <a:xfrm>
            <a:off x="2064196"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C58A2E"/>
                </a:solidFill>
                <a:latin typeface="Arial" pitchFamily="34" charset="0"/>
                <a:ea typeface="Arial" pitchFamily="34" charset="-122"/>
                <a:cs typeface="Arial" pitchFamily="34" charset="-120"/>
              </a:rPr>
              <a:t>NEAR</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2.121</a:t>
            </a:r>
          </a:p>
        </p:txBody>
      </p:sp>
      <p:sp>
        <p:nvSpPr>
          <p:cNvPr id="114" name="T114"/>
          <p:cNvSpPr/>
          <p:nvPr/>
        </p:nvSpPr>
        <p:spPr>
          <a:xfrm>
            <a:off x="3261464"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D9663A"/>
                </a:solidFill>
                <a:latin typeface="Arial" pitchFamily="34" charset="0"/>
                <a:ea typeface="Arial" pitchFamily="34" charset="-122"/>
                <a:cs typeface="Arial" pitchFamily="34" charset="-120"/>
              </a:rPr>
              <a:t>FAIL</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1.170</a:t>
            </a:r>
          </a:p>
        </p:txBody>
      </p:sp>
      <p:sp>
        <p:nvSpPr>
          <p:cNvPr id="115" name="T115"/>
          <p:cNvSpPr/>
          <p:nvPr/>
        </p:nvSpPr>
        <p:spPr>
          <a:xfrm>
            <a:off x="4458732"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8A8F8C"/>
                </a:solidFill>
                <a:latin typeface="Arial" pitchFamily="34" charset="0"/>
                <a:ea typeface="Arial" pitchFamily="34" charset="-122"/>
                <a:cs typeface="Arial" pitchFamily="34" charset="-120"/>
              </a:rPr>
              <a:t>UNKNOWN</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39</a:t>
            </a:r>
          </a:p>
        </p:txBody>
      </p:sp>
      <p:sp>
        <p:nvSpPr>
          <p:cNvPr id="116" name="Card116"/>
          <p:cNvSpPr/>
          <p:nvPr/>
        </p:nvSpPr>
        <p:spPr>
          <a:xfrm>
            <a:off x="6236000" y="1560000"/>
            <a:ext cx="5389072" cy="3940000"/>
          </a:xfrm>
          <a:prstGeom prst="roundRect">
            <a:avLst>
              <a:gd name="adj" fmla="val 4200"/>
            </a:avLst>
          </a:prstGeom>
          <a:solidFill>
            <a:srgbClr val="FFFFFF"/>
          </a:solidFill>
          <a:ln w="12700">
            <a:solidFill>
              <a:srgbClr val="D5E3DB"/>
            </a:solidFill>
          </a:ln>
          <a:effectLst>
            <a:outerShdw blurRad="114300" dist="50800" dir="5400000" algn="bl" rotWithShape="0">
              <a:srgbClr val="0B3322">
                <a:alpha val="13000"/>
              </a:srgbClr>
            </a:outerShdw>
          </a:effectLst>
        </p:spPr>
        <p:txBody>
          <a:bodyPr/>
          <a:lstStyle/>
          <a:p>
            <a:endParaRPr lang="vi-VN"/>
          </a:p>
        </p:txBody>
      </p:sp>
      <p:sp>
        <p:nvSpPr>
          <p:cNvPr id="117" name="T117"/>
          <p:cNvSpPr/>
          <p:nvPr/>
        </p:nvSpPr>
        <p:spPr>
          <a:xfrm>
            <a:off x="6536000" y="1810000"/>
            <a:ext cx="4049072" cy="400000"/>
          </a:xfrm>
          <a:prstGeom prst="rect">
            <a:avLst/>
          </a:prstGeom>
          <a:noFill/>
          <a:ln/>
        </p:spPr>
        <p:txBody>
          <a:bodyPr wrap="square" lIns="0" tIns="0" rIns="0" bIns="0" rtlCol="0" anchor="ctr"/>
          <a:lstStyle/>
          <a:p>
            <a:pPr marL="0" indent="0" algn="l">
              <a:buNone/>
            </a:pPr>
            <a:r>
              <a:rPr lang="vi-VN" sz="1850" b="1" kern="0" dirty="0">
                <a:solidFill>
                  <a:srgbClr val="13241B"/>
                </a:solidFill>
                <a:latin typeface="Arial" pitchFamily="34" charset="0"/>
                <a:ea typeface="Arial" pitchFamily="34" charset="-122"/>
                <a:cs typeface="Arial" pitchFamily="34" charset="-120"/>
              </a:rPr>
              <a:t>Bài tập với gậy</a:t>
            </a:r>
          </a:p>
        </p:txBody>
      </p:sp>
      <p:sp>
        <p:nvSpPr>
          <p:cNvPr id="118" name="Pill118"/>
          <p:cNvSpPr/>
          <p:nvPr/>
        </p:nvSpPr>
        <p:spPr>
          <a:xfrm>
            <a:off x="10705072" y="1845000"/>
            <a:ext cx="620000" cy="330000"/>
          </a:xfrm>
          <a:prstGeom prst="roundRect">
            <a:avLst>
              <a:gd name="adj" fmla="val 50000"/>
            </a:avLst>
          </a:prstGeom>
          <a:solidFill>
            <a:srgbClr val="D9663A"/>
          </a:solidFill>
          <a:ln/>
        </p:spPr>
        <p:txBody>
          <a:bodyPr wrap="square" lIns="18000" tIns="0" rIns="18000" bIns="0" anchor="ctr"/>
          <a:lstStyle/>
          <a:p>
            <a:pPr marL="0" indent="0" algn="ctr">
              <a:buNone/>
            </a:pPr>
            <a:r>
              <a:rPr lang="vi-VN" sz="1100" b="1" kern="0" dirty="0">
                <a:solidFill>
                  <a:srgbClr val="FFFFFF"/>
                </a:solidFill>
                <a:latin typeface="Arial" pitchFamily="34" charset="0"/>
                <a:ea typeface="Arial" pitchFamily="34" charset="-122"/>
                <a:cs typeface="Arial" pitchFamily="34" charset="-120"/>
              </a:rPr>
              <a:t>Sai</a:t>
            </a:r>
          </a:p>
        </p:txBody>
      </p:sp>
      <p:sp>
        <p:nvSpPr>
          <p:cNvPr id="119" name="T119"/>
          <p:cNvSpPr/>
          <p:nvPr/>
        </p:nvSpPr>
        <p:spPr>
          <a:xfrm>
            <a:off x="6536000" y="2235000"/>
            <a:ext cx="4789072" cy="240000"/>
          </a:xfrm>
          <a:prstGeom prst="rect">
            <a:avLst/>
          </a:prstGeom>
          <a:noFill/>
          <a:ln/>
        </p:spPr>
        <p:txBody>
          <a:bodyPr wrap="square" lIns="0" tIns="0" rIns="0" bIns="0" rtlCol="0" anchor="t"/>
          <a:lstStyle/>
          <a:p>
            <a:pPr algn="l"/>
            <a:r>
              <a:rPr sz="900"/>
              <a:t>Tổng frame 33.967 · PASS+NEAR/tổng frame 47,3%</a:t>
            </a:r>
          </a:p>
        </p:txBody>
      </p:sp>
      <p:sp>
        <p:nvSpPr>
          <p:cNvPr id="120" name="T120"/>
          <p:cNvSpPr/>
          <p:nvPr/>
        </p:nvSpPr>
        <p:spPr>
          <a:xfrm>
            <a:off x="6536000" y="2540000"/>
            <a:ext cx="4789072" cy="880000"/>
          </a:xfrm>
          <a:prstGeom prst="rect">
            <a:avLst/>
          </a:prstGeom>
          <a:noFill/>
          <a:ln/>
        </p:spPr>
        <p:txBody>
          <a:bodyPr wrap="square" lIns="0" tIns="0" rIns="0" bIns="0" rtlCol="0" anchor="t"/>
          <a:lstStyle/>
          <a:p>
            <a:pPr marL="0" indent="0" algn="l">
              <a:buNone/>
            </a:pPr>
            <a:r>
              <a:rPr lang="vi-VN" sz="4800" b="1" kern="0" dirty="0">
                <a:solidFill>
                  <a:srgbClr val="D9663A"/>
                </a:solidFill>
                <a:latin typeface="Arial" pitchFamily="34" charset="0"/>
                <a:ea typeface="Arial" pitchFamily="34" charset="-122"/>
                <a:cs typeface="Arial" pitchFamily="34" charset="-120"/>
              </a:rPr>
              <a:t>38,7%</a:t>
            </a:r>
          </a:p>
        </p:txBody>
      </p:sp>
      <p:sp>
        <p:nvSpPr>
          <p:cNvPr id="121" name="T121"/>
          <p:cNvSpPr/>
          <p:nvPr/>
        </p:nvSpPr>
        <p:spPr>
          <a:xfrm>
            <a:off x="6536000" y="3440000"/>
            <a:ext cx="4789072" cy="250000"/>
          </a:xfrm>
          <a:prstGeom prst="rect">
            <a:avLst/>
          </a:prstGeom>
          <a:noFill/>
          <a:ln/>
        </p:spPr>
        <p:txBody>
          <a:bodyPr wrap="square" lIns="0" tIns="0" rIns="0" bIns="0" rtlCol="0" anchor="t"/>
          <a:lstStyle/>
          <a:p>
            <a:pPr marL="0" indent="0" algn="l">
              <a:buNone/>
            </a:pPr>
            <a:r>
              <a:rPr lang="vi-VN" sz="1100" b="0" kern="0" dirty="0">
                <a:solidFill>
                  <a:srgbClr val="5C6E64"/>
                </a:solidFill>
                <a:latin typeface="Arial" pitchFamily="34" charset="0"/>
                <a:ea typeface="Arial" pitchFamily="34" charset="-122"/>
                <a:cs typeface="Arial" pitchFamily="34" charset="-120"/>
              </a:rPr>
              <a:t>Accuracy trên khung hình hợp lệ</a:t>
            </a:r>
          </a:p>
        </p:txBody>
      </p:sp>
      <p:sp>
        <p:nvSpPr>
          <p:cNvPr id="122" name="Bar122"/>
          <p:cNvSpPr/>
          <p:nvPr/>
        </p:nvSpPr>
        <p:spPr>
          <a:xfrm>
            <a:off x="6536000" y="3800000"/>
            <a:ext cx="4789072" cy="9525"/>
          </a:xfrm>
          <a:prstGeom prst="roundRect">
            <a:avLst>
              <a:gd name="adj" fmla="val 0"/>
            </a:avLst>
          </a:prstGeom>
          <a:solidFill>
            <a:srgbClr val="D5E3DB"/>
          </a:solidFill>
          <a:ln/>
        </p:spPr>
        <p:txBody>
          <a:bodyPr/>
          <a:lstStyle/>
          <a:p>
            <a:endParaRPr lang="vi-VN"/>
          </a:p>
        </p:txBody>
      </p:sp>
      <p:sp>
        <p:nvSpPr>
          <p:cNvPr id="123" name="T123"/>
          <p:cNvSpPr/>
          <p:nvPr/>
        </p:nvSpPr>
        <p:spPr>
          <a:xfrm>
            <a:off x="6536000" y="3930000"/>
            <a:ext cx="1596357" cy="600000"/>
          </a:xfrm>
          <a:prstGeom prst="rect">
            <a:avLst/>
          </a:prstGeom>
          <a:noFill/>
          <a:ln/>
        </p:spPr>
        <p:txBody>
          <a:bodyPr wrap="square" lIns="0" tIns="0" rIns="0" bIns="0" rtlCol="0" anchor="t"/>
          <a:lstStyle/>
          <a:p>
            <a:pPr algn="ctr"/>
            <a:r>
              <a:rPr sz="1500" dirty="0"/>
              <a:t>0,46 / 0,55</a:t>
            </a:r>
          </a:p>
          <a:p>
            <a:pPr algn="ctr"/>
            <a:r>
              <a:rPr sz="1500" dirty="0"/>
              <a:t>F1 / ICC</a:t>
            </a:r>
          </a:p>
        </p:txBody>
      </p:sp>
      <p:sp>
        <p:nvSpPr>
          <p:cNvPr id="124" name="T124"/>
          <p:cNvSpPr/>
          <p:nvPr/>
        </p:nvSpPr>
        <p:spPr>
          <a:xfrm>
            <a:off x="8132357" y="3930000"/>
            <a:ext cx="1596357" cy="600000"/>
          </a:xfrm>
          <a:prstGeom prst="rect">
            <a:avLst/>
          </a:prstGeom>
          <a:noFill/>
          <a:ln/>
        </p:spPr>
        <p:txBody>
          <a:bodyPr wrap="square" lIns="0" tIns="0" rIns="0" bIns="0" rtlCol="0" anchor="t"/>
          <a:lstStyle/>
          <a:p>
            <a:pPr algn="ctr"/>
            <a:r>
              <a:rPr sz="1500"/>
              <a:t>21,4° / 26,8°</a:t>
            </a:r>
          </a:p>
          <a:p>
            <a:pPr algn="ctr"/>
            <a:r>
              <a:rPr sz="1500"/>
              <a:t>MAE / RMSE</a:t>
            </a:r>
          </a:p>
        </p:txBody>
      </p:sp>
      <p:sp>
        <p:nvSpPr>
          <p:cNvPr id="125" name="T125"/>
          <p:cNvSpPr/>
          <p:nvPr/>
        </p:nvSpPr>
        <p:spPr>
          <a:xfrm>
            <a:off x="9728714" y="3930000"/>
            <a:ext cx="1596357" cy="600000"/>
          </a:xfrm>
          <a:prstGeom prst="rect">
            <a:avLst/>
          </a:prstGeom>
          <a:noFill/>
          <a:ln/>
        </p:spPr>
        <p:txBody>
          <a:bodyPr wrap="square" lIns="0" tIns="0" rIns="0" bIns="0" rtlCol="0" anchor="t"/>
          <a:lstStyle/>
          <a:p>
            <a:pPr algn="ctr"/>
            <a:r>
              <a:rPr sz="1500" dirty="0"/>
              <a:t>0,48 / 0,44</a:t>
            </a:r>
          </a:p>
          <a:p>
            <a:pPr algn="ctr"/>
            <a:r>
              <a:rPr sz="1500" dirty="0"/>
              <a:t>Precision / Recall</a:t>
            </a:r>
          </a:p>
        </p:txBody>
      </p:sp>
      <p:sp>
        <p:nvSpPr>
          <p:cNvPr id="126" name="T126"/>
          <p:cNvSpPr/>
          <p:nvPr/>
        </p:nvSpPr>
        <p:spPr>
          <a:xfrm>
            <a:off x="6536000" y="4580000"/>
            <a:ext cx="4789072" cy="230000"/>
          </a:xfrm>
          <a:prstGeom prst="rect">
            <a:avLst/>
          </a:prstGeom>
          <a:noFill/>
          <a:ln/>
        </p:spPr>
        <p:txBody>
          <a:bodyPr wrap="square" lIns="0" tIns="0" rIns="0" bIns="0" rtlCol="0" anchor="t"/>
          <a:lstStyle/>
          <a:p>
            <a:pPr algn="l"/>
            <a:r>
              <a:rPr sz="900"/>
              <a:t>PHÂN BỐ KHUNG HÌNH</a:t>
            </a:r>
          </a:p>
        </p:txBody>
      </p:sp>
      <p:sp>
        <p:nvSpPr>
          <p:cNvPr id="127" name="T127"/>
          <p:cNvSpPr/>
          <p:nvPr/>
        </p:nvSpPr>
        <p:spPr>
          <a:xfrm>
            <a:off x="6536000"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0C8A52"/>
                </a:solidFill>
                <a:latin typeface="Arial" pitchFamily="34" charset="0"/>
                <a:ea typeface="Arial" pitchFamily="34" charset="-122"/>
                <a:cs typeface="Arial" pitchFamily="34" charset="-120"/>
              </a:rPr>
              <a:t>PASS</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11.514</a:t>
            </a:r>
          </a:p>
        </p:txBody>
      </p:sp>
      <p:sp>
        <p:nvSpPr>
          <p:cNvPr id="128" name="T128"/>
          <p:cNvSpPr/>
          <p:nvPr/>
        </p:nvSpPr>
        <p:spPr>
          <a:xfrm>
            <a:off x="7733268"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C58A2E"/>
                </a:solidFill>
                <a:latin typeface="Arial" pitchFamily="34" charset="0"/>
                <a:ea typeface="Arial" pitchFamily="34" charset="-122"/>
                <a:cs typeface="Arial" pitchFamily="34" charset="-120"/>
              </a:rPr>
              <a:t>NEAR</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4.549</a:t>
            </a:r>
          </a:p>
        </p:txBody>
      </p:sp>
      <p:sp>
        <p:nvSpPr>
          <p:cNvPr id="129" name="T129"/>
          <p:cNvSpPr/>
          <p:nvPr/>
        </p:nvSpPr>
        <p:spPr>
          <a:xfrm>
            <a:off x="8930536"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D9663A"/>
                </a:solidFill>
                <a:latin typeface="Arial" pitchFamily="34" charset="0"/>
                <a:ea typeface="Arial" pitchFamily="34" charset="-122"/>
                <a:cs typeface="Arial" pitchFamily="34" charset="-120"/>
              </a:rPr>
              <a:t>FAIL</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13.683</a:t>
            </a:r>
          </a:p>
        </p:txBody>
      </p:sp>
      <p:sp>
        <p:nvSpPr>
          <p:cNvPr id="130" name="T130"/>
          <p:cNvSpPr/>
          <p:nvPr/>
        </p:nvSpPr>
        <p:spPr>
          <a:xfrm>
            <a:off x="10127804" y="4830000"/>
            <a:ext cx="1197268" cy="540000"/>
          </a:xfrm>
          <a:prstGeom prst="rect">
            <a:avLst/>
          </a:prstGeom>
          <a:noFill/>
          <a:ln/>
        </p:spPr>
        <p:txBody>
          <a:bodyPr wrap="square" lIns="0" tIns="0" rIns="0" bIns="0" rtlCol="0" anchor="t"/>
          <a:lstStyle/>
          <a:p>
            <a:pPr marL="0" indent="0" algn="ctr">
              <a:buNone/>
            </a:pPr>
            <a:r>
              <a:rPr lang="vi-VN" sz="900" b="1" kern="0" spc="40" dirty="0">
                <a:solidFill>
                  <a:srgbClr val="8A8F8C"/>
                </a:solidFill>
                <a:latin typeface="Arial" pitchFamily="34" charset="0"/>
                <a:ea typeface="Arial" pitchFamily="34" charset="-122"/>
                <a:cs typeface="Arial" pitchFamily="34" charset="-120"/>
              </a:rPr>
              <a:t>UNKNOWN</a:t>
            </a:r>
          </a:p>
          <a:p>
            <a:pPr marL="0" indent="0" algn="ctr">
              <a:spcBef>
                <a:spcPts val="300"/>
              </a:spcBef>
              <a:buNone/>
            </a:pPr>
            <a:r>
              <a:rPr lang="vi-VN" sz="1650" b="1" kern="0" dirty="0">
                <a:solidFill>
                  <a:srgbClr val="13241B"/>
                </a:solidFill>
                <a:latin typeface="Arial" pitchFamily="34" charset="0"/>
                <a:ea typeface="Arial" pitchFamily="34" charset="-122"/>
                <a:cs typeface="Arial" pitchFamily="34" charset="-120"/>
              </a:rPr>
              <a:t>4.221</a:t>
            </a:r>
          </a:p>
        </p:txBody>
      </p:sp>
      <p:sp>
        <p:nvSpPr>
          <p:cNvPr id="5" name="Text 2"/>
          <p:cNvSpPr/>
          <p:nvPr/>
        </p:nvSpPr>
        <p:spPr>
          <a:xfrm>
            <a:off x="566928" y="5770000"/>
            <a:ext cx="11058144" cy="340000"/>
          </a:xfrm>
          <a:prstGeom prst="rect">
            <a:avLst/>
          </a:prstGeom>
          <a:noFill/>
          <a:ln/>
        </p:spPr>
        <p:txBody>
          <a:bodyPr wrap="square" lIns="0" tIns="0" rIns="0" bIns="0" rtlCol="0" anchor="ctr"/>
          <a:lstStyle/>
          <a:p>
            <a:pPr algn="l"/>
            <a:r>
              <a:rPr sz="780" dirty="0" err="1"/>
              <a:t>Nguồn</a:t>
            </a:r>
            <a:r>
              <a:rPr sz="780" dirty="0"/>
              <a:t>: 8 video AI </a:t>
            </a:r>
            <a:r>
              <a:rPr sz="780" dirty="0" err="1"/>
              <a:t>mới</a:t>
            </a:r>
            <a:r>
              <a:rPr sz="780" dirty="0"/>
              <a:t> </a:t>
            </a:r>
            <a:r>
              <a:rPr sz="780" dirty="0" err="1"/>
              <a:t>nhất</a:t>
            </a:r>
            <a:r>
              <a:rPr sz="780" dirty="0"/>
              <a:t>, </a:t>
            </a:r>
            <a:r>
              <a:rPr sz="780" dirty="0" err="1"/>
              <a:t>cập</a:t>
            </a:r>
            <a:r>
              <a:rPr sz="780" dirty="0"/>
              <a:t> </a:t>
            </a:r>
            <a:r>
              <a:rPr sz="780" dirty="0" err="1"/>
              <a:t>nhật</a:t>
            </a:r>
            <a:r>
              <a:rPr sz="780" dirty="0"/>
              <a:t> 24/06/2026 (repo Rehab-AI-Monitor). Accuracy </a:t>
            </a:r>
            <a:r>
              <a:rPr sz="780" dirty="0" err="1"/>
              <a:t>tính</a:t>
            </a:r>
            <a:r>
              <a:rPr sz="780" dirty="0"/>
              <a:t> </a:t>
            </a:r>
            <a:r>
              <a:rPr sz="780" dirty="0" err="1"/>
              <a:t>trên</a:t>
            </a:r>
            <a:r>
              <a:rPr sz="780" dirty="0"/>
              <a:t> </a:t>
            </a:r>
            <a:r>
              <a:rPr sz="780" dirty="0" err="1"/>
              <a:t>khung</a:t>
            </a:r>
            <a:r>
              <a:rPr sz="780" dirty="0"/>
              <a:t> </a:t>
            </a:r>
            <a:r>
              <a:rPr sz="780" dirty="0" err="1"/>
              <a:t>hình</a:t>
            </a:r>
            <a:r>
              <a:rPr sz="780" dirty="0"/>
              <a:t> </a:t>
            </a:r>
            <a:r>
              <a:rPr sz="780" dirty="0" err="1"/>
              <a:t>hợp</a:t>
            </a:r>
            <a:r>
              <a:rPr sz="780" dirty="0"/>
              <a:t> </a:t>
            </a:r>
            <a:r>
              <a:rPr sz="780" dirty="0" err="1"/>
              <a:t>lệ</a:t>
            </a:r>
            <a:r>
              <a:rPr sz="780" dirty="0"/>
              <a:t> (</a:t>
            </a:r>
            <a:r>
              <a:rPr sz="780" dirty="0" err="1"/>
              <a:t>loại</a:t>
            </a:r>
            <a:r>
              <a:rPr sz="780" dirty="0"/>
              <a:t> UNKNOWN); PASS / NEAR / FAIL / UNKNOWN </a:t>
            </a:r>
            <a:r>
              <a:rPr sz="780" dirty="0" err="1"/>
              <a:t>là</a:t>
            </a:r>
            <a:r>
              <a:rPr sz="780" dirty="0"/>
              <a:t> </a:t>
            </a:r>
            <a:r>
              <a:rPr sz="780" dirty="0" err="1"/>
              <a:t>số</a:t>
            </a:r>
            <a:r>
              <a:rPr sz="780" dirty="0"/>
              <a:t> </a:t>
            </a:r>
            <a:r>
              <a:rPr sz="780" dirty="0" err="1"/>
              <a:t>khung</a:t>
            </a:r>
            <a:r>
              <a:rPr sz="780" dirty="0"/>
              <a:t> </a:t>
            </a:r>
            <a:r>
              <a:rPr sz="780" dirty="0" err="1"/>
              <a:t>hình</a:t>
            </a:r>
            <a:r>
              <a:rPr sz="780" dirty="0"/>
              <a:t> </a:t>
            </a:r>
            <a:r>
              <a:rPr sz="780" dirty="0" err="1"/>
              <a:t>tổng</a:t>
            </a:r>
            <a:r>
              <a:rPr sz="780" dirty="0"/>
              <a:t> </a:t>
            </a:r>
            <a:r>
              <a:rPr sz="780" dirty="0" err="1"/>
              <a:t>hợp</a:t>
            </a:r>
            <a:r>
              <a:rPr sz="780" dirty="0"/>
              <a:t> BN01-BN04. Các </a:t>
            </a:r>
            <a:r>
              <a:rPr sz="780" dirty="0" err="1"/>
              <a:t>chỉ</a:t>
            </a:r>
            <a:r>
              <a:rPr sz="780" dirty="0"/>
              <a:t> </a:t>
            </a:r>
            <a:r>
              <a:rPr sz="780" dirty="0" err="1"/>
              <a:t>số</a:t>
            </a:r>
            <a:r>
              <a:rPr sz="780" dirty="0"/>
              <a:t> </a:t>
            </a:r>
            <a:r>
              <a:rPr sz="780" dirty="0" err="1"/>
              <a:t>nhóm</a:t>
            </a:r>
            <a:r>
              <a:rPr sz="780" dirty="0"/>
              <a:t> </a:t>
            </a:r>
            <a:r>
              <a:rPr sz="780" dirty="0" err="1"/>
              <a:t>gồm</a:t>
            </a:r>
            <a:r>
              <a:rPr sz="780" dirty="0"/>
              <a:t> ACC, PASS+NEAR/</a:t>
            </a:r>
            <a:r>
              <a:rPr sz="780" dirty="0" err="1"/>
              <a:t>tổng</a:t>
            </a:r>
            <a:r>
              <a:rPr sz="780" dirty="0"/>
              <a:t> frame, F1/ICC, MAE/RMSE </a:t>
            </a:r>
            <a:r>
              <a:rPr sz="780" dirty="0" err="1"/>
              <a:t>và</a:t>
            </a:r>
            <a:r>
              <a:rPr sz="780" dirty="0"/>
              <a:t> Precision/Recall.</a:t>
            </a:r>
          </a:p>
        </p:txBody>
      </p:sp>
      <p:pic>
        <p:nvPicPr>
          <p:cNvPr id="15" name="Image 0" descr="/tmp/assets/huph_logo.png"/>
          <p:cNvPicPr>
            <a:picLocks noChangeAspect="1"/>
          </p:cNvPicPr>
          <p:nvPr/>
        </p:nvPicPr>
        <p:blipFill>
          <a:blip r:embed="rId3"/>
          <a:stretch>
            <a:fillRect/>
          </a:stretch>
        </p:blipFill>
        <p:spPr>
          <a:xfrm>
            <a:off x="566928" y="6419088"/>
            <a:ext cx="310896" cy="310896"/>
          </a:xfrm>
          <a:prstGeom prst="rect">
            <a:avLst/>
          </a:prstGeom>
        </p:spPr>
      </p:pic>
      <p:sp>
        <p:nvSpPr>
          <p:cNvPr id="16" name="Text 1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7" name="Text 1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10 / 19</a:t>
            </a:r>
            <a:endParaRPr lang="en-US" sz="850" dirty="0"/>
          </a:p>
        </p:txBody>
      </p:sp>
      <p:pic>
        <p:nvPicPr>
          <p:cNvPr id="18" name="Image 0" descr="/tmp/assets/qr_web.png">
            <a:extLst>
              <a:ext uri="{FF2B5EF4-FFF2-40B4-BE49-F238E27FC236}">
                <a16:creationId xmlns:a16="http://schemas.microsoft.com/office/drawing/2014/main" id="{05AA502B-A87D-056D-5CF3-58C753C2E55E}"/>
              </a:ext>
            </a:extLst>
          </p:cNvPr>
          <p:cNvPicPr>
            <a:picLocks noChangeAspect="1"/>
          </p:cNvPicPr>
          <p:nvPr/>
        </p:nvPicPr>
        <p:blipFill>
          <a:blip r:embed="rId4"/>
          <a:stretch>
            <a:fillRect/>
          </a:stretch>
        </p:blipFill>
        <p:spPr>
          <a:xfrm>
            <a:off x="10689336" y="146304"/>
            <a:ext cx="1170432" cy="11704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Tổng hợp 6 chỉ số &amp; độ phù hợp với tham chiếu</a:t>
            </a:r>
            <a:endParaRPr lang="en-US" sz="2900" dirty="0"/>
          </a:p>
        </p:txBody>
      </p:sp>
      <p:sp>
        <p:nvSpPr>
          <p:cNvPr id="4" name="Shape 2"/>
          <p:cNvSpPr/>
          <p:nvPr/>
        </p:nvSpPr>
        <p:spPr>
          <a:xfrm>
            <a:off x="566928" y="1828800"/>
            <a:ext cx="544068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5" name="Text 3"/>
          <p:cNvSpPr/>
          <p:nvPr/>
        </p:nvSpPr>
        <p:spPr>
          <a:xfrm>
            <a:off x="566928" y="1938528"/>
            <a:ext cx="5440680" cy="329184"/>
          </a:xfrm>
          <a:prstGeom prst="rect">
            <a:avLst/>
          </a:prstGeom>
          <a:noFill/>
          <a:ln/>
        </p:spPr>
        <p:txBody>
          <a:bodyPr wrap="square" lIns="0" tIns="0" rIns="0" bIns="0" rtlCol="0" anchor="ctr"/>
          <a:lstStyle/>
          <a:p>
            <a:pPr marL="0" indent="0" algn="ctr">
              <a:buNone/>
            </a:pPr>
            <a:r>
              <a:rPr lang="en-US" sz="1350" b="1" dirty="0">
                <a:solidFill>
                  <a:srgbClr val="005F35"/>
                </a:solidFill>
                <a:latin typeface="Arial" pitchFamily="34" charset="0"/>
                <a:ea typeface="Arial" pitchFamily="34" charset="-122"/>
                <a:cs typeface="Arial" pitchFamily="34" charset="-120"/>
              </a:rPr>
              <a:t>Radar 6 chỉ số nghiên cứu</a:t>
            </a:r>
            <a:endParaRPr lang="en-US" sz="1350" dirty="0"/>
          </a:p>
        </p:txBody>
      </p:sp>
      <p:pic>
        <p:nvPicPr>
          <p:cNvPr id="6" name="Image 0" descr="/tmp/assets/chart_radar.png"/>
          <p:cNvPicPr>
            <a:picLocks noChangeAspect="1"/>
          </p:cNvPicPr>
          <p:nvPr/>
        </p:nvPicPr>
        <p:blipFill>
          <a:blip r:embed="rId3"/>
          <a:srcRect/>
          <a:stretch/>
        </p:blipFill>
        <p:spPr>
          <a:xfrm>
            <a:off x="1234440" y="2286000"/>
            <a:ext cx="4114800" cy="3154680"/>
          </a:xfrm>
          <a:prstGeom prst="rect">
            <a:avLst/>
          </a:prstGeom>
        </p:spPr>
      </p:pic>
      <p:sp>
        <p:nvSpPr>
          <p:cNvPr id="7" name="Shape 4"/>
          <p:cNvSpPr/>
          <p:nvPr/>
        </p:nvSpPr>
        <p:spPr>
          <a:xfrm>
            <a:off x="6199632" y="1828800"/>
            <a:ext cx="544068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8" name="Text 5"/>
          <p:cNvSpPr/>
          <p:nvPr/>
        </p:nvSpPr>
        <p:spPr>
          <a:xfrm>
            <a:off x="6199632" y="1938528"/>
            <a:ext cx="5440680" cy="329184"/>
          </a:xfrm>
          <a:prstGeom prst="rect">
            <a:avLst/>
          </a:prstGeom>
          <a:noFill/>
          <a:ln/>
        </p:spPr>
        <p:txBody>
          <a:bodyPr wrap="square" lIns="0" tIns="0" rIns="0" bIns="0" rtlCol="0" anchor="ctr"/>
          <a:lstStyle/>
          <a:p>
            <a:pPr marL="0" indent="0" algn="ctr">
              <a:buNone/>
            </a:pPr>
            <a:r>
              <a:rPr lang="en-US" sz="1350" b="1" dirty="0">
                <a:solidFill>
                  <a:srgbClr val="005F35"/>
                </a:solidFill>
                <a:latin typeface="Arial" pitchFamily="34" charset="0"/>
                <a:ea typeface="Arial" pitchFamily="34" charset="-122"/>
                <a:cs typeface="Arial" pitchFamily="34" charset="-120"/>
              </a:rPr>
              <a:t>Đối chiếu góc vai AI vs tham chiếu (Bland–Altman)</a:t>
            </a:r>
            <a:endParaRPr lang="en-US" sz="1350" dirty="0"/>
          </a:p>
        </p:txBody>
      </p:sp>
      <p:pic>
        <p:nvPicPr>
          <p:cNvPr id="9" name="Image 1" descr="/tmp/assets/chart_bland.png"/>
          <p:cNvPicPr>
            <a:picLocks noChangeAspect="1"/>
          </p:cNvPicPr>
          <p:nvPr/>
        </p:nvPicPr>
        <p:blipFill>
          <a:blip r:embed="rId4"/>
          <a:srcRect/>
          <a:stretch/>
        </p:blipFill>
        <p:spPr>
          <a:xfrm>
            <a:off x="6355080" y="2395728"/>
            <a:ext cx="5120640" cy="2926080"/>
          </a:xfrm>
          <a:prstGeom prst="rect">
            <a:avLst/>
          </a:prstGeom>
        </p:spPr>
      </p:pic>
      <p:pic>
        <p:nvPicPr>
          <p:cNvPr id="10"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1" name="Text 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2" name="Text 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11 / 19</a:t>
            </a:r>
            <a:endParaRPr lang="en-US" sz="850" dirty="0"/>
          </a:p>
        </p:txBody>
      </p:sp>
      <p:pic>
        <p:nvPicPr>
          <p:cNvPr id="13" name="Image 0" descr="/tmp/assets/qr_web.png">
            <a:extLst>
              <a:ext uri="{FF2B5EF4-FFF2-40B4-BE49-F238E27FC236}">
                <a16:creationId xmlns:a16="http://schemas.microsoft.com/office/drawing/2014/main" id="{05E57368-5962-D228-3F2B-33A88D7FB3D9}"/>
              </a:ext>
            </a:extLst>
          </p:cNvPr>
          <p:cNvPicPr>
            <a:picLocks noChangeAspect="1"/>
          </p:cNvPicPr>
          <p:nvPr/>
        </p:nvPicPr>
        <p:blipFill>
          <a:blip r:embed="rId6"/>
          <a:stretch>
            <a:fillRect/>
          </a:stretch>
        </p:blipFill>
        <p:spPr>
          <a:xfrm>
            <a:off x="10689336" y="146304"/>
            <a:ext cx="1170432" cy="11704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Đối chiếu với đánh giá của Bác sĩ / Kỹ thuật viên</a:t>
            </a:r>
            <a:endParaRPr lang="en-US" sz="2900" dirty="0"/>
          </a:p>
        </p:txBody>
      </p:sp>
      <p:sp>
        <p:nvSpPr>
          <p:cNvPr id="131" name="T131"/>
          <p:cNvSpPr/>
          <p:nvPr/>
        </p:nvSpPr>
        <p:spPr>
          <a:xfrm>
            <a:off x="566928" y="1828800"/>
            <a:ext cx="760000" cy="900000"/>
          </a:xfrm>
          <a:prstGeom prst="rect">
            <a:avLst/>
          </a:prstGeom>
          <a:noFill/>
          <a:ln/>
        </p:spPr>
        <p:txBody>
          <a:bodyPr wrap="square" lIns="0" tIns="0" rIns="0" bIns="0" rtlCol="0" anchor="t"/>
          <a:lstStyle/>
          <a:p>
            <a:pPr marL="0" indent="0" algn="l">
              <a:buNone/>
            </a:pPr>
            <a:r>
              <a:rPr lang="vi-VN" sz="5400" b="1" kern="0" dirty="0">
                <a:solidFill>
                  <a:srgbClr val="005F35"/>
                </a:solidFill>
                <a:latin typeface="Arial" pitchFamily="34" charset="0"/>
                <a:ea typeface="Arial" pitchFamily="34" charset="-122"/>
                <a:cs typeface="Arial" pitchFamily="34" charset="-120"/>
              </a:rPr>
              <a:t>8</a:t>
            </a:r>
          </a:p>
        </p:txBody>
      </p:sp>
      <p:sp>
        <p:nvSpPr>
          <p:cNvPr id="132" name="T132"/>
          <p:cNvSpPr/>
          <p:nvPr/>
        </p:nvSpPr>
        <p:spPr>
          <a:xfrm>
            <a:off x="1326928" y="1900000"/>
            <a:ext cx="2150000" cy="760000"/>
          </a:xfrm>
          <a:prstGeom prst="rect">
            <a:avLst/>
          </a:prstGeom>
          <a:noFill/>
          <a:ln/>
        </p:spPr>
        <p:txBody>
          <a:bodyPr wrap="square" lIns="0" tIns="0" rIns="0" bIns="0" rtlCol="0" anchor="ctr"/>
          <a:lstStyle/>
          <a:p>
            <a:pPr marL="0" indent="0" algn="l">
              <a:buNone/>
            </a:pPr>
            <a:r>
              <a:rPr lang="vi-VN" sz="1300" b="1" kern="0" dirty="0">
                <a:solidFill>
                  <a:srgbClr val="13241B"/>
                </a:solidFill>
                <a:latin typeface="Arial" pitchFamily="34" charset="0"/>
                <a:ea typeface="Arial" pitchFamily="34" charset="-122"/>
                <a:cs typeface="Arial" pitchFamily="34" charset="-120"/>
              </a:rPr>
              <a:t>lượt đánh giá</a:t>
            </a:r>
          </a:p>
          <a:p>
            <a:pPr marL="0" indent="0" algn="l">
              <a:spcBef>
                <a:spcPts val="200"/>
              </a:spcBef>
              <a:buNone/>
            </a:pPr>
            <a:r>
              <a:rPr lang="vi-VN" sz="1000" b="0" kern="0" dirty="0">
                <a:solidFill>
                  <a:srgbClr val="5C6E64"/>
                </a:solidFill>
                <a:latin typeface="Arial" pitchFamily="34" charset="0"/>
                <a:ea typeface="Arial" pitchFamily="34" charset="-122"/>
                <a:cs typeface="Arial" pitchFamily="34" charset="-120"/>
              </a:rPr>
              <a:t>4 người bệnh × 2 bài tập</a:t>
            </a:r>
          </a:p>
        </p:txBody>
      </p:sp>
      <p:sp>
        <p:nvSpPr>
          <p:cNvPr id="133" name="Pill133"/>
          <p:cNvSpPr/>
          <p:nvPr/>
        </p:nvSpPr>
        <p:spPr>
          <a:xfrm>
            <a:off x="3760000" y="1980000"/>
            <a:ext cx="1390000" cy="520000"/>
          </a:xfrm>
          <a:prstGeom prst="roundRect">
            <a:avLst>
              <a:gd name="adj" fmla="val 50000"/>
            </a:avLst>
          </a:prstGeom>
          <a:solidFill>
            <a:srgbClr val="005F35"/>
          </a:solidFill>
          <a:ln/>
        </p:spPr>
        <p:txBody>
          <a:bodyPr wrap="square" lIns="18000" tIns="0" rIns="18000" bIns="0" anchor="ctr"/>
          <a:lstStyle/>
          <a:p>
            <a:pPr marL="0" indent="0" algn="ctr">
              <a:buNone/>
            </a:pPr>
            <a:r>
              <a:rPr lang="vi-VN" sz="1150" b="1" kern="0" dirty="0">
                <a:solidFill>
                  <a:srgbClr val="FFFFFF"/>
                </a:solidFill>
                <a:latin typeface="Arial" pitchFamily="34" charset="0"/>
                <a:ea typeface="Arial" pitchFamily="34" charset="-122"/>
                <a:cs typeface="Arial" pitchFamily="34" charset="-120"/>
              </a:rPr>
              <a:t>Gần đúng · 6</a:t>
            </a:r>
          </a:p>
        </p:txBody>
      </p:sp>
      <p:sp>
        <p:nvSpPr>
          <p:cNvPr id="134" name="Pill134"/>
          <p:cNvSpPr/>
          <p:nvPr/>
        </p:nvSpPr>
        <p:spPr>
          <a:xfrm>
            <a:off x="5325000" y="1980000"/>
            <a:ext cx="1390000" cy="520000"/>
          </a:xfrm>
          <a:prstGeom prst="roundRect">
            <a:avLst>
              <a:gd name="adj" fmla="val 50000"/>
            </a:avLst>
          </a:prstGeom>
          <a:solidFill>
            <a:srgbClr val="D9663A"/>
          </a:solidFill>
          <a:ln/>
        </p:spPr>
        <p:txBody>
          <a:bodyPr wrap="square" lIns="18000" tIns="0" rIns="18000" bIns="0" anchor="ctr"/>
          <a:lstStyle/>
          <a:p>
            <a:pPr marL="0" indent="0" algn="ctr">
              <a:buNone/>
            </a:pPr>
            <a:r>
              <a:rPr lang="vi-VN" sz="1150" b="1" kern="0" dirty="0">
                <a:solidFill>
                  <a:srgbClr val="FFFFFF"/>
                </a:solidFill>
                <a:latin typeface="Arial" pitchFamily="34" charset="0"/>
                <a:ea typeface="Arial" pitchFamily="34" charset="-122"/>
                <a:cs typeface="Arial" pitchFamily="34" charset="-120"/>
              </a:rPr>
              <a:t>Sai · 2</a:t>
            </a:r>
          </a:p>
        </p:txBody>
      </p:sp>
      <p:sp>
        <p:nvSpPr>
          <p:cNvPr id="135" name="Pill135"/>
          <p:cNvSpPr/>
          <p:nvPr/>
        </p:nvSpPr>
        <p:spPr>
          <a:xfrm>
            <a:off x="6890000" y="1980000"/>
            <a:ext cx="1390000" cy="520000"/>
          </a:xfrm>
          <a:prstGeom prst="roundRect">
            <a:avLst>
              <a:gd name="adj" fmla="val 50000"/>
            </a:avLst>
          </a:prstGeom>
          <a:solidFill>
            <a:srgbClr val="EFF2F0"/>
          </a:solidFill>
          <a:ln/>
        </p:spPr>
        <p:txBody>
          <a:bodyPr wrap="square" lIns="18000" tIns="0" rIns="18000" bIns="0" anchor="ctr"/>
          <a:lstStyle/>
          <a:p>
            <a:pPr marL="0" indent="0" algn="ctr">
              <a:buNone/>
            </a:pPr>
            <a:r>
              <a:rPr lang="vi-VN" sz="1150" b="1" kern="0" dirty="0">
                <a:solidFill>
                  <a:srgbClr val="5C6E64"/>
                </a:solidFill>
                <a:latin typeface="Arial" pitchFamily="34" charset="0"/>
                <a:ea typeface="Arial" pitchFamily="34" charset="-122"/>
                <a:cs typeface="Arial" pitchFamily="34" charset="-120"/>
              </a:rPr>
              <a:t>Đúng · 0</a:t>
            </a:r>
          </a:p>
        </p:txBody>
      </p:sp>
      <p:sp>
        <p:nvSpPr>
          <p:cNvPr id="136" name="T136"/>
          <p:cNvSpPr/>
          <p:nvPr/>
        </p:nvSpPr>
        <p:spPr>
          <a:xfrm>
            <a:off x="566928" y="2640000"/>
            <a:ext cx="7635240" cy="300000"/>
          </a:xfrm>
          <a:prstGeom prst="rect">
            <a:avLst/>
          </a:prstGeom>
          <a:noFill/>
          <a:ln/>
        </p:spPr>
        <p:txBody>
          <a:bodyPr wrap="square" lIns="0" tIns="0" rIns="0" bIns="0" rtlCol="0" anchor="t"/>
          <a:lstStyle/>
          <a:p>
            <a:pPr marL="0" indent="0" algn="l">
              <a:buNone/>
            </a:pPr>
            <a:r>
              <a:rPr lang="vi-VN" sz="1350" b="1" kern="0" dirty="0">
                <a:solidFill>
                  <a:srgbClr val="13241B"/>
                </a:solidFill>
                <a:latin typeface="Arial" pitchFamily="34" charset="0"/>
                <a:ea typeface="Arial" pitchFamily="34" charset="-122"/>
                <a:cs typeface="Arial" pitchFamily="34" charset="-120"/>
              </a:rPr>
              <a:t>Lỗi kỹ thuật được ghi nhận</a:t>
            </a:r>
          </a:p>
        </p:txBody>
      </p:sp>
      <p:sp>
        <p:nvSpPr>
          <p:cNvPr id="137" name="T137"/>
          <p:cNvSpPr/>
          <p:nvPr/>
        </p:nvSpPr>
        <p:spPr>
          <a:xfrm>
            <a:off x="566928" y="2980000"/>
            <a:ext cx="2950000" cy="410000"/>
          </a:xfrm>
          <a:prstGeom prst="rect">
            <a:avLst/>
          </a:prstGeom>
          <a:noFill/>
          <a:ln/>
        </p:spPr>
        <p:txBody>
          <a:bodyPr wrap="square" lIns="0" tIns="0" rIns="0" bIns="0" rtlCol="0" anchor="ctr"/>
          <a:lstStyle/>
          <a:p>
            <a:pPr marL="0" indent="0" algn="l">
              <a:buNone/>
            </a:pPr>
            <a:r>
              <a:rPr lang="vi-VN" sz="1150" b="0" kern="0" dirty="0">
                <a:solidFill>
                  <a:srgbClr val="13241B"/>
                </a:solidFill>
                <a:latin typeface="Arial" pitchFamily="34" charset="0"/>
                <a:ea typeface="Arial" pitchFamily="34" charset="-122"/>
                <a:cs typeface="Arial" pitchFamily="34" charset="-120"/>
              </a:rPr>
              <a:t>Sai tư thế thân người</a:t>
            </a:r>
          </a:p>
        </p:txBody>
      </p:sp>
      <p:sp>
        <p:nvSpPr>
          <p:cNvPr id="138" name="Bar138"/>
          <p:cNvSpPr/>
          <p:nvPr/>
        </p:nvSpPr>
        <p:spPr>
          <a:xfrm>
            <a:off x="3656928" y="3097500"/>
            <a:ext cx="3050000" cy="175000"/>
          </a:xfrm>
          <a:prstGeom prst="roundRect">
            <a:avLst>
              <a:gd name="adj" fmla="val 50000"/>
            </a:avLst>
          </a:prstGeom>
          <a:solidFill>
            <a:srgbClr val="E7EFEA"/>
          </a:solidFill>
          <a:ln/>
        </p:spPr>
        <p:txBody>
          <a:bodyPr/>
          <a:lstStyle/>
          <a:p>
            <a:endParaRPr lang="vi-VN"/>
          </a:p>
        </p:txBody>
      </p:sp>
      <p:sp>
        <p:nvSpPr>
          <p:cNvPr id="139" name="Bar139"/>
          <p:cNvSpPr/>
          <p:nvPr/>
        </p:nvSpPr>
        <p:spPr>
          <a:xfrm>
            <a:off x="3656928" y="3097500"/>
            <a:ext cx="1906250" cy="175000"/>
          </a:xfrm>
          <a:prstGeom prst="roundRect">
            <a:avLst>
              <a:gd name="adj" fmla="val 50000"/>
            </a:avLst>
          </a:prstGeom>
          <a:solidFill>
            <a:srgbClr val="005F35"/>
          </a:solidFill>
          <a:ln/>
        </p:spPr>
        <p:txBody>
          <a:bodyPr/>
          <a:lstStyle/>
          <a:p>
            <a:endParaRPr lang="vi-VN"/>
          </a:p>
        </p:txBody>
      </p:sp>
      <p:sp>
        <p:nvSpPr>
          <p:cNvPr id="140" name="T140"/>
          <p:cNvSpPr/>
          <p:nvPr/>
        </p:nvSpPr>
        <p:spPr>
          <a:xfrm>
            <a:off x="6836928" y="2980000"/>
            <a:ext cx="1365240" cy="410000"/>
          </a:xfrm>
          <a:prstGeom prst="rect">
            <a:avLst/>
          </a:prstGeom>
          <a:noFill/>
          <a:ln/>
        </p:spPr>
        <p:txBody>
          <a:bodyPr wrap="square" lIns="0" tIns="0" rIns="0" bIns="0" rtlCol="0" anchor="ctr"/>
          <a:lstStyle/>
          <a:p>
            <a:pPr marL="0" indent="0" algn="r">
              <a:buNone/>
            </a:pPr>
            <a:r>
              <a:rPr lang="vi-VN" sz="1100" b="1" kern="0" dirty="0">
                <a:solidFill>
                  <a:srgbClr val="005F35"/>
                </a:solidFill>
                <a:latin typeface="Arial" pitchFamily="34" charset="0"/>
                <a:ea typeface="Arial" pitchFamily="34" charset="-122"/>
                <a:cs typeface="Arial" pitchFamily="34" charset="-120"/>
              </a:rPr>
              <a:t>5 video · 62,5%</a:t>
            </a:r>
          </a:p>
        </p:txBody>
      </p:sp>
      <p:sp>
        <p:nvSpPr>
          <p:cNvPr id="141" name="T141"/>
          <p:cNvSpPr/>
          <p:nvPr/>
        </p:nvSpPr>
        <p:spPr>
          <a:xfrm>
            <a:off x="566928" y="3420000"/>
            <a:ext cx="2950000" cy="410000"/>
          </a:xfrm>
          <a:prstGeom prst="rect">
            <a:avLst/>
          </a:prstGeom>
          <a:noFill/>
          <a:ln/>
        </p:spPr>
        <p:txBody>
          <a:bodyPr wrap="square" lIns="0" tIns="0" rIns="0" bIns="0" rtlCol="0" anchor="ctr"/>
          <a:lstStyle/>
          <a:p>
            <a:pPr marL="0" indent="0" algn="l">
              <a:buNone/>
            </a:pPr>
            <a:r>
              <a:rPr lang="vi-VN" sz="1150" b="0" kern="0" dirty="0">
                <a:solidFill>
                  <a:srgbClr val="13241B"/>
                </a:solidFill>
                <a:latin typeface="Arial" pitchFamily="34" charset="0"/>
                <a:ea typeface="Arial" pitchFamily="34" charset="-122"/>
                <a:cs typeface="Arial" pitchFamily="34" charset="-120"/>
              </a:rPr>
              <a:t>Vị trí tay chưa đúng</a:t>
            </a:r>
          </a:p>
        </p:txBody>
      </p:sp>
      <p:sp>
        <p:nvSpPr>
          <p:cNvPr id="142" name="Bar142"/>
          <p:cNvSpPr/>
          <p:nvPr/>
        </p:nvSpPr>
        <p:spPr>
          <a:xfrm>
            <a:off x="3656928" y="3537500"/>
            <a:ext cx="3050000" cy="175000"/>
          </a:xfrm>
          <a:prstGeom prst="roundRect">
            <a:avLst>
              <a:gd name="adj" fmla="val 50000"/>
            </a:avLst>
          </a:prstGeom>
          <a:solidFill>
            <a:srgbClr val="E7EFEA"/>
          </a:solidFill>
          <a:ln/>
        </p:spPr>
        <p:txBody>
          <a:bodyPr/>
          <a:lstStyle/>
          <a:p>
            <a:endParaRPr lang="vi-VN"/>
          </a:p>
        </p:txBody>
      </p:sp>
      <p:sp>
        <p:nvSpPr>
          <p:cNvPr id="143" name="Bar143"/>
          <p:cNvSpPr/>
          <p:nvPr/>
        </p:nvSpPr>
        <p:spPr>
          <a:xfrm>
            <a:off x="3656928" y="3537500"/>
            <a:ext cx="762500" cy="175000"/>
          </a:xfrm>
          <a:prstGeom prst="roundRect">
            <a:avLst>
              <a:gd name="adj" fmla="val 50000"/>
            </a:avLst>
          </a:prstGeom>
          <a:solidFill>
            <a:srgbClr val="005F35"/>
          </a:solidFill>
          <a:ln/>
        </p:spPr>
        <p:txBody>
          <a:bodyPr/>
          <a:lstStyle/>
          <a:p>
            <a:endParaRPr lang="vi-VN"/>
          </a:p>
        </p:txBody>
      </p:sp>
      <p:sp>
        <p:nvSpPr>
          <p:cNvPr id="144" name="T144"/>
          <p:cNvSpPr/>
          <p:nvPr/>
        </p:nvSpPr>
        <p:spPr>
          <a:xfrm>
            <a:off x="6836928" y="3420000"/>
            <a:ext cx="1365240" cy="410000"/>
          </a:xfrm>
          <a:prstGeom prst="rect">
            <a:avLst/>
          </a:prstGeom>
          <a:noFill/>
          <a:ln/>
        </p:spPr>
        <p:txBody>
          <a:bodyPr wrap="square" lIns="0" tIns="0" rIns="0" bIns="0" rtlCol="0" anchor="ctr"/>
          <a:lstStyle/>
          <a:p>
            <a:pPr marL="0" indent="0" algn="r">
              <a:buNone/>
            </a:pPr>
            <a:r>
              <a:rPr lang="vi-VN" sz="1100" b="1" kern="0" dirty="0">
                <a:solidFill>
                  <a:srgbClr val="005F35"/>
                </a:solidFill>
                <a:latin typeface="Arial" pitchFamily="34" charset="0"/>
                <a:ea typeface="Arial" pitchFamily="34" charset="-122"/>
                <a:cs typeface="Arial" pitchFamily="34" charset="-120"/>
              </a:rPr>
              <a:t>2 video · 25,0%</a:t>
            </a:r>
          </a:p>
        </p:txBody>
      </p:sp>
      <p:sp>
        <p:nvSpPr>
          <p:cNvPr id="145" name="T145"/>
          <p:cNvSpPr/>
          <p:nvPr/>
        </p:nvSpPr>
        <p:spPr>
          <a:xfrm>
            <a:off x="566928" y="3860000"/>
            <a:ext cx="2950000" cy="410000"/>
          </a:xfrm>
          <a:prstGeom prst="rect">
            <a:avLst/>
          </a:prstGeom>
          <a:noFill/>
          <a:ln/>
        </p:spPr>
        <p:txBody>
          <a:bodyPr wrap="square" lIns="0" tIns="0" rIns="0" bIns="0" rtlCol="0" anchor="ctr"/>
          <a:lstStyle/>
          <a:p>
            <a:pPr marL="0" indent="0" algn="l">
              <a:buNone/>
            </a:pPr>
            <a:r>
              <a:rPr lang="vi-VN" sz="1150" b="0" kern="0" dirty="0">
                <a:solidFill>
                  <a:srgbClr val="13241B"/>
                </a:solidFill>
                <a:latin typeface="Arial" pitchFamily="34" charset="0"/>
                <a:ea typeface="Arial" pitchFamily="34" charset="-122"/>
                <a:cs typeface="Arial" pitchFamily="34" charset="-120"/>
              </a:rPr>
              <a:t>Biên độ chưa đạt</a:t>
            </a:r>
          </a:p>
        </p:txBody>
      </p:sp>
      <p:sp>
        <p:nvSpPr>
          <p:cNvPr id="146" name="Bar146"/>
          <p:cNvSpPr/>
          <p:nvPr/>
        </p:nvSpPr>
        <p:spPr>
          <a:xfrm>
            <a:off x="3656928" y="3977500"/>
            <a:ext cx="3050000" cy="175000"/>
          </a:xfrm>
          <a:prstGeom prst="roundRect">
            <a:avLst>
              <a:gd name="adj" fmla="val 50000"/>
            </a:avLst>
          </a:prstGeom>
          <a:solidFill>
            <a:srgbClr val="E7EFEA"/>
          </a:solidFill>
          <a:ln/>
        </p:spPr>
        <p:txBody>
          <a:bodyPr/>
          <a:lstStyle/>
          <a:p>
            <a:endParaRPr lang="vi-VN"/>
          </a:p>
        </p:txBody>
      </p:sp>
      <p:sp>
        <p:nvSpPr>
          <p:cNvPr id="147" name="Bar147"/>
          <p:cNvSpPr/>
          <p:nvPr/>
        </p:nvSpPr>
        <p:spPr>
          <a:xfrm>
            <a:off x="3656928" y="3977500"/>
            <a:ext cx="381250" cy="175000"/>
          </a:xfrm>
          <a:prstGeom prst="roundRect">
            <a:avLst>
              <a:gd name="adj" fmla="val 50000"/>
            </a:avLst>
          </a:prstGeom>
          <a:solidFill>
            <a:srgbClr val="005F35"/>
          </a:solidFill>
          <a:ln/>
        </p:spPr>
        <p:txBody>
          <a:bodyPr/>
          <a:lstStyle/>
          <a:p>
            <a:endParaRPr lang="vi-VN"/>
          </a:p>
        </p:txBody>
      </p:sp>
      <p:sp>
        <p:nvSpPr>
          <p:cNvPr id="148" name="T148"/>
          <p:cNvSpPr/>
          <p:nvPr/>
        </p:nvSpPr>
        <p:spPr>
          <a:xfrm>
            <a:off x="6836928" y="3860000"/>
            <a:ext cx="1365240" cy="410000"/>
          </a:xfrm>
          <a:prstGeom prst="rect">
            <a:avLst/>
          </a:prstGeom>
          <a:noFill/>
          <a:ln/>
        </p:spPr>
        <p:txBody>
          <a:bodyPr wrap="square" lIns="0" tIns="0" rIns="0" bIns="0" rtlCol="0" anchor="ctr"/>
          <a:lstStyle/>
          <a:p>
            <a:pPr marL="0" indent="0" algn="r">
              <a:buNone/>
            </a:pPr>
            <a:r>
              <a:rPr lang="vi-VN" sz="1100" b="1" kern="0" dirty="0">
                <a:solidFill>
                  <a:srgbClr val="005F35"/>
                </a:solidFill>
                <a:latin typeface="Arial" pitchFamily="34" charset="0"/>
                <a:ea typeface="Arial" pitchFamily="34" charset="-122"/>
                <a:cs typeface="Arial" pitchFamily="34" charset="-120"/>
              </a:rPr>
              <a:t>1 video · 12,5%</a:t>
            </a:r>
          </a:p>
        </p:txBody>
      </p:sp>
      <p:sp>
        <p:nvSpPr>
          <p:cNvPr id="149" name="Card149"/>
          <p:cNvSpPr/>
          <p:nvPr/>
        </p:nvSpPr>
        <p:spPr>
          <a:xfrm>
            <a:off x="566928" y="4470000"/>
            <a:ext cx="7635240" cy="820000"/>
          </a:xfrm>
          <a:prstGeom prst="roundRect">
            <a:avLst>
              <a:gd name="adj" fmla="val 7000"/>
            </a:avLst>
          </a:prstGeom>
          <a:solidFill>
            <a:srgbClr val="EAF4EE"/>
          </a:solidFill>
          <a:ln w="12700">
            <a:solidFill>
              <a:srgbClr val="CFE3D6"/>
            </a:solidFill>
          </a:ln>
        </p:spPr>
        <p:txBody>
          <a:bodyPr/>
          <a:lstStyle/>
          <a:p>
            <a:endParaRPr lang="vi-VN"/>
          </a:p>
        </p:txBody>
      </p:sp>
      <p:sp>
        <p:nvSpPr>
          <p:cNvPr id="150" name="T150"/>
          <p:cNvSpPr/>
          <p:nvPr/>
        </p:nvSpPr>
        <p:spPr>
          <a:xfrm>
            <a:off x="826928" y="4560000"/>
            <a:ext cx="1500000" cy="640000"/>
          </a:xfrm>
          <a:prstGeom prst="rect">
            <a:avLst/>
          </a:prstGeom>
          <a:noFill/>
          <a:ln/>
        </p:spPr>
        <p:txBody>
          <a:bodyPr wrap="square" lIns="0" tIns="0" rIns="0" bIns="0" rtlCol="0" anchor="ctr"/>
          <a:lstStyle/>
          <a:p>
            <a:pPr marL="0" indent="0" algn="l">
              <a:buNone/>
            </a:pPr>
            <a:r>
              <a:rPr lang="vi-VN" sz="4200" b="1" kern="0" dirty="0">
                <a:solidFill>
                  <a:srgbClr val="005F35"/>
                </a:solidFill>
                <a:latin typeface="Arial" pitchFamily="34" charset="0"/>
                <a:ea typeface="Arial" pitchFamily="34" charset="-122"/>
                <a:cs typeface="Arial" pitchFamily="34" charset="-120"/>
              </a:rPr>
              <a:t>100%</a:t>
            </a:r>
          </a:p>
        </p:txBody>
      </p:sp>
      <p:sp>
        <p:nvSpPr>
          <p:cNvPr id="151" name="T151"/>
          <p:cNvSpPr/>
          <p:nvPr/>
        </p:nvSpPr>
        <p:spPr>
          <a:xfrm>
            <a:off x="2426928" y="4560000"/>
            <a:ext cx="5515240" cy="640000"/>
          </a:xfrm>
          <a:prstGeom prst="rect">
            <a:avLst/>
          </a:prstGeom>
          <a:noFill/>
          <a:ln/>
        </p:spPr>
        <p:txBody>
          <a:bodyPr wrap="square" lIns="0" tIns="0" rIns="0" bIns="0" rtlCol="0" anchor="ctr"/>
          <a:lstStyle/>
          <a:p>
            <a:pPr marL="0" indent="0" algn="l">
              <a:buNone/>
            </a:pPr>
            <a:r>
              <a:rPr lang="vi-VN" sz="1300" b="1" kern="0" dirty="0">
                <a:solidFill>
                  <a:srgbClr val="13241B"/>
                </a:solidFill>
                <a:latin typeface="Arial" pitchFamily="34" charset="0"/>
                <a:ea typeface="Arial" pitchFamily="34" charset="-122"/>
                <a:cs typeface="Arial" pitchFamily="34" charset="-120"/>
              </a:rPr>
              <a:t>video được chỉ định tiếp tục tập luyện</a:t>
            </a:r>
          </a:p>
          <a:p>
            <a:pPr marL="0" indent="0" algn="l">
              <a:spcBef>
                <a:spcPts val="200"/>
              </a:spcBef>
              <a:buNone/>
            </a:pPr>
            <a:r>
              <a:rPr lang="vi-VN" sz="1100" b="0" kern="0" dirty="0">
                <a:solidFill>
                  <a:srgbClr val="5C6E64"/>
                </a:solidFill>
                <a:latin typeface="Arial" pitchFamily="34" charset="0"/>
                <a:ea typeface="Arial" pitchFamily="34" charset="-122"/>
                <a:cs typeface="Arial" pitchFamily="34" charset="-120"/>
              </a:rPr>
              <a:t>8/8 video · không video nào phải dừng</a:t>
            </a:r>
          </a:p>
        </p:txBody>
      </p:sp>
      <p:sp>
        <p:nvSpPr>
          <p:cNvPr id="5" name="Text 2"/>
          <p:cNvSpPr/>
          <p:nvPr/>
        </p:nvSpPr>
        <p:spPr>
          <a:xfrm>
            <a:off x="566928" y="5449824"/>
            <a:ext cx="7635240" cy="274320"/>
          </a:xfrm>
          <a:prstGeom prst="rect">
            <a:avLst/>
          </a:prstGeom>
          <a:noFill/>
          <a:ln/>
        </p:spPr>
        <p:txBody>
          <a:bodyPr wrap="square" lIns="0" tIns="0" rIns="0" bIns="0" rtlCol="0" anchor="ctr"/>
          <a:lstStyle/>
          <a:p>
            <a:pPr marL="0" indent="0">
              <a:buNone/>
            </a:pPr>
            <a:r>
              <a:rPr lang="en-US" sz="950" i="1" dirty="0">
                <a:solidFill>
                  <a:srgbClr val="5C6E64"/>
                </a:solidFill>
                <a:latin typeface="Arial" pitchFamily="34" charset="0"/>
                <a:ea typeface="Arial" pitchFamily="34" charset="-122"/>
                <a:cs typeface="Arial" pitchFamily="34" charset="-120"/>
              </a:rPr>
              <a:t>Phiếu đánh giá kỹ thuật động tác của Bác sĩ / Kỹ thuật viên trên hệ thống (Bảng PL3.2).</a:t>
            </a:r>
            <a:endParaRPr lang="en-US" sz="950" dirty="0"/>
          </a:p>
        </p:txBody>
      </p:sp>
      <p:sp>
        <p:nvSpPr>
          <p:cNvPr id="6" name="Shape 3"/>
          <p:cNvSpPr/>
          <p:nvPr/>
        </p:nvSpPr>
        <p:spPr>
          <a:xfrm>
            <a:off x="8412480" y="1828800"/>
            <a:ext cx="3218688" cy="2286000"/>
          </a:xfrm>
          <a:prstGeom prst="roundRect">
            <a:avLst>
              <a:gd name="adj" fmla="val 4800"/>
            </a:avLst>
          </a:prstGeom>
          <a:solidFill>
            <a:srgbClr val="005F35"/>
          </a:solidFill>
          <a:ln/>
          <a:effectLst>
            <a:outerShdw blurRad="114300" dist="50800" dir="5400000" algn="bl" rotWithShape="0">
              <a:srgbClr val="0B3322">
                <a:alpha val="13000"/>
              </a:srgbClr>
            </a:outerShdw>
          </a:effectLst>
        </p:spPr>
      </p:sp>
      <p:sp>
        <p:nvSpPr>
          <p:cNvPr id="7" name="Shape 4"/>
          <p:cNvSpPr/>
          <p:nvPr/>
        </p:nvSpPr>
        <p:spPr>
          <a:xfrm>
            <a:off x="8641080" y="2029968"/>
            <a:ext cx="548640" cy="548640"/>
          </a:xfrm>
          <a:prstGeom prst="ellipse">
            <a:avLst/>
          </a:prstGeom>
          <a:solidFill>
            <a:srgbClr val="FFFFFF"/>
          </a:solidFill>
          <a:ln/>
          <a:effectLst>
            <a:outerShdw blurRad="114300" dist="50800" dir="5400000" algn="bl" rotWithShape="0">
              <a:srgbClr val="0B3322">
                <a:alpha val="13000"/>
              </a:srgbClr>
            </a:outerShdw>
          </a:effectLst>
        </p:spPr>
      </p:sp>
      <p:pic>
        <p:nvPicPr>
          <p:cNvPr id="8" name="Image 0" descr="preencoded.png"/>
          <p:cNvPicPr>
            <a:picLocks noChangeAspect="1"/>
          </p:cNvPicPr>
          <p:nvPr/>
        </p:nvPicPr>
        <p:blipFill>
          <a:blip r:embed="rId3"/>
          <a:stretch>
            <a:fillRect/>
          </a:stretch>
        </p:blipFill>
        <p:spPr>
          <a:xfrm>
            <a:off x="8778240" y="2167128"/>
            <a:ext cx="274320" cy="274320"/>
          </a:xfrm>
          <a:prstGeom prst="rect">
            <a:avLst/>
          </a:prstGeom>
        </p:spPr>
      </p:pic>
      <p:sp>
        <p:nvSpPr>
          <p:cNvPr id="9" name="Text 5"/>
          <p:cNvSpPr/>
          <p:nvPr/>
        </p:nvSpPr>
        <p:spPr>
          <a:xfrm>
            <a:off x="8641080" y="2670048"/>
            <a:ext cx="2761488" cy="6400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AI ↔ chuyên gia đồng hướng</a:t>
            </a:r>
            <a:endParaRPr lang="en-US" sz="1800" dirty="0"/>
          </a:p>
        </p:txBody>
      </p:sp>
      <p:sp>
        <p:nvSpPr>
          <p:cNvPr id="10" name="Text 6"/>
          <p:cNvSpPr/>
          <p:nvPr/>
        </p:nvSpPr>
        <p:spPr>
          <a:xfrm>
            <a:off x="8641080" y="3310128"/>
            <a:ext cx="2761488" cy="777240"/>
          </a:xfrm>
          <a:prstGeom prst="rect">
            <a:avLst/>
          </a:prstGeom>
          <a:noFill/>
          <a:ln/>
        </p:spPr>
        <p:txBody>
          <a:bodyPr wrap="square" lIns="0" tIns="0" rIns="0" bIns="0" rtlCol="0" anchor="t"/>
          <a:lstStyle/>
          <a:p>
            <a:pPr marL="0" indent="0">
              <a:lnSpc>
                <a:spcPct val="106000"/>
              </a:lnSpc>
              <a:buNone/>
            </a:pPr>
            <a:r>
              <a:rPr lang="en-US" sz="1200" dirty="0">
                <a:solidFill>
                  <a:srgbClr val="EAF6EF"/>
                </a:solidFill>
                <a:latin typeface="Arial" pitchFamily="34" charset="0"/>
                <a:ea typeface="Arial" pitchFamily="34" charset="-122"/>
                <a:cs typeface="Arial" pitchFamily="34" charset="-120"/>
              </a:rPr>
              <a:t>Cả AI và Bác sĩ / Kỹ thuật viên cùng phát hiện các lỗi tư thế thân người, vị trí tay và biên độ — củng cố giá trị của phản hồi tự động.</a:t>
            </a:r>
            <a:endParaRPr lang="en-US" sz="1200" dirty="0"/>
          </a:p>
        </p:txBody>
      </p:sp>
      <p:sp>
        <p:nvSpPr>
          <p:cNvPr id="11" name="Shape 7"/>
          <p:cNvSpPr/>
          <p:nvPr/>
        </p:nvSpPr>
        <p:spPr>
          <a:xfrm>
            <a:off x="8412480" y="4251960"/>
            <a:ext cx="3218688" cy="1353312"/>
          </a:xfrm>
          <a:prstGeom prst="roundRect">
            <a:avLst>
              <a:gd name="adj" fmla="val 8108"/>
            </a:avLst>
          </a:prstGeom>
          <a:solidFill>
            <a:srgbClr val="EAF4EE"/>
          </a:solidFill>
          <a:ln/>
          <a:effectLst>
            <a:outerShdw blurRad="114300" dist="50800" dir="5400000" algn="bl" rotWithShape="0">
              <a:srgbClr val="0B3322">
                <a:alpha val="13000"/>
              </a:srgbClr>
            </a:outerShdw>
          </a:effectLst>
        </p:spPr>
      </p:sp>
      <p:sp>
        <p:nvSpPr>
          <p:cNvPr id="12" name="Text 8"/>
          <p:cNvSpPr/>
          <p:nvPr/>
        </p:nvSpPr>
        <p:spPr>
          <a:xfrm>
            <a:off x="8641080" y="4389120"/>
            <a:ext cx="2761488" cy="1097280"/>
          </a:xfrm>
          <a:prstGeom prst="rect">
            <a:avLst/>
          </a:prstGeom>
          <a:noFill/>
          <a:ln/>
        </p:spPr>
        <p:txBody>
          <a:bodyPr wrap="square" lIns="0" tIns="0" rIns="0" bIns="0" rtlCol="0" anchor="ctr"/>
          <a:lstStyle/>
          <a:p>
            <a:pPr marL="0" indent="0">
              <a:lnSpc>
                <a:spcPct val="108000"/>
              </a:lnSpc>
              <a:buNone/>
            </a:pPr>
            <a:r>
              <a:rPr lang="en-US" sz="1600" b="1" dirty="0">
                <a:solidFill>
                  <a:srgbClr val="005F35"/>
                </a:solidFill>
                <a:latin typeface="Arial" pitchFamily="34" charset="0"/>
                <a:ea typeface="Arial" pitchFamily="34" charset="-122"/>
                <a:cs typeface="Arial" pitchFamily="34" charset="-120"/>
              </a:rPr>
              <a:t>Lỗi phổ biến nhất:  </a:t>
            </a:r>
            <a:r>
              <a:rPr lang="en-US" sz="1600" dirty="0">
                <a:solidFill>
                  <a:srgbClr val="32463C"/>
                </a:solidFill>
                <a:latin typeface="Arial" pitchFamily="34" charset="0"/>
                <a:ea typeface="Arial" pitchFamily="34" charset="-122"/>
                <a:cs typeface="Arial" pitchFamily="34" charset="-120"/>
              </a:rPr>
              <a:t>sai tư thế thân người. Tất cả video → chỉ định </a:t>
            </a:r>
            <a:r>
              <a:rPr lang="en-US" sz="1600" b="1" dirty="0">
                <a:solidFill>
                  <a:srgbClr val="005F35"/>
                </a:solidFill>
                <a:latin typeface="Arial" pitchFamily="34" charset="0"/>
                <a:ea typeface="Arial" pitchFamily="34" charset="-122"/>
                <a:cs typeface="Arial" pitchFamily="34" charset="-120"/>
              </a:rPr>
              <a:t>“tiếp tục tập luyện”.</a:t>
            </a:r>
            <a:endParaRPr lang="en-US" sz="1600" dirty="0"/>
          </a:p>
        </p:txBody>
      </p:sp>
      <p:pic>
        <p:nvPicPr>
          <p:cNvPr id="13" name="Image 1" descr="/tmp/assets/huph_logo.png"/>
          <p:cNvPicPr>
            <a:picLocks noChangeAspect="1"/>
          </p:cNvPicPr>
          <p:nvPr/>
        </p:nvPicPr>
        <p:blipFill>
          <a:blip r:embed="rId4"/>
          <a:stretch>
            <a:fillRect/>
          </a:stretch>
        </p:blipFill>
        <p:spPr>
          <a:xfrm>
            <a:off x="566928" y="6419088"/>
            <a:ext cx="310896" cy="310896"/>
          </a:xfrm>
          <a:prstGeom prst="rect">
            <a:avLst/>
          </a:prstGeom>
        </p:spPr>
      </p:pic>
      <p:sp>
        <p:nvSpPr>
          <p:cNvPr id="14" name="Text 9"/>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5" name="Text 10"/>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12 / 19</a:t>
            </a:r>
            <a:endParaRPr lang="en-US" sz="850" dirty="0"/>
          </a:p>
        </p:txBody>
      </p:sp>
      <p:pic>
        <p:nvPicPr>
          <p:cNvPr id="4" name="Image 0" descr="/tmp/assets/qr_web.png">
            <a:extLst>
              <a:ext uri="{FF2B5EF4-FFF2-40B4-BE49-F238E27FC236}">
                <a16:creationId xmlns:a16="http://schemas.microsoft.com/office/drawing/2014/main" id="{DEBAC4C6-D699-B9F3-22C5-5D006B6A9AE6}"/>
              </a:ext>
            </a:extLst>
          </p:cNvPr>
          <p:cNvPicPr>
            <a:picLocks noChangeAspect="1"/>
          </p:cNvPicPr>
          <p:nvPr/>
        </p:nvPicPr>
        <p:blipFill>
          <a:blip r:embed="rId5"/>
          <a:stretch>
            <a:fillRect/>
          </a:stretch>
        </p:blipFill>
        <p:spPr>
          <a:xfrm>
            <a:off x="10689336" y="146304"/>
            <a:ext cx="1170432" cy="11704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04 · KẾT QUẢ &amp; BÀN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Vì sao Codman tốt hơn bài tập với gậy?</a:t>
            </a:r>
            <a:endParaRPr lang="en-US" sz="2900" dirty="0"/>
          </a:p>
        </p:txBody>
      </p:sp>
      <p:sp>
        <p:nvSpPr>
          <p:cNvPr id="4" name="Shape 2"/>
          <p:cNvSpPr/>
          <p:nvPr/>
        </p:nvSpPr>
        <p:spPr>
          <a:xfrm>
            <a:off x="566928" y="1828800"/>
            <a:ext cx="5413248" cy="2331720"/>
          </a:xfrm>
          <a:prstGeom prst="roundRect">
            <a:avLst>
              <a:gd name="adj" fmla="val 4706"/>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841248" y="2084832"/>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82980" y="2226564"/>
            <a:ext cx="283464" cy="283464"/>
          </a:xfrm>
          <a:prstGeom prst="rect">
            <a:avLst/>
          </a:prstGeom>
        </p:spPr>
      </p:pic>
      <p:sp>
        <p:nvSpPr>
          <p:cNvPr id="7" name="Text 4"/>
          <p:cNvSpPr/>
          <p:nvPr/>
        </p:nvSpPr>
        <p:spPr>
          <a:xfrm>
            <a:off x="1572768" y="2029968"/>
            <a:ext cx="4206240" cy="41148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Bài con lắc Codman</a:t>
            </a:r>
            <a:endParaRPr lang="en-US" sz="2400" dirty="0"/>
          </a:p>
        </p:txBody>
      </p:sp>
      <p:sp>
        <p:nvSpPr>
          <p:cNvPr id="8" name="Text 5"/>
          <p:cNvSpPr/>
          <p:nvPr/>
        </p:nvSpPr>
        <p:spPr>
          <a:xfrm>
            <a:off x="960120" y="2743200"/>
            <a:ext cx="484632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Cấu trúc vận động đơn giản, biên độ nhỏ</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Ít phối hợp hai tay → tư thế ổn định</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Tiêu chí góc rõ ràng theo từng giai đoạn</a:t>
            </a:r>
            <a:endParaRPr lang="en-US" dirty="0"/>
          </a:p>
        </p:txBody>
      </p:sp>
      <p:sp>
        <p:nvSpPr>
          <p:cNvPr id="9" name="Shape 6"/>
          <p:cNvSpPr/>
          <p:nvPr/>
        </p:nvSpPr>
        <p:spPr>
          <a:xfrm>
            <a:off x="6217920" y="1828800"/>
            <a:ext cx="5413248" cy="2331720"/>
          </a:xfrm>
          <a:prstGeom prst="roundRect">
            <a:avLst>
              <a:gd name="adj" fmla="val 4706"/>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0" name="Shape 7"/>
          <p:cNvSpPr/>
          <p:nvPr/>
        </p:nvSpPr>
        <p:spPr>
          <a:xfrm>
            <a:off x="6492240" y="2084832"/>
            <a:ext cx="566928" cy="566928"/>
          </a:xfrm>
          <a:prstGeom prst="ellipse">
            <a:avLst/>
          </a:prstGeom>
          <a:solidFill>
            <a:srgbClr val="D9663A"/>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6633972" y="2226564"/>
            <a:ext cx="283464" cy="283464"/>
          </a:xfrm>
          <a:prstGeom prst="rect">
            <a:avLst/>
          </a:prstGeom>
        </p:spPr>
      </p:pic>
      <p:sp>
        <p:nvSpPr>
          <p:cNvPr id="12" name="Text 8"/>
          <p:cNvSpPr/>
          <p:nvPr/>
        </p:nvSpPr>
        <p:spPr>
          <a:xfrm>
            <a:off x="7223760" y="2029968"/>
            <a:ext cx="4206240" cy="411480"/>
          </a:xfrm>
          <a:prstGeom prst="rect">
            <a:avLst/>
          </a:prstGeom>
          <a:noFill/>
          <a:ln/>
        </p:spPr>
        <p:txBody>
          <a:bodyPr wrap="square" lIns="0" tIns="0" rIns="0" bIns="0" rtlCol="0" anchor="ctr"/>
          <a:lstStyle/>
          <a:p>
            <a:pPr marL="0" indent="0">
              <a:buNone/>
            </a:pPr>
            <a:r>
              <a:rPr lang="en-US" sz="2400" b="1" dirty="0">
                <a:solidFill>
                  <a:srgbClr val="D9663A"/>
                </a:solidFill>
                <a:latin typeface="Arial" pitchFamily="34" charset="0"/>
                <a:ea typeface="Arial" pitchFamily="34" charset="-122"/>
                <a:cs typeface="Arial" pitchFamily="34" charset="-120"/>
              </a:rPr>
              <a:t>Bài tập với gậy</a:t>
            </a:r>
            <a:endParaRPr lang="en-US" sz="2400" dirty="0"/>
          </a:p>
        </p:txBody>
      </p:sp>
      <p:sp>
        <p:nvSpPr>
          <p:cNvPr id="13" name="Text 9"/>
          <p:cNvSpPr/>
          <p:nvPr/>
        </p:nvSpPr>
        <p:spPr>
          <a:xfrm>
            <a:off x="6611112" y="2743200"/>
            <a:ext cx="4846320" cy="132588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Đòi hỏi phối hợp hai tay với gậy</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Dễ xoay thân, gập khuỷu bù trừ</a:t>
            </a:r>
            <a:endParaRPr lang="en-US" dirty="0"/>
          </a:p>
          <a:p>
            <a:pPr marL="342900" indent="-342900">
              <a:lnSpc>
                <a:spcPct val="105000"/>
              </a:lnSpc>
              <a:spcAft>
                <a:spcPts val="700"/>
              </a:spcAft>
              <a:buSzPct val="100000"/>
              <a:buChar char="•"/>
            </a:pPr>
            <a:r>
              <a:rPr lang="en-US" dirty="0">
                <a:solidFill>
                  <a:srgbClr val="13241B"/>
                </a:solidFill>
                <a:latin typeface="Arial" pitchFamily="34" charset="0"/>
                <a:ea typeface="Arial" pitchFamily="34" charset="-122"/>
                <a:cs typeface="Arial" pitchFamily="34" charset="-120"/>
              </a:rPr>
              <a:t>Tăng sai số góc &amp; tỷ lệ khung UNKNOWN</a:t>
            </a:r>
            <a:endParaRPr lang="en-US" dirty="0"/>
          </a:p>
        </p:txBody>
      </p:sp>
      <p:sp>
        <p:nvSpPr>
          <p:cNvPr id="14" name="Shape 10"/>
          <p:cNvSpPr/>
          <p:nvPr/>
        </p:nvSpPr>
        <p:spPr>
          <a:xfrm>
            <a:off x="566928" y="4315968"/>
            <a:ext cx="11064240" cy="1307592"/>
          </a:xfrm>
          <a:prstGeom prst="roundRect">
            <a:avLst>
              <a:gd name="adj" fmla="val 8392"/>
            </a:avLst>
          </a:prstGeom>
          <a:solidFill>
            <a:srgbClr val="06371F"/>
          </a:solidFill>
          <a:ln/>
          <a:effectLst>
            <a:outerShdw blurRad="114300" dist="50800" dir="5400000" algn="bl" rotWithShape="0">
              <a:srgbClr val="0B3322">
                <a:alpha val="13000"/>
              </a:srgbClr>
            </a:outerShdw>
          </a:effectLst>
        </p:spPr>
      </p:sp>
      <p:pic>
        <p:nvPicPr>
          <p:cNvPr id="15" name="Image 2" descr="preencoded.png"/>
          <p:cNvPicPr>
            <a:picLocks noChangeAspect="1"/>
          </p:cNvPicPr>
          <p:nvPr/>
        </p:nvPicPr>
        <p:blipFill>
          <a:blip r:embed="rId5"/>
          <a:stretch>
            <a:fillRect/>
          </a:stretch>
        </p:blipFill>
        <p:spPr>
          <a:xfrm>
            <a:off x="822960" y="4617720"/>
            <a:ext cx="457200" cy="457200"/>
          </a:xfrm>
          <a:prstGeom prst="rect">
            <a:avLst/>
          </a:prstGeom>
        </p:spPr>
      </p:pic>
      <p:sp>
        <p:nvSpPr>
          <p:cNvPr id="16" name="Text 11"/>
          <p:cNvSpPr/>
          <p:nvPr/>
        </p:nvSpPr>
        <p:spPr>
          <a:xfrm>
            <a:off x="1417320" y="4443984"/>
            <a:ext cx="10058400" cy="3657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Giới hạn của ước lượng tư thế marker-less</a:t>
            </a:r>
            <a:endParaRPr lang="en-US" sz="1800" dirty="0"/>
          </a:p>
        </p:txBody>
      </p:sp>
      <p:sp>
        <p:nvSpPr>
          <p:cNvPr id="17" name="Text 12"/>
          <p:cNvSpPr/>
          <p:nvPr/>
        </p:nvSpPr>
        <p:spPr>
          <a:xfrm>
            <a:off x="1417320" y="4809744"/>
            <a:ext cx="10012680" cy="777240"/>
          </a:xfrm>
          <a:prstGeom prst="rect">
            <a:avLst/>
          </a:prstGeom>
          <a:noFill/>
          <a:ln/>
        </p:spPr>
        <p:txBody>
          <a:bodyPr wrap="square" lIns="0" tIns="0" rIns="0" bIns="0" rtlCol="0" anchor="t"/>
          <a:lstStyle/>
          <a:p>
            <a:pPr marL="0" indent="0">
              <a:lnSpc>
                <a:spcPct val="104000"/>
              </a:lnSpc>
              <a:buNone/>
            </a:pPr>
            <a:r>
              <a:rPr lang="en-US" sz="1600" dirty="0">
                <a:solidFill>
                  <a:srgbClr val="DCEFE4"/>
                </a:solidFill>
                <a:latin typeface="Arial" pitchFamily="34" charset="0"/>
                <a:ea typeface="Arial" pitchFamily="34" charset="-122"/>
                <a:cs typeface="Arial" pitchFamily="34" charset="-120"/>
              </a:rPr>
              <a:t>Sai số quan sát được phù hợp với hạn chế của pose marker-less trên video RGB đơn: dao động điểm mốc, thiếu thông tin chiều sâu, che khuất tay và người hỗ trợ trong khung hình làm giảm độ ổn định của chỉ số.</a:t>
            </a:r>
            <a:endParaRPr lang="en-US" sz="1600" dirty="0"/>
          </a:p>
        </p:txBody>
      </p:sp>
      <p:pic>
        <p:nvPicPr>
          <p:cNvPr id="18" name="Image 3" descr="/tmp/assets/huph_logo.png"/>
          <p:cNvPicPr>
            <a:picLocks noChangeAspect="1"/>
          </p:cNvPicPr>
          <p:nvPr/>
        </p:nvPicPr>
        <p:blipFill>
          <a:blip r:embed="rId6"/>
          <a:stretch>
            <a:fillRect/>
          </a:stretch>
        </p:blipFill>
        <p:spPr>
          <a:xfrm>
            <a:off x="566928" y="6419088"/>
            <a:ext cx="310896" cy="310896"/>
          </a:xfrm>
          <a:prstGeom prst="rect">
            <a:avLst/>
          </a:prstGeom>
        </p:spPr>
      </p:pic>
      <p:sp>
        <p:nvSpPr>
          <p:cNvPr id="19" name="Text 13"/>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0" name="Text 14"/>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13 / 19</a:t>
            </a:r>
            <a:endParaRPr lang="en-US" sz="850" dirty="0"/>
          </a:p>
        </p:txBody>
      </p:sp>
      <p:pic>
        <p:nvPicPr>
          <p:cNvPr id="21" name="Image 0" descr="/tmp/assets/qr_web.png">
            <a:extLst>
              <a:ext uri="{FF2B5EF4-FFF2-40B4-BE49-F238E27FC236}">
                <a16:creationId xmlns:a16="http://schemas.microsoft.com/office/drawing/2014/main" id="{9CF890B5-B76C-6538-7B1F-727F81D1DF3E}"/>
              </a:ext>
            </a:extLst>
          </p:cNvPr>
          <p:cNvPicPr>
            <a:picLocks noChangeAspect="1"/>
          </p:cNvPicPr>
          <p:nvPr/>
        </p:nvPicPr>
        <p:blipFill>
          <a:blip r:embed="rId7"/>
          <a:stretch>
            <a:fillRect/>
          </a:stretch>
        </p:blipFill>
        <p:spPr>
          <a:xfrm>
            <a:off x="10689336" y="146304"/>
            <a:ext cx="1170432" cy="11704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Giao diện theo bốn vai trò người dùng</a:t>
            </a:r>
            <a:endParaRPr lang="en-US" sz="2900" dirty="0"/>
          </a:p>
        </p:txBody>
      </p:sp>
      <p:sp>
        <p:nvSpPr>
          <p:cNvPr id="4" name="Shape 2"/>
          <p:cNvSpPr/>
          <p:nvPr/>
        </p:nvSpPr>
        <p:spPr>
          <a:xfrm>
            <a:off x="566928" y="1783080"/>
            <a:ext cx="6126480" cy="960120"/>
          </a:xfrm>
          <a:prstGeom prst="roundRect">
            <a:avLst>
              <a:gd name="adj" fmla="val 9524"/>
            </a:avLst>
          </a:prstGeom>
          <a:solidFill>
            <a:srgbClr val="EAF4EE"/>
          </a:solidFill>
          <a:ln/>
          <a:effectLst>
            <a:outerShdw blurRad="114300" dist="50800" dir="5400000" algn="bl" rotWithShape="0">
              <a:srgbClr val="0B3322">
                <a:alpha val="13000"/>
              </a:srgbClr>
            </a:outerShdw>
          </a:effectLst>
        </p:spPr>
      </p:sp>
      <p:sp>
        <p:nvSpPr>
          <p:cNvPr id="5" name="Shape 3"/>
          <p:cNvSpPr/>
          <p:nvPr/>
        </p:nvSpPr>
        <p:spPr>
          <a:xfrm>
            <a:off x="768096" y="1979676"/>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09828" y="2121408"/>
            <a:ext cx="283464" cy="283464"/>
          </a:xfrm>
          <a:prstGeom prst="rect">
            <a:avLst/>
          </a:prstGeom>
        </p:spPr>
      </p:pic>
      <p:sp>
        <p:nvSpPr>
          <p:cNvPr id="7" name="Text 4"/>
          <p:cNvSpPr/>
          <p:nvPr/>
        </p:nvSpPr>
        <p:spPr>
          <a:xfrm>
            <a:off x="1481328" y="1892808"/>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Bệnh nhân</a:t>
            </a:r>
            <a:endParaRPr lang="en-US" sz="2000" dirty="0"/>
          </a:p>
        </p:txBody>
      </p:sp>
      <p:sp>
        <p:nvSpPr>
          <p:cNvPr id="8" name="Text 5"/>
          <p:cNvSpPr/>
          <p:nvPr/>
        </p:nvSpPr>
        <p:spPr>
          <a:xfrm>
            <a:off x="1481328" y="2240280"/>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Khai báo triệu chứng &amp; mức đau VAS, xem bài mẫu, tải video, nhận phản hồi sau đánh giá</a:t>
            </a:r>
            <a:endParaRPr lang="en-US" sz="1400" dirty="0"/>
          </a:p>
        </p:txBody>
      </p:sp>
      <p:sp>
        <p:nvSpPr>
          <p:cNvPr id="9" name="Shape 6"/>
          <p:cNvSpPr/>
          <p:nvPr/>
        </p:nvSpPr>
        <p:spPr>
          <a:xfrm>
            <a:off x="566928" y="2852928"/>
            <a:ext cx="6126480" cy="960120"/>
          </a:xfrm>
          <a:prstGeom prst="roundRect">
            <a:avLst>
              <a:gd name="adj" fmla="val 952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10" name="Shape 7"/>
          <p:cNvSpPr/>
          <p:nvPr/>
        </p:nvSpPr>
        <p:spPr>
          <a:xfrm>
            <a:off x="768096" y="3049524"/>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11" name="Image 1" descr="preencoded.png"/>
          <p:cNvPicPr>
            <a:picLocks noChangeAspect="1"/>
          </p:cNvPicPr>
          <p:nvPr/>
        </p:nvPicPr>
        <p:blipFill>
          <a:blip r:embed="rId4"/>
          <a:stretch>
            <a:fillRect/>
          </a:stretch>
        </p:blipFill>
        <p:spPr>
          <a:xfrm>
            <a:off x="909828" y="3191256"/>
            <a:ext cx="283464" cy="283464"/>
          </a:xfrm>
          <a:prstGeom prst="rect">
            <a:avLst/>
          </a:prstGeom>
        </p:spPr>
      </p:pic>
      <p:sp>
        <p:nvSpPr>
          <p:cNvPr id="12" name="Text 8"/>
          <p:cNvSpPr/>
          <p:nvPr/>
        </p:nvSpPr>
        <p:spPr>
          <a:xfrm>
            <a:off x="1481328" y="2962656"/>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Bác sĩ / Kỹ thuật viên PHCN</a:t>
            </a:r>
            <a:endParaRPr lang="en-US" sz="2000" dirty="0"/>
          </a:p>
        </p:txBody>
      </p:sp>
      <p:sp>
        <p:nvSpPr>
          <p:cNvPr id="13" name="Text 9"/>
          <p:cNvSpPr/>
          <p:nvPr/>
        </p:nvSpPr>
        <p:spPr>
          <a:xfrm>
            <a:off x="1481328" y="3310128"/>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Đối chiếu video gốc, overlay, biểu đồ góc khớp &amp; kết quả AI; nhập phiếu đánh giá chuyên môn</a:t>
            </a:r>
            <a:endParaRPr lang="en-US" sz="1400" dirty="0"/>
          </a:p>
        </p:txBody>
      </p:sp>
      <p:sp>
        <p:nvSpPr>
          <p:cNvPr id="14" name="Shape 10"/>
          <p:cNvSpPr/>
          <p:nvPr/>
        </p:nvSpPr>
        <p:spPr>
          <a:xfrm>
            <a:off x="566928" y="3922776"/>
            <a:ext cx="6126480" cy="960120"/>
          </a:xfrm>
          <a:prstGeom prst="roundRect">
            <a:avLst>
              <a:gd name="adj" fmla="val 9524"/>
            </a:avLst>
          </a:prstGeom>
          <a:solidFill>
            <a:srgbClr val="EAF4EE"/>
          </a:solidFill>
          <a:ln/>
          <a:effectLst>
            <a:outerShdw blurRad="114300" dist="50800" dir="5400000" algn="bl" rotWithShape="0">
              <a:srgbClr val="0B3322">
                <a:alpha val="13000"/>
              </a:srgbClr>
            </a:outerShdw>
          </a:effectLst>
        </p:spPr>
      </p:sp>
      <p:sp>
        <p:nvSpPr>
          <p:cNvPr id="15" name="Shape 11"/>
          <p:cNvSpPr/>
          <p:nvPr/>
        </p:nvSpPr>
        <p:spPr>
          <a:xfrm>
            <a:off x="768096" y="4119372"/>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16" name="Image 2" descr="preencoded.png"/>
          <p:cNvPicPr>
            <a:picLocks noChangeAspect="1"/>
          </p:cNvPicPr>
          <p:nvPr/>
        </p:nvPicPr>
        <p:blipFill>
          <a:blip r:embed="rId5"/>
          <a:stretch>
            <a:fillRect/>
          </a:stretch>
        </p:blipFill>
        <p:spPr>
          <a:xfrm>
            <a:off x="909828" y="4261104"/>
            <a:ext cx="283464" cy="283464"/>
          </a:xfrm>
          <a:prstGeom prst="rect">
            <a:avLst/>
          </a:prstGeom>
        </p:spPr>
      </p:pic>
      <p:sp>
        <p:nvSpPr>
          <p:cNvPr id="17" name="Text 12"/>
          <p:cNvSpPr/>
          <p:nvPr/>
        </p:nvSpPr>
        <p:spPr>
          <a:xfrm>
            <a:off x="1481328" y="4032504"/>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Nghiên cứu viên</a:t>
            </a:r>
            <a:endParaRPr lang="en-US" sz="2000" dirty="0"/>
          </a:p>
        </p:txBody>
      </p:sp>
      <p:sp>
        <p:nvSpPr>
          <p:cNvPr id="18" name="Text 13"/>
          <p:cNvSpPr/>
          <p:nvPr/>
        </p:nvSpPr>
        <p:spPr>
          <a:xfrm>
            <a:off x="1481328" y="4379976"/>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Phân tích &amp; trích xuất, cấu hình MediaPipe, dashboard định lượng + frame gallery</a:t>
            </a:r>
            <a:endParaRPr lang="en-US" sz="1400" dirty="0"/>
          </a:p>
        </p:txBody>
      </p:sp>
      <p:sp>
        <p:nvSpPr>
          <p:cNvPr id="19" name="Shape 14"/>
          <p:cNvSpPr/>
          <p:nvPr/>
        </p:nvSpPr>
        <p:spPr>
          <a:xfrm>
            <a:off x="566928" y="4992624"/>
            <a:ext cx="6126480" cy="960120"/>
          </a:xfrm>
          <a:prstGeom prst="roundRect">
            <a:avLst>
              <a:gd name="adj" fmla="val 9524"/>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0" name="Shape 15"/>
          <p:cNvSpPr/>
          <p:nvPr/>
        </p:nvSpPr>
        <p:spPr>
          <a:xfrm>
            <a:off x="768096" y="5189220"/>
            <a:ext cx="566928" cy="566928"/>
          </a:xfrm>
          <a:prstGeom prst="ellipse">
            <a:avLst/>
          </a:prstGeom>
          <a:solidFill>
            <a:srgbClr val="005F35"/>
          </a:solidFill>
          <a:ln/>
          <a:effectLst>
            <a:outerShdw blurRad="114300" dist="50800" dir="5400000" algn="bl" rotWithShape="0">
              <a:srgbClr val="0B3322">
                <a:alpha val="13000"/>
              </a:srgbClr>
            </a:outerShdw>
          </a:effectLst>
        </p:spPr>
      </p:sp>
      <p:pic>
        <p:nvPicPr>
          <p:cNvPr id="21" name="Image 3" descr="preencoded.png"/>
          <p:cNvPicPr>
            <a:picLocks noChangeAspect="1"/>
          </p:cNvPicPr>
          <p:nvPr/>
        </p:nvPicPr>
        <p:blipFill>
          <a:blip r:embed="rId6"/>
          <a:stretch>
            <a:fillRect/>
          </a:stretch>
        </p:blipFill>
        <p:spPr>
          <a:xfrm>
            <a:off x="909828" y="5330952"/>
            <a:ext cx="283464" cy="283464"/>
          </a:xfrm>
          <a:prstGeom prst="rect">
            <a:avLst/>
          </a:prstGeom>
        </p:spPr>
      </p:pic>
      <p:sp>
        <p:nvSpPr>
          <p:cNvPr id="22" name="Text 16"/>
          <p:cNvSpPr/>
          <p:nvPr/>
        </p:nvSpPr>
        <p:spPr>
          <a:xfrm>
            <a:off x="1481328" y="5102352"/>
            <a:ext cx="5074920" cy="365760"/>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Quản trị viên</a:t>
            </a:r>
            <a:endParaRPr lang="en-US" sz="2000" dirty="0"/>
          </a:p>
        </p:txBody>
      </p:sp>
      <p:sp>
        <p:nvSpPr>
          <p:cNvPr id="23" name="Text 17"/>
          <p:cNvSpPr/>
          <p:nvPr/>
        </p:nvSpPr>
        <p:spPr>
          <a:xfrm>
            <a:off x="1481328" y="5449824"/>
            <a:ext cx="5029200" cy="457200"/>
          </a:xfrm>
          <a:prstGeom prst="rect">
            <a:avLst/>
          </a:prstGeom>
          <a:noFill/>
          <a:ln/>
        </p:spPr>
        <p:txBody>
          <a:bodyPr wrap="square" lIns="0" tIns="0" rIns="0" bIns="0" rtlCol="0" anchor="t"/>
          <a:lstStyle/>
          <a:p>
            <a:pPr marL="0" indent="0">
              <a:lnSpc>
                <a:spcPct val="100000"/>
              </a:lnSpc>
              <a:buNone/>
            </a:pPr>
            <a:r>
              <a:rPr lang="en-US" sz="1400" dirty="0">
                <a:solidFill>
                  <a:srgbClr val="32463C"/>
                </a:solidFill>
                <a:latin typeface="Arial" pitchFamily="34" charset="0"/>
                <a:ea typeface="Arial" pitchFamily="34" charset="-122"/>
                <a:cs typeface="Arial" pitchFamily="34" charset="-120"/>
              </a:rPr>
              <a:t>Quản lý tài khoản, phân quyền, dữ liệu nghiên cứu &amp; trạng thái vận hành</a:t>
            </a:r>
            <a:endParaRPr lang="en-US" sz="1400" dirty="0"/>
          </a:p>
        </p:txBody>
      </p:sp>
      <p:sp>
        <p:nvSpPr>
          <p:cNvPr id="24" name="Shape 18"/>
          <p:cNvSpPr/>
          <p:nvPr/>
        </p:nvSpPr>
        <p:spPr>
          <a:xfrm>
            <a:off x="6903720" y="1389888"/>
            <a:ext cx="4736592" cy="2587752"/>
          </a:xfrm>
          <a:prstGeom prst="roundRect">
            <a:avLst>
              <a:gd name="adj" fmla="val 500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5" name="Image 4" descr="/tmp/assets/app_patient.png"/>
          <p:cNvPicPr>
            <a:picLocks noChangeAspect="1"/>
          </p:cNvPicPr>
          <p:nvPr/>
        </p:nvPicPr>
        <p:blipFill>
          <a:blip r:embed="rId7"/>
          <a:srcRect/>
          <a:stretch/>
        </p:blipFill>
        <p:spPr>
          <a:xfrm>
            <a:off x="6971323" y="1460070"/>
            <a:ext cx="4540973" cy="2352978"/>
          </a:xfrm>
          <a:prstGeom prst="rect">
            <a:avLst/>
          </a:prstGeom>
        </p:spPr>
      </p:pic>
      <p:sp>
        <p:nvSpPr>
          <p:cNvPr id="26" name="Text 19"/>
          <p:cNvSpPr/>
          <p:nvPr/>
        </p:nvSpPr>
        <p:spPr>
          <a:xfrm>
            <a:off x="7018020" y="3774987"/>
            <a:ext cx="4480560" cy="237744"/>
          </a:xfrm>
          <a:prstGeom prst="rect">
            <a:avLst/>
          </a:prstGeom>
          <a:noFill/>
          <a:ln/>
        </p:spPr>
        <p:txBody>
          <a:bodyPr wrap="square" lIns="0" tIns="0" rIns="0" bIns="0" rtlCol="0" anchor="ctr"/>
          <a:lstStyle/>
          <a:p>
            <a:pPr marL="0" indent="0" algn="ctr">
              <a:buNone/>
            </a:pPr>
            <a:r>
              <a:rPr lang="en-US" sz="1000" b="1" dirty="0">
                <a:solidFill>
                  <a:srgbClr val="005F35"/>
                </a:solidFill>
                <a:latin typeface="Arial" pitchFamily="34" charset="0"/>
                <a:ea typeface="Arial" pitchFamily="34" charset="-122"/>
                <a:cs typeface="Arial" pitchFamily="34" charset="-120"/>
              </a:rPr>
              <a:t>Giao diện bệnh nhân</a:t>
            </a:r>
            <a:endParaRPr lang="en-US" sz="1000" dirty="0"/>
          </a:p>
        </p:txBody>
      </p:sp>
      <p:sp>
        <p:nvSpPr>
          <p:cNvPr id="27" name="Shape 20"/>
          <p:cNvSpPr/>
          <p:nvPr/>
        </p:nvSpPr>
        <p:spPr>
          <a:xfrm>
            <a:off x="6903720" y="4114800"/>
            <a:ext cx="4736592" cy="2231136"/>
          </a:xfrm>
          <a:prstGeom prst="roundRect">
            <a:avLst>
              <a:gd name="adj" fmla="val 6250"/>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28" name="Image 5" descr="/tmp/assets/app_doctor.png"/>
          <p:cNvPicPr>
            <a:picLocks noChangeAspect="1"/>
          </p:cNvPicPr>
          <p:nvPr/>
        </p:nvPicPr>
        <p:blipFill>
          <a:blip r:embed="rId8"/>
          <a:srcRect/>
          <a:stretch/>
        </p:blipFill>
        <p:spPr>
          <a:xfrm>
            <a:off x="6903720" y="4149891"/>
            <a:ext cx="4709160" cy="2058885"/>
          </a:xfrm>
          <a:prstGeom prst="rect">
            <a:avLst/>
          </a:prstGeom>
        </p:spPr>
      </p:pic>
      <p:sp>
        <p:nvSpPr>
          <p:cNvPr id="29" name="Text 21"/>
          <p:cNvSpPr/>
          <p:nvPr/>
        </p:nvSpPr>
        <p:spPr>
          <a:xfrm>
            <a:off x="7031736" y="6181344"/>
            <a:ext cx="4480560" cy="167562"/>
          </a:xfrm>
          <a:prstGeom prst="rect">
            <a:avLst/>
          </a:prstGeom>
          <a:noFill/>
          <a:ln/>
        </p:spPr>
        <p:txBody>
          <a:bodyPr wrap="square" lIns="0" tIns="0" rIns="0" bIns="0" rtlCol="0" anchor="ctr"/>
          <a:lstStyle/>
          <a:p>
            <a:pPr marL="0" indent="0" algn="ctr">
              <a:buNone/>
            </a:pPr>
            <a:r>
              <a:rPr lang="en-US" sz="950" b="1" dirty="0">
                <a:solidFill>
                  <a:srgbClr val="005F35"/>
                </a:solidFill>
                <a:latin typeface="Arial" pitchFamily="34" charset="0"/>
                <a:ea typeface="Arial" pitchFamily="34" charset="-122"/>
                <a:cs typeface="Arial" pitchFamily="34" charset="-120"/>
              </a:rPr>
              <a:t>Giao diện bác sĩ / kỹ thuật viên PHCN</a:t>
            </a:r>
            <a:endParaRPr lang="en-US" sz="950" dirty="0"/>
          </a:p>
        </p:txBody>
      </p:sp>
      <p:pic>
        <p:nvPicPr>
          <p:cNvPr id="30" name="Image 6" descr="/tmp/assets/huph_logo.png"/>
          <p:cNvPicPr>
            <a:picLocks noChangeAspect="1"/>
          </p:cNvPicPr>
          <p:nvPr/>
        </p:nvPicPr>
        <p:blipFill>
          <a:blip r:embed="rId9"/>
          <a:stretch>
            <a:fillRect/>
          </a:stretch>
        </p:blipFill>
        <p:spPr>
          <a:xfrm>
            <a:off x="566928" y="6419088"/>
            <a:ext cx="310896" cy="310896"/>
          </a:xfrm>
          <a:prstGeom prst="rect">
            <a:avLst/>
          </a:prstGeom>
        </p:spPr>
      </p:pic>
      <p:sp>
        <p:nvSpPr>
          <p:cNvPr id="31" name="Text 22"/>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32" name="Text 23"/>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14 / 19</a:t>
            </a:r>
            <a:endParaRPr lang="en-US" sz="850" dirty="0"/>
          </a:p>
        </p:txBody>
      </p:sp>
      <p:pic>
        <p:nvPicPr>
          <p:cNvPr id="33" name="Image 0" descr="/tmp/assets/qr_web.png">
            <a:extLst>
              <a:ext uri="{FF2B5EF4-FFF2-40B4-BE49-F238E27FC236}">
                <a16:creationId xmlns:a16="http://schemas.microsoft.com/office/drawing/2014/main" id="{F55C72C9-722F-3210-1383-A3DF278A49ED}"/>
              </a:ext>
            </a:extLst>
          </p:cNvPr>
          <p:cNvPicPr>
            <a:picLocks noChangeAspect="1"/>
          </p:cNvPicPr>
          <p:nvPr/>
        </p:nvPicPr>
        <p:blipFill>
          <a:blip r:embed="rId10"/>
          <a:stretch>
            <a:fillRect/>
          </a:stretch>
        </p:blipFill>
        <p:spPr>
          <a:xfrm>
            <a:off x="10689336" y="146304"/>
            <a:ext cx="1170432" cy="11704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Quy trình sử dụng hệ thống theo vai trò</a:t>
            </a:r>
            <a:endParaRPr lang="en-US" sz="2900" dirty="0"/>
          </a:p>
        </p:txBody>
      </p:sp>
      <p:sp>
        <p:nvSpPr>
          <p:cNvPr id="4" name="Shape 2"/>
          <p:cNvSpPr/>
          <p:nvPr/>
        </p:nvSpPr>
        <p:spPr>
          <a:xfrm>
            <a:off x="566928" y="1664208"/>
            <a:ext cx="11064240" cy="768096"/>
          </a:xfrm>
          <a:prstGeom prst="roundRect">
            <a:avLst>
              <a:gd name="adj" fmla="val 14286"/>
            </a:avLst>
          </a:prstGeom>
          <a:solidFill>
            <a:srgbClr val="005F35"/>
          </a:solidFill>
          <a:ln/>
          <a:effectLst>
            <a:outerShdw blurRad="114300" dist="50800" dir="5400000" algn="bl" rotWithShape="0">
              <a:srgbClr val="0B3322">
                <a:alpha val="13000"/>
              </a:srgbClr>
            </a:outerShdw>
          </a:effectLst>
        </p:spPr>
      </p:sp>
      <p:sp>
        <p:nvSpPr>
          <p:cNvPr id="5" name="Shape 3"/>
          <p:cNvSpPr/>
          <p:nvPr/>
        </p:nvSpPr>
        <p:spPr>
          <a:xfrm>
            <a:off x="841248" y="1801368"/>
            <a:ext cx="493776" cy="493776"/>
          </a:xfrm>
          <a:prstGeom prst="ellipse">
            <a:avLst/>
          </a:prstGeom>
          <a:solidFill>
            <a:srgbClr val="FFFFFF"/>
          </a:solidFill>
          <a:ln/>
          <a:effectLst>
            <a:outerShdw blurRad="114300" dist="50800" dir="5400000" algn="bl" rotWithShape="0">
              <a:srgbClr val="0B3322">
                <a:alpha val="13000"/>
              </a:srgbClr>
            </a:outerShdw>
          </a:effectLst>
        </p:spPr>
      </p:sp>
      <p:pic>
        <p:nvPicPr>
          <p:cNvPr id="6" name="Image 0" descr="preencoded.png"/>
          <p:cNvPicPr>
            <a:picLocks noChangeAspect="1"/>
          </p:cNvPicPr>
          <p:nvPr/>
        </p:nvPicPr>
        <p:blipFill>
          <a:blip r:embed="rId3"/>
          <a:stretch>
            <a:fillRect/>
          </a:stretch>
        </p:blipFill>
        <p:spPr>
          <a:xfrm>
            <a:off x="959754" y="1919874"/>
            <a:ext cx="256764" cy="256764"/>
          </a:xfrm>
          <a:prstGeom prst="rect">
            <a:avLst/>
          </a:prstGeom>
        </p:spPr>
      </p:pic>
      <p:sp>
        <p:nvSpPr>
          <p:cNvPr id="7" name="Text 4"/>
          <p:cNvSpPr/>
          <p:nvPr/>
        </p:nvSpPr>
        <p:spPr>
          <a:xfrm>
            <a:off x="1481328" y="1664208"/>
            <a:ext cx="9966960" cy="768096"/>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1   Bệnh nhân  </a:t>
            </a:r>
            <a:r>
              <a:rPr lang="en-US" sz="1600" dirty="0">
                <a:solidFill>
                  <a:srgbClr val="EAF6EF"/>
                </a:solidFill>
                <a:latin typeface="Arial" pitchFamily="34" charset="0"/>
                <a:ea typeface="Arial" pitchFamily="34" charset="-122"/>
                <a:cs typeface="Arial" pitchFamily="34" charset="-120"/>
              </a:rPr>
              <a:t>— tải video bài tập lên hệ thống web và bấm “Gửi”</a:t>
            </a:r>
            <a:endParaRPr lang="en-US" sz="2400" dirty="0"/>
          </a:p>
        </p:txBody>
      </p:sp>
      <p:sp>
        <p:nvSpPr>
          <p:cNvPr id="8" name="Shape 5"/>
          <p:cNvSpPr/>
          <p:nvPr/>
        </p:nvSpPr>
        <p:spPr>
          <a:xfrm>
            <a:off x="2194560" y="2542032"/>
            <a:ext cx="7799832" cy="402336"/>
          </a:xfrm>
          <a:prstGeom prst="roundRect">
            <a:avLst>
              <a:gd name="adj" fmla="val 50000"/>
            </a:avLst>
          </a:prstGeom>
          <a:solidFill>
            <a:srgbClr val="DCEDE3"/>
          </a:solidFill>
          <a:ln/>
        </p:spPr>
      </p:sp>
      <p:sp>
        <p:nvSpPr>
          <p:cNvPr id="9" name="Text 6"/>
          <p:cNvSpPr/>
          <p:nvPr/>
        </p:nvSpPr>
        <p:spPr>
          <a:xfrm>
            <a:off x="2194560" y="2542032"/>
            <a:ext cx="7799832" cy="402336"/>
          </a:xfrm>
          <a:prstGeom prst="rect">
            <a:avLst/>
          </a:prstGeom>
          <a:noFill/>
          <a:ln/>
        </p:spPr>
        <p:txBody>
          <a:bodyPr wrap="square" lIns="0" tIns="0" rIns="0" bIns="0" rtlCol="0" anchor="ctr"/>
          <a:lstStyle/>
          <a:p>
            <a:pPr marL="0" indent="0" algn="ctr">
              <a:buNone/>
            </a:pPr>
            <a:r>
              <a:rPr lang="en-US" sz="1600" b="1" dirty="0">
                <a:solidFill>
                  <a:srgbClr val="005F35"/>
                </a:solidFill>
                <a:latin typeface="Arial" pitchFamily="34" charset="0"/>
                <a:ea typeface="Arial" pitchFamily="34" charset="-122"/>
                <a:cs typeface="Arial" pitchFamily="34" charset="-120"/>
              </a:rPr>
              <a:t>2   Khi bấm Gửi → </a:t>
            </a:r>
            <a:r>
              <a:rPr lang="en-US" sz="1600" dirty="0">
                <a:solidFill>
                  <a:srgbClr val="13241B"/>
                </a:solidFill>
                <a:latin typeface="Arial" pitchFamily="34" charset="0"/>
                <a:ea typeface="Arial" pitchFamily="34" charset="-122"/>
                <a:cs typeface="Arial" pitchFamily="34" charset="-120"/>
              </a:rPr>
              <a:t>đồng thời chuyển tới Bác sĩ / Kỹ thuật viên và Nghiên cứu viên</a:t>
            </a:r>
            <a:endParaRPr lang="en-US" sz="1600" dirty="0"/>
          </a:p>
        </p:txBody>
      </p:sp>
      <p:sp>
        <p:nvSpPr>
          <p:cNvPr id="10" name="Text 7"/>
          <p:cNvSpPr/>
          <p:nvPr/>
        </p:nvSpPr>
        <p:spPr>
          <a:xfrm>
            <a:off x="2907792" y="2926080"/>
            <a:ext cx="640080" cy="310896"/>
          </a:xfrm>
          <a:prstGeom prst="rect">
            <a:avLst/>
          </a:prstGeom>
          <a:noFill/>
          <a:ln/>
        </p:spPr>
        <p:txBody>
          <a:bodyPr wrap="square" lIns="0" tIns="0" rIns="0" bIns="0" rtlCol="0" anchor="ctr"/>
          <a:lstStyle/>
          <a:p>
            <a:pPr marL="0" indent="0" algn="ctr">
              <a:buNone/>
            </a:pPr>
            <a:r>
              <a:rPr lang="en-US" sz="1800" b="1" dirty="0">
                <a:solidFill>
                  <a:srgbClr val="0C8A52"/>
                </a:solidFill>
                <a:latin typeface="Arial" pitchFamily="34" charset="0"/>
                <a:ea typeface="Arial" pitchFamily="34" charset="-122"/>
                <a:cs typeface="Arial" pitchFamily="34" charset="-120"/>
              </a:rPr>
              <a:t>▼</a:t>
            </a:r>
            <a:endParaRPr lang="en-US" sz="1800" dirty="0"/>
          </a:p>
        </p:txBody>
      </p:sp>
      <p:sp>
        <p:nvSpPr>
          <p:cNvPr id="11" name="Text 8"/>
          <p:cNvSpPr/>
          <p:nvPr/>
        </p:nvSpPr>
        <p:spPr>
          <a:xfrm>
            <a:off x="8668512" y="2926080"/>
            <a:ext cx="640080" cy="310896"/>
          </a:xfrm>
          <a:prstGeom prst="rect">
            <a:avLst/>
          </a:prstGeom>
          <a:noFill/>
          <a:ln/>
        </p:spPr>
        <p:txBody>
          <a:bodyPr wrap="square" lIns="0" tIns="0" rIns="0" bIns="0" rtlCol="0" anchor="ctr"/>
          <a:lstStyle/>
          <a:p>
            <a:pPr marL="0" indent="0" algn="ctr">
              <a:buNone/>
            </a:pPr>
            <a:r>
              <a:rPr lang="en-US" sz="1800" b="1" dirty="0">
                <a:solidFill>
                  <a:srgbClr val="0C8A52"/>
                </a:solidFill>
                <a:latin typeface="Arial" pitchFamily="34" charset="0"/>
                <a:ea typeface="Arial" pitchFamily="34" charset="-122"/>
                <a:cs typeface="Arial" pitchFamily="34" charset="-120"/>
              </a:rPr>
              <a:t>▼</a:t>
            </a:r>
            <a:endParaRPr lang="en-US" sz="1800" dirty="0"/>
          </a:p>
        </p:txBody>
      </p:sp>
      <p:sp>
        <p:nvSpPr>
          <p:cNvPr id="12" name="Shape 9"/>
          <p:cNvSpPr/>
          <p:nvPr/>
        </p:nvSpPr>
        <p:spPr>
          <a:xfrm>
            <a:off x="566928" y="3291840"/>
            <a:ext cx="5413248" cy="2029968"/>
          </a:xfrm>
          <a:prstGeom prst="roundRect">
            <a:avLst>
              <a:gd name="adj" fmla="val 5405"/>
            </a:avLst>
          </a:prstGeom>
          <a:solidFill>
            <a:srgbClr val="EAF4EE"/>
          </a:solidFill>
          <a:ln/>
          <a:effectLst>
            <a:outerShdw blurRad="114300" dist="50800" dir="5400000" algn="bl" rotWithShape="0">
              <a:srgbClr val="0B3322">
                <a:alpha val="13000"/>
              </a:srgbClr>
            </a:outerShdw>
          </a:effectLst>
        </p:spPr>
      </p:sp>
      <p:sp>
        <p:nvSpPr>
          <p:cNvPr id="13" name="Shape 10"/>
          <p:cNvSpPr/>
          <p:nvPr/>
        </p:nvSpPr>
        <p:spPr>
          <a:xfrm>
            <a:off x="777240" y="3419856"/>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14" name="Image 1" descr="preencoded.png"/>
          <p:cNvPicPr>
            <a:picLocks noChangeAspect="1"/>
          </p:cNvPicPr>
          <p:nvPr/>
        </p:nvPicPr>
        <p:blipFill>
          <a:blip r:embed="rId4"/>
          <a:stretch>
            <a:fillRect/>
          </a:stretch>
        </p:blipFill>
        <p:spPr>
          <a:xfrm>
            <a:off x="886968" y="3529584"/>
            <a:ext cx="237744" cy="237744"/>
          </a:xfrm>
          <a:prstGeom prst="rect">
            <a:avLst/>
          </a:prstGeom>
        </p:spPr>
      </p:pic>
      <p:sp>
        <p:nvSpPr>
          <p:cNvPr id="15" name="Text 11"/>
          <p:cNvSpPr/>
          <p:nvPr/>
        </p:nvSpPr>
        <p:spPr>
          <a:xfrm>
            <a:off x="1325880" y="3383280"/>
            <a:ext cx="3950208" cy="310896"/>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3a   Nghiên cứu viên</a:t>
            </a:r>
            <a:endParaRPr lang="en-US" sz="2000" dirty="0"/>
          </a:p>
        </p:txBody>
      </p:sp>
      <p:sp>
        <p:nvSpPr>
          <p:cNvPr id="16" name="Text 12"/>
          <p:cNvSpPr/>
          <p:nvPr/>
        </p:nvSpPr>
        <p:spPr>
          <a:xfrm>
            <a:off x="1325880" y="3694176"/>
            <a:ext cx="3950208" cy="237744"/>
          </a:xfrm>
          <a:prstGeom prst="rect">
            <a:avLst/>
          </a:prstGeom>
          <a:noFill/>
          <a:ln/>
        </p:spPr>
        <p:txBody>
          <a:bodyPr wrap="square" lIns="0" tIns="0" rIns="0" bIns="0" rtlCol="0" anchor="ctr"/>
          <a:lstStyle/>
          <a:p>
            <a:pPr marL="0" indent="0">
              <a:buNone/>
            </a:pPr>
            <a:r>
              <a:rPr lang="en-US" sz="1050" i="1" dirty="0">
                <a:solidFill>
                  <a:srgbClr val="0C8A52"/>
                </a:solidFill>
                <a:latin typeface="Arial" pitchFamily="34" charset="0"/>
                <a:ea typeface="Arial" pitchFamily="34" charset="-122"/>
                <a:cs typeface="Arial" pitchFamily="34" charset="-120"/>
              </a:rPr>
              <a:t>Luồng phân tích</a:t>
            </a:r>
            <a:endParaRPr lang="en-US" sz="1050" dirty="0"/>
          </a:p>
        </p:txBody>
      </p:sp>
      <p:sp>
        <p:nvSpPr>
          <p:cNvPr id="17" name="Shape 13"/>
          <p:cNvSpPr/>
          <p:nvPr/>
        </p:nvSpPr>
        <p:spPr>
          <a:xfrm>
            <a:off x="932688" y="4160520"/>
            <a:ext cx="0" cy="786384"/>
          </a:xfrm>
          <a:prstGeom prst="line">
            <a:avLst/>
          </a:prstGeom>
          <a:noFill/>
          <a:ln w="19050">
            <a:solidFill>
              <a:srgbClr val="B7D6C6"/>
            </a:solidFill>
            <a:prstDash val="solid"/>
          </a:ln>
        </p:spPr>
      </p:sp>
      <p:sp>
        <p:nvSpPr>
          <p:cNvPr id="18" name="Shape 14"/>
          <p:cNvSpPr/>
          <p:nvPr/>
        </p:nvSpPr>
        <p:spPr>
          <a:xfrm>
            <a:off x="777240" y="4041648"/>
            <a:ext cx="310896" cy="310896"/>
          </a:xfrm>
          <a:prstGeom prst="ellipse">
            <a:avLst/>
          </a:prstGeom>
          <a:solidFill>
            <a:srgbClr val="005F35"/>
          </a:solidFill>
          <a:ln/>
        </p:spPr>
      </p:sp>
      <p:sp>
        <p:nvSpPr>
          <p:cNvPr id="19" name="Text 15"/>
          <p:cNvSpPr/>
          <p:nvPr/>
        </p:nvSpPr>
        <p:spPr>
          <a:xfrm>
            <a:off x="777240" y="40416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0" name="Text 16"/>
          <p:cNvSpPr/>
          <p:nvPr/>
        </p:nvSpPr>
        <p:spPr>
          <a:xfrm>
            <a:off x="1216152" y="3995928"/>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Chạy MediaPipe Pose — 33 điểm mốc</a:t>
            </a:r>
            <a:endParaRPr lang="en-US" sz="1400" dirty="0"/>
          </a:p>
        </p:txBody>
      </p:sp>
      <p:sp>
        <p:nvSpPr>
          <p:cNvPr id="21" name="Shape 17"/>
          <p:cNvSpPr/>
          <p:nvPr/>
        </p:nvSpPr>
        <p:spPr>
          <a:xfrm>
            <a:off x="777240" y="4425696"/>
            <a:ext cx="310896" cy="310896"/>
          </a:xfrm>
          <a:prstGeom prst="ellipse">
            <a:avLst/>
          </a:prstGeom>
          <a:solidFill>
            <a:srgbClr val="005F35"/>
          </a:solidFill>
          <a:ln/>
        </p:spPr>
      </p:sp>
      <p:sp>
        <p:nvSpPr>
          <p:cNvPr id="22" name="Text 18"/>
          <p:cNvSpPr/>
          <p:nvPr/>
        </p:nvSpPr>
        <p:spPr>
          <a:xfrm>
            <a:off x="777240" y="4425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3" name="Text 19"/>
          <p:cNvSpPr/>
          <p:nvPr/>
        </p:nvSpPr>
        <p:spPr>
          <a:xfrm>
            <a:off x="1216152" y="4379976"/>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Tính góc vai / khuỷu theo khung hình</a:t>
            </a:r>
            <a:endParaRPr lang="en-US" sz="1400" dirty="0"/>
          </a:p>
        </p:txBody>
      </p:sp>
      <p:sp>
        <p:nvSpPr>
          <p:cNvPr id="24" name="Shape 20"/>
          <p:cNvSpPr/>
          <p:nvPr/>
        </p:nvSpPr>
        <p:spPr>
          <a:xfrm>
            <a:off x="777240" y="4809744"/>
            <a:ext cx="310896" cy="310896"/>
          </a:xfrm>
          <a:prstGeom prst="ellipse">
            <a:avLst/>
          </a:prstGeom>
          <a:solidFill>
            <a:srgbClr val="005F35"/>
          </a:solidFill>
          <a:ln/>
        </p:spPr>
      </p:sp>
      <p:sp>
        <p:nvSpPr>
          <p:cNvPr id="25" name="Text 21"/>
          <p:cNvSpPr/>
          <p:nvPr/>
        </p:nvSpPr>
        <p:spPr>
          <a:xfrm>
            <a:off x="777240" y="48097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6" name="Text 22"/>
          <p:cNvSpPr/>
          <p:nvPr/>
        </p:nvSpPr>
        <p:spPr>
          <a:xfrm>
            <a:off x="1216152" y="4764024"/>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REF + Random Forest → phân loại frame</a:t>
            </a:r>
            <a:endParaRPr lang="en-US" sz="1400" dirty="0"/>
          </a:p>
        </p:txBody>
      </p:sp>
      <p:sp>
        <p:nvSpPr>
          <p:cNvPr id="27" name="Shape 23"/>
          <p:cNvSpPr/>
          <p:nvPr/>
        </p:nvSpPr>
        <p:spPr>
          <a:xfrm>
            <a:off x="6217920" y="3291840"/>
            <a:ext cx="5413248" cy="2029968"/>
          </a:xfrm>
          <a:prstGeom prst="roundRect">
            <a:avLst>
              <a:gd name="adj" fmla="val 5405"/>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sp>
        <p:nvSpPr>
          <p:cNvPr id="28" name="Shape 24"/>
          <p:cNvSpPr/>
          <p:nvPr/>
        </p:nvSpPr>
        <p:spPr>
          <a:xfrm>
            <a:off x="6428232" y="3419856"/>
            <a:ext cx="457200" cy="457200"/>
          </a:xfrm>
          <a:prstGeom prst="ellipse">
            <a:avLst/>
          </a:prstGeom>
          <a:solidFill>
            <a:srgbClr val="005F35"/>
          </a:solidFill>
          <a:ln/>
          <a:effectLst>
            <a:outerShdw blurRad="114300" dist="50800" dir="5400000" algn="bl" rotWithShape="0">
              <a:srgbClr val="0B3322">
                <a:alpha val="13000"/>
              </a:srgbClr>
            </a:outerShdw>
          </a:effectLst>
        </p:spPr>
      </p:sp>
      <p:pic>
        <p:nvPicPr>
          <p:cNvPr id="29" name="Image 2" descr="preencoded.png"/>
          <p:cNvPicPr>
            <a:picLocks noChangeAspect="1"/>
          </p:cNvPicPr>
          <p:nvPr/>
        </p:nvPicPr>
        <p:blipFill>
          <a:blip r:embed="rId5"/>
          <a:stretch>
            <a:fillRect/>
          </a:stretch>
        </p:blipFill>
        <p:spPr>
          <a:xfrm>
            <a:off x="6537960" y="3529584"/>
            <a:ext cx="237744" cy="237744"/>
          </a:xfrm>
          <a:prstGeom prst="rect">
            <a:avLst/>
          </a:prstGeom>
        </p:spPr>
      </p:pic>
      <p:sp>
        <p:nvSpPr>
          <p:cNvPr id="30" name="Text 25"/>
          <p:cNvSpPr/>
          <p:nvPr/>
        </p:nvSpPr>
        <p:spPr>
          <a:xfrm>
            <a:off x="6976872" y="3383280"/>
            <a:ext cx="3950208" cy="310896"/>
          </a:xfrm>
          <a:prstGeom prst="rect">
            <a:avLst/>
          </a:prstGeom>
          <a:noFill/>
          <a:ln/>
        </p:spPr>
        <p:txBody>
          <a:bodyPr wrap="square" lIns="0" tIns="0" rIns="0" bIns="0" rtlCol="0" anchor="ctr"/>
          <a:lstStyle/>
          <a:p>
            <a:pPr marL="0" indent="0">
              <a:buNone/>
            </a:pPr>
            <a:r>
              <a:rPr lang="en-US" sz="2000" b="1" dirty="0">
                <a:solidFill>
                  <a:srgbClr val="005F35"/>
                </a:solidFill>
                <a:latin typeface="Arial" pitchFamily="34" charset="0"/>
                <a:ea typeface="Arial" pitchFamily="34" charset="-122"/>
                <a:cs typeface="Arial" pitchFamily="34" charset="-120"/>
              </a:rPr>
              <a:t>3b   Bác sĩ / Kỹ thuật viên</a:t>
            </a:r>
            <a:endParaRPr lang="en-US" sz="2000" dirty="0"/>
          </a:p>
        </p:txBody>
      </p:sp>
      <p:sp>
        <p:nvSpPr>
          <p:cNvPr id="31" name="Text 26"/>
          <p:cNvSpPr/>
          <p:nvPr/>
        </p:nvSpPr>
        <p:spPr>
          <a:xfrm>
            <a:off x="6976872" y="3694176"/>
            <a:ext cx="3950208" cy="237744"/>
          </a:xfrm>
          <a:prstGeom prst="rect">
            <a:avLst/>
          </a:prstGeom>
          <a:noFill/>
          <a:ln/>
        </p:spPr>
        <p:txBody>
          <a:bodyPr wrap="square" lIns="0" tIns="0" rIns="0" bIns="0" rtlCol="0" anchor="ctr"/>
          <a:lstStyle/>
          <a:p>
            <a:pPr marL="0" indent="0">
              <a:buNone/>
            </a:pPr>
            <a:r>
              <a:rPr lang="en-US" sz="1050" i="1" dirty="0">
                <a:solidFill>
                  <a:srgbClr val="0C8A52"/>
                </a:solidFill>
                <a:latin typeface="Arial" pitchFamily="34" charset="0"/>
                <a:ea typeface="Arial" pitchFamily="34" charset="-122"/>
                <a:cs typeface="Arial" pitchFamily="34" charset="-120"/>
              </a:rPr>
              <a:t>Luồng đánh giá đối chiếu</a:t>
            </a:r>
            <a:endParaRPr lang="en-US" sz="1050" dirty="0"/>
          </a:p>
        </p:txBody>
      </p:sp>
      <p:sp>
        <p:nvSpPr>
          <p:cNvPr id="32" name="Shape 27"/>
          <p:cNvSpPr/>
          <p:nvPr/>
        </p:nvSpPr>
        <p:spPr>
          <a:xfrm>
            <a:off x="6583680" y="4160520"/>
            <a:ext cx="0" cy="786384"/>
          </a:xfrm>
          <a:prstGeom prst="line">
            <a:avLst/>
          </a:prstGeom>
          <a:noFill/>
          <a:ln w="19050">
            <a:solidFill>
              <a:srgbClr val="D9E6DE"/>
            </a:solidFill>
            <a:prstDash val="solid"/>
          </a:ln>
        </p:spPr>
      </p:sp>
      <p:sp>
        <p:nvSpPr>
          <p:cNvPr id="33" name="Shape 28"/>
          <p:cNvSpPr/>
          <p:nvPr/>
        </p:nvSpPr>
        <p:spPr>
          <a:xfrm>
            <a:off x="6428232" y="4041648"/>
            <a:ext cx="310896" cy="310896"/>
          </a:xfrm>
          <a:prstGeom prst="ellipse">
            <a:avLst/>
          </a:prstGeom>
          <a:solidFill>
            <a:srgbClr val="005F35"/>
          </a:solidFill>
          <a:ln/>
        </p:spPr>
      </p:sp>
      <p:sp>
        <p:nvSpPr>
          <p:cNvPr id="34" name="Text 29"/>
          <p:cNvSpPr/>
          <p:nvPr/>
        </p:nvSpPr>
        <p:spPr>
          <a:xfrm>
            <a:off x="6428232" y="404164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5" name="Text 30"/>
          <p:cNvSpPr/>
          <p:nvPr/>
        </p:nvSpPr>
        <p:spPr>
          <a:xfrm>
            <a:off x="6867144" y="3995928"/>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Xem video gốc + overlay + biểu đồ góc</a:t>
            </a:r>
            <a:endParaRPr lang="en-US" sz="1400" dirty="0"/>
          </a:p>
        </p:txBody>
      </p:sp>
      <p:sp>
        <p:nvSpPr>
          <p:cNvPr id="36" name="Shape 31"/>
          <p:cNvSpPr/>
          <p:nvPr/>
        </p:nvSpPr>
        <p:spPr>
          <a:xfrm>
            <a:off x="6428232" y="4425696"/>
            <a:ext cx="310896" cy="310896"/>
          </a:xfrm>
          <a:prstGeom prst="ellipse">
            <a:avLst/>
          </a:prstGeom>
          <a:solidFill>
            <a:srgbClr val="005F35"/>
          </a:solidFill>
          <a:ln/>
        </p:spPr>
      </p:sp>
      <p:sp>
        <p:nvSpPr>
          <p:cNvPr id="37" name="Text 32"/>
          <p:cNvSpPr/>
          <p:nvPr/>
        </p:nvSpPr>
        <p:spPr>
          <a:xfrm>
            <a:off x="6428232" y="442569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8" name="Text 33"/>
          <p:cNvSpPr/>
          <p:nvPr/>
        </p:nvSpPr>
        <p:spPr>
          <a:xfrm>
            <a:off x="6867144" y="4379976"/>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Đối chiếu với quan sát lâm sàng</a:t>
            </a:r>
            <a:endParaRPr lang="en-US" sz="1400" dirty="0"/>
          </a:p>
        </p:txBody>
      </p:sp>
      <p:sp>
        <p:nvSpPr>
          <p:cNvPr id="39" name="Shape 34"/>
          <p:cNvSpPr/>
          <p:nvPr/>
        </p:nvSpPr>
        <p:spPr>
          <a:xfrm>
            <a:off x="6428232" y="4809744"/>
            <a:ext cx="310896" cy="310896"/>
          </a:xfrm>
          <a:prstGeom prst="ellipse">
            <a:avLst/>
          </a:prstGeom>
          <a:solidFill>
            <a:srgbClr val="005F35"/>
          </a:solidFill>
          <a:ln/>
        </p:spPr>
      </p:sp>
      <p:sp>
        <p:nvSpPr>
          <p:cNvPr id="40" name="Text 35"/>
          <p:cNvSpPr/>
          <p:nvPr/>
        </p:nvSpPr>
        <p:spPr>
          <a:xfrm>
            <a:off x="6428232" y="48097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1" name="Text 36"/>
          <p:cNvSpPr/>
          <p:nvPr/>
        </p:nvSpPr>
        <p:spPr>
          <a:xfrm>
            <a:off x="6867144" y="4764024"/>
            <a:ext cx="4562856" cy="402336"/>
          </a:xfrm>
          <a:prstGeom prst="rect">
            <a:avLst/>
          </a:prstGeom>
          <a:noFill/>
          <a:ln/>
        </p:spPr>
        <p:txBody>
          <a:bodyPr wrap="square" lIns="0" tIns="0" rIns="0" bIns="0" rtlCol="0" anchor="ctr"/>
          <a:lstStyle/>
          <a:p>
            <a:pPr marL="0" indent="0">
              <a:lnSpc>
                <a:spcPct val="98000"/>
              </a:lnSpc>
              <a:buNone/>
            </a:pPr>
            <a:r>
              <a:rPr lang="en-US" sz="1400" dirty="0">
                <a:solidFill>
                  <a:srgbClr val="13241B"/>
                </a:solidFill>
                <a:latin typeface="Arial" pitchFamily="34" charset="0"/>
                <a:ea typeface="Arial" pitchFamily="34" charset="-122"/>
                <a:cs typeface="Arial" pitchFamily="34" charset="-120"/>
              </a:rPr>
              <a:t>Nhập phiếu: Đúng / Gần đúng / Sai + lỗi</a:t>
            </a:r>
            <a:endParaRPr lang="en-US" sz="1400" dirty="0"/>
          </a:p>
        </p:txBody>
      </p:sp>
      <p:sp>
        <p:nvSpPr>
          <p:cNvPr id="42" name="Shape 37"/>
          <p:cNvSpPr/>
          <p:nvPr/>
        </p:nvSpPr>
        <p:spPr>
          <a:xfrm>
            <a:off x="566928" y="5449824"/>
            <a:ext cx="11064240" cy="420624"/>
          </a:xfrm>
          <a:prstGeom prst="roundRect">
            <a:avLst>
              <a:gd name="adj" fmla="val 21739"/>
            </a:avLst>
          </a:prstGeom>
          <a:solidFill>
            <a:srgbClr val="06371F"/>
          </a:solidFill>
          <a:ln/>
        </p:spPr>
      </p:sp>
      <p:pic>
        <p:nvPicPr>
          <p:cNvPr id="43" name="Image 3" descr="preencoded.png"/>
          <p:cNvPicPr>
            <a:picLocks noChangeAspect="1"/>
          </p:cNvPicPr>
          <p:nvPr/>
        </p:nvPicPr>
        <p:blipFill>
          <a:blip r:embed="rId6"/>
          <a:stretch>
            <a:fillRect/>
          </a:stretch>
        </p:blipFill>
        <p:spPr>
          <a:xfrm>
            <a:off x="786384" y="5532120"/>
            <a:ext cx="256032" cy="256032"/>
          </a:xfrm>
          <a:prstGeom prst="rect">
            <a:avLst/>
          </a:prstGeom>
        </p:spPr>
      </p:pic>
      <p:sp>
        <p:nvSpPr>
          <p:cNvPr id="44" name="Text 38"/>
          <p:cNvSpPr/>
          <p:nvPr/>
        </p:nvSpPr>
        <p:spPr>
          <a:xfrm>
            <a:off x="1152144" y="5449824"/>
            <a:ext cx="10241280" cy="420624"/>
          </a:xfrm>
          <a:prstGeom prst="rect">
            <a:avLst/>
          </a:prstGeom>
          <a:noFill/>
          <a:ln/>
        </p:spPr>
        <p:txBody>
          <a:bodyPr wrap="square" lIns="0" tIns="0" rIns="0" bIns="0" rtlCol="0" anchor="ctr"/>
          <a:lstStyle/>
          <a:p>
            <a:pPr marL="0" indent="0">
              <a:buNone/>
            </a:pPr>
            <a:r>
              <a:rPr lang="en-US" sz="1200" b="1" dirty="0">
                <a:solidFill>
                  <a:srgbClr val="C98A1E"/>
                </a:solidFill>
                <a:latin typeface="Arial" pitchFamily="34" charset="0"/>
                <a:ea typeface="Arial" pitchFamily="34" charset="-122"/>
                <a:cs typeface="Arial" pitchFamily="34" charset="-120"/>
              </a:rPr>
              <a:t>4   </a:t>
            </a:r>
            <a:r>
              <a:rPr lang="en-US" sz="1200" dirty="0">
                <a:solidFill>
                  <a:srgbClr val="FFFFFF"/>
                </a:solidFill>
                <a:latin typeface="Arial" pitchFamily="34" charset="0"/>
                <a:ea typeface="Arial" pitchFamily="34" charset="-122"/>
                <a:cs typeface="Arial" pitchFamily="34" charset="-120"/>
              </a:rPr>
              <a:t>Kết quả phân tích &amp; phiếu đánh giá được lưu trữ, theo dõi tiến triển và phản hồi lại cho bệnh nhân (chỉ định: tiếp tục / điều chỉnh).</a:t>
            </a:r>
            <a:endParaRPr lang="en-US" sz="1200" dirty="0"/>
          </a:p>
        </p:txBody>
      </p:sp>
      <p:pic>
        <p:nvPicPr>
          <p:cNvPr id="45" name="Image 4" descr="/tmp/assets/huph_logo.png"/>
          <p:cNvPicPr>
            <a:picLocks noChangeAspect="1"/>
          </p:cNvPicPr>
          <p:nvPr/>
        </p:nvPicPr>
        <p:blipFill>
          <a:blip r:embed="rId7"/>
          <a:stretch>
            <a:fillRect/>
          </a:stretch>
        </p:blipFill>
        <p:spPr>
          <a:xfrm>
            <a:off x="566928" y="6419088"/>
            <a:ext cx="310896" cy="310896"/>
          </a:xfrm>
          <a:prstGeom prst="rect">
            <a:avLst/>
          </a:prstGeom>
        </p:spPr>
      </p:pic>
      <p:sp>
        <p:nvSpPr>
          <p:cNvPr id="46" name="Text 39"/>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47" name="Text 40"/>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15 / 19</a:t>
            </a:r>
            <a:endParaRPr lang="en-US" sz="850" dirty="0"/>
          </a:p>
        </p:txBody>
      </p:sp>
      <p:pic>
        <p:nvPicPr>
          <p:cNvPr id="48" name="Image 0" descr="/tmp/assets/qr_web.png">
            <a:extLst>
              <a:ext uri="{FF2B5EF4-FFF2-40B4-BE49-F238E27FC236}">
                <a16:creationId xmlns:a16="http://schemas.microsoft.com/office/drawing/2014/main" id="{AA915B17-3615-B914-DE1F-DC798F142AA4}"/>
              </a:ext>
            </a:extLst>
          </p:cNvPr>
          <p:cNvPicPr>
            <a:picLocks noChangeAspect="1"/>
          </p:cNvPicPr>
          <p:nvPr/>
        </p:nvPicPr>
        <p:blipFill>
          <a:blip r:embed="rId8"/>
          <a:stretch>
            <a:fillRect/>
          </a:stretch>
        </p:blipFill>
        <p:spPr>
          <a:xfrm>
            <a:off x="10689336" y="146304"/>
            <a:ext cx="1170432" cy="11704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05 · HỆ THỐNG REHAB AI MONITOR</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Phân tích trực quan: overlay &amp; frame gallery</a:t>
            </a:r>
            <a:endParaRPr lang="en-US" sz="2900" dirty="0"/>
          </a:p>
        </p:txBody>
      </p:sp>
      <p:sp>
        <p:nvSpPr>
          <p:cNvPr id="4" name="Shape 2"/>
          <p:cNvSpPr/>
          <p:nvPr/>
        </p:nvSpPr>
        <p:spPr>
          <a:xfrm>
            <a:off x="566928" y="1828800"/>
            <a:ext cx="5532120"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5" name="Image 0" descr="/tmp/assets/app_overlay.png"/>
          <p:cNvPicPr>
            <a:picLocks noChangeAspect="1"/>
          </p:cNvPicPr>
          <p:nvPr/>
        </p:nvPicPr>
        <p:blipFill>
          <a:blip r:embed="rId3"/>
          <a:srcRect/>
          <a:stretch/>
        </p:blipFill>
        <p:spPr>
          <a:xfrm>
            <a:off x="713232" y="1975104"/>
            <a:ext cx="5239512" cy="2907792"/>
          </a:xfrm>
          <a:prstGeom prst="rect">
            <a:avLst/>
          </a:prstGeom>
        </p:spPr>
      </p:pic>
      <p:sp>
        <p:nvSpPr>
          <p:cNvPr id="6" name="Text 3"/>
          <p:cNvSpPr/>
          <p:nvPr/>
        </p:nvSpPr>
        <p:spPr>
          <a:xfrm>
            <a:off x="713232" y="4956048"/>
            <a:ext cx="5257800" cy="640080"/>
          </a:xfrm>
          <a:prstGeom prst="rect">
            <a:avLst/>
          </a:prstGeom>
          <a:noFill/>
          <a:ln/>
        </p:spPr>
        <p:txBody>
          <a:bodyPr wrap="square" lIns="0" tIns="0" rIns="0" bIns="0" rtlCol="0" anchor="t"/>
          <a:lstStyle/>
          <a:p>
            <a:pPr marL="0" indent="0">
              <a:lnSpc>
                <a:spcPct val="104000"/>
              </a:lnSpc>
              <a:buNone/>
            </a:pPr>
            <a:r>
              <a:rPr lang="en-US" sz="1400" b="1" dirty="0">
                <a:solidFill>
                  <a:srgbClr val="005F35"/>
                </a:solidFill>
                <a:latin typeface="Arial" pitchFamily="34" charset="0"/>
                <a:ea typeface="Arial" pitchFamily="34" charset="-122"/>
                <a:cs typeface="Arial" pitchFamily="34" charset="-120"/>
              </a:rPr>
              <a:t>Video overlay.  </a:t>
            </a:r>
            <a:r>
              <a:rPr lang="en-US" sz="1400" dirty="0">
                <a:solidFill>
                  <a:srgbClr val="32463C"/>
                </a:solidFill>
                <a:latin typeface="Arial" pitchFamily="34" charset="0"/>
                <a:ea typeface="Arial" pitchFamily="34" charset="-122"/>
                <a:cs typeface="Arial" pitchFamily="34" charset="-120"/>
              </a:rPr>
              <a:t>Khung xương MediaPipe, góc vai/khuỷu và nhãn PASS / NEAR / FAIL hiển thị trực tiếp trên từng khung hình.</a:t>
            </a:r>
            <a:endParaRPr lang="en-US" sz="1400" dirty="0"/>
          </a:p>
        </p:txBody>
      </p:sp>
      <p:sp>
        <p:nvSpPr>
          <p:cNvPr id="7" name="Shape 4"/>
          <p:cNvSpPr/>
          <p:nvPr/>
        </p:nvSpPr>
        <p:spPr>
          <a:xfrm>
            <a:off x="6263640" y="1828800"/>
            <a:ext cx="5376672" cy="3794760"/>
          </a:xfrm>
          <a:prstGeom prst="roundRect">
            <a:avLst>
              <a:gd name="adj" fmla="val 2892"/>
            </a:avLst>
          </a:prstGeom>
          <a:solidFill>
            <a:srgbClr val="FFFFFF"/>
          </a:solidFill>
          <a:ln w="12700">
            <a:solidFill>
              <a:srgbClr val="CBE0D3"/>
            </a:solidFill>
            <a:prstDash val="solid"/>
          </a:ln>
          <a:effectLst>
            <a:outerShdw blurRad="114300" dist="50800" dir="5400000" algn="bl" rotWithShape="0">
              <a:srgbClr val="0B3322">
                <a:alpha val="13000"/>
              </a:srgbClr>
            </a:outerShdw>
          </a:effectLst>
        </p:spPr>
      </p:sp>
      <p:pic>
        <p:nvPicPr>
          <p:cNvPr id="8" name="Image 1" descr="/tmp/assets/app_frames.png"/>
          <p:cNvPicPr>
            <a:picLocks noChangeAspect="1"/>
          </p:cNvPicPr>
          <p:nvPr/>
        </p:nvPicPr>
        <p:blipFill>
          <a:blip r:embed="rId4"/>
          <a:srcRect/>
          <a:stretch/>
        </p:blipFill>
        <p:spPr>
          <a:xfrm>
            <a:off x="6400800" y="1975104"/>
            <a:ext cx="5102352" cy="2907792"/>
          </a:xfrm>
          <a:prstGeom prst="rect">
            <a:avLst/>
          </a:prstGeom>
        </p:spPr>
      </p:pic>
      <p:sp>
        <p:nvSpPr>
          <p:cNvPr id="9" name="Text 5"/>
          <p:cNvSpPr/>
          <p:nvPr/>
        </p:nvSpPr>
        <p:spPr>
          <a:xfrm>
            <a:off x="6400800" y="4956048"/>
            <a:ext cx="5120640" cy="640080"/>
          </a:xfrm>
          <a:prstGeom prst="rect">
            <a:avLst/>
          </a:prstGeom>
          <a:noFill/>
          <a:ln/>
        </p:spPr>
        <p:txBody>
          <a:bodyPr wrap="square" lIns="0" tIns="0" rIns="0" bIns="0" rtlCol="0" anchor="t"/>
          <a:lstStyle/>
          <a:p>
            <a:pPr marL="0" indent="0">
              <a:lnSpc>
                <a:spcPct val="104000"/>
              </a:lnSpc>
              <a:buNone/>
            </a:pPr>
            <a:r>
              <a:rPr lang="en-US" sz="1400" b="1" dirty="0">
                <a:solidFill>
                  <a:srgbClr val="005F35"/>
                </a:solidFill>
                <a:latin typeface="Arial" pitchFamily="34" charset="0"/>
                <a:ea typeface="Arial" pitchFamily="34" charset="-122"/>
                <a:cs typeface="Arial" pitchFamily="34" charset="-120"/>
              </a:rPr>
              <a:t>Frame gallery.  </a:t>
            </a:r>
            <a:r>
              <a:rPr lang="en-US" sz="1400" dirty="0">
                <a:solidFill>
                  <a:srgbClr val="32463C"/>
                </a:solidFill>
                <a:latin typeface="Arial" pitchFamily="34" charset="0"/>
                <a:ea typeface="Arial" pitchFamily="34" charset="-122"/>
                <a:cs typeface="Arial" pitchFamily="34" charset="-120"/>
              </a:rPr>
              <a:t>Duyệt theo lưới các khung đã gắn nhãn, lọc nhanh PASS / NEAR / FAIL kèm góc đo &amp; sai số để rà soát chất lượng động tác.</a:t>
            </a:r>
            <a:endParaRPr lang="en-US" sz="1400" dirty="0"/>
          </a:p>
        </p:txBody>
      </p:sp>
      <p:sp>
        <p:nvSpPr>
          <p:cNvPr id="93" name="Architecture Caption"/>
          <p:cNvSpPr/>
          <p:nvPr/>
        </p:nvSpPr>
        <p:spPr>
          <a:xfrm>
            <a:off x="566928" y="5950000"/>
            <a:ext cx="10058400" cy="300000"/>
          </a:xfrm>
          <a:prstGeom prst="rect">
            <a:avLst/>
          </a:prstGeom>
          <a:noFill/>
          <a:ln/>
        </p:spPr>
        <p:txBody>
          <a:bodyPr wrap="square" lIns="0" tIns="0" rIns="0" bIns="0" rtlCol="0" anchor="t"/>
          <a:lstStyle/>
          <a:p>
            <a:pPr marL="0" indent="0" algn="l">
              <a:buNone/>
            </a:pPr>
            <a:r>
              <a:rPr lang="vi-VN" sz="800" b="1" dirty="0">
                <a:solidFill>
                  <a:srgbClr val="005F35"/>
                </a:solidFill>
                <a:latin typeface="Arial" pitchFamily="34" charset="0"/>
              </a:rPr>
              <a:t>Kiến trúc: </a:t>
            </a:r>
            <a:r>
              <a:rPr lang="vi-VN" sz="800" dirty="0">
                <a:solidFill>
                  <a:srgbClr val="404040"/>
                </a:solidFill>
                <a:latin typeface="Arial" pitchFamily="34" charset="0"/>
              </a:rPr>
              <a:t>Frontend React/Vite — Backend FastAPI — Luồng AI OpenCV + MediaPipe + Random Forest, đồng bộ qua JSON runtime. Triển khai nhẹ, không cần infrastructure phức tạp.</a:t>
            </a:r>
          </a:p>
        </p:txBody>
      </p:sp>
      <p:pic>
        <p:nvPicPr>
          <p:cNvPr id="10" name="Image 2" descr="/tmp/assets/huph_logo.png"/>
          <p:cNvPicPr>
            <a:picLocks noChangeAspect="1"/>
          </p:cNvPicPr>
          <p:nvPr/>
        </p:nvPicPr>
        <p:blipFill>
          <a:blip r:embed="rId5"/>
          <a:stretch>
            <a:fillRect/>
          </a:stretch>
        </p:blipFill>
        <p:spPr>
          <a:xfrm>
            <a:off x="566928" y="6419088"/>
            <a:ext cx="310896" cy="310896"/>
          </a:xfrm>
          <a:prstGeom prst="rect">
            <a:avLst/>
          </a:prstGeom>
        </p:spPr>
      </p:pic>
      <p:sp>
        <p:nvSpPr>
          <p:cNvPr id="11" name="Text 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12" name="Text 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16 / 19</a:t>
            </a:r>
            <a:endParaRPr lang="en-US" sz="850" dirty="0"/>
          </a:p>
        </p:txBody>
      </p:sp>
      <p:pic>
        <p:nvPicPr>
          <p:cNvPr id="13" name="Image 0" descr="/tmp/assets/qr_web.png">
            <a:extLst>
              <a:ext uri="{FF2B5EF4-FFF2-40B4-BE49-F238E27FC236}">
                <a16:creationId xmlns:a16="http://schemas.microsoft.com/office/drawing/2014/main" id="{A5C36281-D7F0-D9AB-FCBD-741C203EA9A3}"/>
              </a:ext>
            </a:extLst>
          </p:cNvPr>
          <p:cNvPicPr>
            <a:picLocks noChangeAspect="1"/>
          </p:cNvPicPr>
          <p:nvPr/>
        </p:nvPicPr>
        <p:blipFill>
          <a:blip r:embed="rId6"/>
          <a:stretch>
            <a:fillRect/>
          </a:stretch>
        </p:blipFill>
        <p:spPr>
          <a:xfrm>
            <a:off x="10689336" y="146304"/>
            <a:ext cx="1170432" cy="11704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KẾT LUẬN</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Kết luận &amp; hướng phát triển</a:t>
            </a:r>
            <a:endParaRPr lang="en-US" sz="2900" dirty="0"/>
          </a:p>
        </p:txBody>
      </p:sp>
      <p:sp>
        <p:nvSpPr>
          <p:cNvPr id="4" name="Shape 2"/>
          <p:cNvSpPr/>
          <p:nvPr/>
        </p:nvSpPr>
        <p:spPr>
          <a:xfrm>
            <a:off x="566928" y="1783080"/>
            <a:ext cx="6446520" cy="3840480"/>
          </a:xfrm>
          <a:prstGeom prst="roundRect">
            <a:avLst>
              <a:gd name="adj" fmla="val 3810"/>
            </a:avLst>
          </a:prstGeom>
          <a:solidFill>
            <a:srgbClr val="005F35"/>
          </a:solidFill>
          <a:ln/>
          <a:effectLst>
            <a:outerShdw blurRad="114300" dist="50800" dir="5400000" algn="bl" rotWithShape="0">
              <a:srgbClr val="0B3322">
                <a:alpha val="13000"/>
              </a:srgbClr>
            </a:outerShdw>
          </a:effectLst>
        </p:spPr>
      </p:sp>
      <p:pic>
        <p:nvPicPr>
          <p:cNvPr id="5" name="Image 0" descr="preencoded.png"/>
          <p:cNvPicPr>
            <a:picLocks noChangeAspect="1"/>
          </p:cNvPicPr>
          <p:nvPr/>
        </p:nvPicPr>
        <p:blipFill>
          <a:blip r:embed="rId3"/>
          <a:stretch>
            <a:fillRect/>
          </a:stretch>
        </p:blipFill>
        <p:spPr>
          <a:xfrm>
            <a:off x="868680" y="2057400"/>
            <a:ext cx="493776" cy="493776"/>
          </a:xfrm>
          <a:prstGeom prst="rect">
            <a:avLst/>
          </a:prstGeom>
        </p:spPr>
      </p:pic>
      <p:sp>
        <p:nvSpPr>
          <p:cNvPr id="6" name="Text 3"/>
          <p:cNvSpPr/>
          <p:nvPr/>
        </p:nvSpPr>
        <p:spPr>
          <a:xfrm>
            <a:off x="1517904" y="2029968"/>
            <a:ext cx="530352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Kết luận</a:t>
            </a:r>
            <a:endParaRPr lang="en-US" sz="2400" dirty="0"/>
          </a:p>
        </p:txBody>
      </p:sp>
      <p:sp>
        <p:nvSpPr>
          <p:cNvPr id="7" name="Shape 4"/>
          <p:cNvSpPr/>
          <p:nvPr/>
        </p:nvSpPr>
        <p:spPr>
          <a:xfrm>
            <a:off x="914400" y="2743200"/>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8" name="Image 1" descr="preencoded.png"/>
          <p:cNvPicPr>
            <a:picLocks noChangeAspect="1"/>
          </p:cNvPicPr>
          <p:nvPr/>
        </p:nvPicPr>
        <p:blipFill>
          <a:blip r:embed="rId4"/>
          <a:stretch>
            <a:fillRect/>
          </a:stretch>
        </p:blipFill>
        <p:spPr>
          <a:xfrm>
            <a:off x="1024128" y="2852928"/>
            <a:ext cx="219456" cy="219456"/>
          </a:xfrm>
          <a:prstGeom prst="rect">
            <a:avLst/>
          </a:prstGeom>
        </p:spPr>
      </p:pic>
      <p:sp>
        <p:nvSpPr>
          <p:cNvPr id="9" name="Text 5"/>
          <p:cNvSpPr/>
          <p:nvPr/>
        </p:nvSpPr>
        <p:spPr>
          <a:xfrm>
            <a:off x="1517904" y="2697480"/>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Hệ thống marker-less (MediaPipe Pose + Random Forest) khả thi để lượng hóa &amp; giám sát từ xa bài tập khớp vai.</a:t>
            </a:r>
            <a:endParaRPr lang="en-US" sz="1600" dirty="0"/>
          </a:p>
        </p:txBody>
      </p:sp>
      <p:sp>
        <p:nvSpPr>
          <p:cNvPr id="10" name="Shape 6"/>
          <p:cNvSpPr/>
          <p:nvPr/>
        </p:nvSpPr>
        <p:spPr>
          <a:xfrm>
            <a:off x="914400" y="3456432"/>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1" name="Image 2" descr="preencoded.png"/>
          <p:cNvPicPr>
            <a:picLocks noChangeAspect="1"/>
          </p:cNvPicPr>
          <p:nvPr/>
        </p:nvPicPr>
        <p:blipFill>
          <a:blip r:embed="rId5"/>
          <a:stretch>
            <a:fillRect/>
          </a:stretch>
        </p:blipFill>
        <p:spPr>
          <a:xfrm>
            <a:off x="1024128" y="3566160"/>
            <a:ext cx="219456" cy="219456"/>
          </a:xfrm>
          <a:prstGeom prst="rect">
            <a:avLst/>
          </a:prstGeom>
        </p:spPr>
      </p:pic>
      <p:sp>
        <p:nvSpPr>
          <p:cNvPr id="12" name="Text 7"/>
          <p:cNvSpPr/>
          <p:nvPr/>
        </p:nvSpPr>
        <p:spPr>
          <a:xfrm>
            <a:off x="1517904" y="3410712"/>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Hiệu năng tốt hơn rõ ở bài Codman (71,2%) so với bài tập với gậy (38,7%).</a:t>
            </a:r>
            <a:endParaRPr lang="en-US" sz="1600" dirty="0"/>
          </a:p>
        </p:txBody>
      </p:sp>
      <p:sp>
        <p:nvSpPr>
          <p:cNvPr id="13" name="Shape 8"/>
          <p:cNvSpPr/>
          <p:nvPr/>
        </p:nvSpPr>
        <p:spPr>
          <a:xfrm>
            <a:off x="914400" y="4169664"/>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4" name="Image 3" descr="preencoded.png"/>
          <p:cNvPicPr>
            <a:picLocks noChangeAspect="1"/>
          </p:cNvPicPr>
          <p:nvPr/>
        </p:nvPicPr>
        <p:blipFill>
          <a:blip r:embed="rId6"/>
          <a:stretch>
            <a:fillRect/>
          </a:stretch>
        </p:blipFill>
        <p:spPr>
          <a:xfrm>
            <a:off x="1024128" y="4279392"/>
            <a:ext cx="219456" cy="219456"/>
          </a:xfrm>
          <a:prstGeom prst="rect">
            <a:avLst/>
          </a:prstGeom>
        </p:spPr>
      </p:pic>
      <p:sp>
        <p:nvSpPr>
          <p:cNvPr id="15" name="Text 9"/>
          <p:cNvSpPr/>
          <p:nvPr/>
        </p:nvSpPr>
        <p:spPr>
          <a:xfrm>
            <a:off x="1517904" y="4123944"/>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Kết quả AI đồng hướng với đánh giá của Bác sĩ / Kỹ thuật viên (cùng phát hiện lỗi tư thế, biên độ).</a:t>
            </a:r>
            <a:endParaRPr lang="en-US" sz="1600" dirty="0"/>
          </a:p>
        </p:txBody>
      </p:sp>
      <p:sp>
        <p:nvSpPr>
          <p:cNvPr id="16" name="Shape 10"/>
          <p:cNvSpPr/>
          <p:nvPr/>
        </p:nvSpPr>
        <p:spPr>
          <a:xfrm>
            <a:off x="914400" y="4882896"/>
            <a:ext cx="438912" cy="438912"/>
          </a:xfrm>
          <a:prstGeom prst="ellipse">
            <a:avLst/>
          </a:prstGeom>
          <a:solidFill>
            <a:srgbClr val="FFFFFF"/>
          </a:solidFill>
          <a:ln/>
          <a:effectLst>
            <a:outerShdw blurRad="114300" dist="50800" dir="5400000" algn="bl" rotWithShape="0">
              <a:srgbClr val="0B3322">
                <a:alpha val="13000"/>
              </a:srgbClr>
            </a:outerShdw>
          </a:effectLst>
        </p:spPr>
      </p:sp>
      <p:pic>
        <p:nvPicPr>
          <p:cNvPr id="17" name="Image 4" descr="preencoded.png"/>
          <p:cNvPicPr>
            <a:picLocks noChangeAspect="1"/>
          </p:cNvPicPr>
          <p:nvPr/>
        </p:nvPicPr>
        <p:blipFill>
          <a:blip r:embed="rId7"/>
          <a:stretch>
            <a:fillRect/>
          </a:stretch>
        </p:blipFill>
        <p:spPr>
          <a:xfrm>
            <a:off x="1024128" y="4992624"/>
            <a:ext cx="219456" cy="219456"/>
          </a:xfrm>
          <a:prstGeom prst="rect">
            <a:avLst/>
          </a:prstGeom>
        </p:spPr>
      </p:pic>
      <p:sp>
        <p:nvSpPr>
          <p:cNvPr id="18" name="Text 11"/>
          <p:cNvSpPr/>
          <p:nvPr/>
        </p:nvSpPr>
        <p:spPr>
          <a:xfrm>
            <a:off x="1517904" y="4837176"/>
            <a:ext cx="5349240" cy="713232"/>
          </a:xfrm>
          <a:prstGeom prst="rect">
            <a:avLst/>
          </a:prstGeom>
          <a:noFill/>
          <a:ln/>
        </p:spPr>
        <p:txBody>
          <a:bodyPr wrap="square" lIns="0" tIns="0" rIns="0" bIns="0" rtlCol="0" anchor="ctr"/>
          <a:lstStyle/>
          <a:p>
            <a:pPr marL="0" indent="0">
              <a:lnSpc>
                <a:spcPct val="104000"/>
              </a:lnSpc>
              <a:buNone/>
            </a:pPr>
            <a:r>
              <a:rPr lang="en-US" sz="1600" dirty="0">
                <a:solidFill>
                  <a:srgbClr val="EAF6EF"/>
                </a:solidFill>
                <a:latin typeface="Arial" pitchFamily="34" charset="0"/>
                <a:ea typeface="Arial" pitchFamily="34" charset="-122"/>
                <a:cs typeface="Arial" pitchFamily="34" charset="-120"/>
              </a:rPr>
              <a:t>Rehab AI Monitor là nền tảng hỗ trợ theo dõi, phản hồi &amp; lưu trữ; cần kiểm chứng cỡ mẫu lớn hơn.</a:t>
            </a:r>
            <a:endParaRPr lang="en-US" sz="1600" dirty="0"/>
          </a:p>
        </p:txBody>
      </p:sp>
      <p:sp>
        <p:nvSpPr>
          <p:cNvPr id="19" name="Shape 12"/>
          <p:cNvSpPr/>
          <p:nvPr/>
        </p:nvSpPr>
        <p:spPr>
          <a:xfrm>
            <a:off x="7223760" y="1783080"/>
            <a:ext cx="4407408" cy="3840480"/>
          </a:xfrm>
          <a:prstGeom prst="roundRect">
            <a:avLst>
              <a:gd name="adj" fmla="val 3810"/>
            </a:avLst>
          </a:prstGeom>
          <a:solidFill>
            <a:srgbClr val="EAF4EE"/>
          </a:solidFill>
          <a:ln/>
          <a:effectLst>
            <a:outerShdw blurRad="114300" dist="50800" dir="5400000" algn="bl" rotWithShape="0">
              <a:srgbClr val="0B3322">
                <a:alpha val="13000"/>
              </a:srgbClr>
            </a:outerShdw>
          </a:effectLst>
        </p:spPr>
      </p:sp>
      <p:sp>
        <p:nvSpPr>
          <p:cNvPr id="20" name="Shape 13"/>
          <p:cNvSpPr/>
          <p:nvPr/>
        </p:nvSpPr>
        <p:spPr>
          <a:xfrm>
            <a:off x="7498080" y="2057400"/>
            <a:ext cx="548640" cy="548640"/>
          </a:xfrm>
          <a:prstGeom prst="ellipse">
            <a:avLst/>
          </a:prstGeom>
          <a:solidFill>
            <a:srgbClr val="005F35"/>
          </a:solidFill>
          <a:ln/>
          <a:effectLst>
            <a:outerShdw blurRad="114300" dist="50800" dir="5400000" algn="bl" rotWithShape="0">
              <a:srgbClr val="0B3322">
                <a:alpha val="13000"/>
              </a:srgbClr>
            </a:outerShdw>
          </a:effectLst>
        </p:spPr>
      </p:sp>
      <p:pic>
        <p:nvPicPr>
          <p:cNvPr id="21" name="Image 5" descr="preencoded.png"/>
          <p:cNvPicPr>
            <a:picLocks noChangeAspect="1"/>
          </p:cNvPicPr>
          <p:nvPr/>
        </p:nvPicPr>
        <p:blipFill>
          <a:blip r:embed="rId8"/>
          <a:stretch>
            <a:fillRect/>
          </a:stretch>
        </p:blipFill>
        <p:spPr>
          <a:xfrm>
            <a:off x="7635240" y="2194560"/>
            <a:ext cx="274320" cy="274320"/>
          </a:xfrm>
          <a:prstGeom prst="rect">
            <a:avLst/>
          </a:prstGeom>
        </p:spPr>
      </p:pic>
      <p:sp>
        <p:nvSpPr>
          <p:cNvPr id="22" name="Text 14"/>
          <p:cNvSpPr/>
          <p:nvPr/>
        </p:nvSpPr>
        <p:spPr>
          <a:xfrm>
            <a:off x="8138160" y="2011680"/>
            <a:ext cx="3291840" cy="457200"/>
          </a:xfrm>
          <a:prstGeom prst="rect">
            <a:avLst/>
          </a:prstGeom>
          <a:noFill/>
          <a:ln/>
        </p:spPr>
        <p:txBody>
          <a:bodyPr wrap="square" lIns="0" tIns="0" rIns="0" bIns="0" rtlCol="0" anchor="ctr"/>
          <a:lstStyle/>
          <a:p>
            <a:pPr marL="0" indent="0">
              <a:buNone/>
            </a:pPr>
            <a:r>
              <a:rPr lang="en-US" sz="2400" b="1" dirty="0">
                <a:solidFill>
                  <a:srgbClr val="005F35"/>
                </a:solidFill>
                <a:latin typeface="Arial" pitchFamily="34" charset="0"/>
                <a:ea typeface="Arial" pitchFamily="34" charset="-122"/>
                <a:cs typeface="Arial" pitchFamily="34" charset="-120"/>
              </a:rPr>
              <a:t>Hướng phát triển</a:t>
            </a:r>
            <a:endParaRPr lang="en-US" sz="2400" dirty="0"/>
          </a:p>
        </p:txBody>
      </p:sp>
      <p:sp>
        <p:nvSpPr>
          <p:cNvPr id="23" name="Text 15"/>
          <p:cNvSpPr/>
          <p:nvPr/>
        </p:nvSpPr>
        <p:spPr>
          <a:xfrm>
            <a:off x="7543800" y="2788920"/>
            <a:ext cx="3886200" cy="2743200"/>
          </a:xfrm>
          <a:prstGeom prst="rect">
            <a:avLst/>
          </a:prstGeom>
          <a:noFill/>
          <a:ln/>
        </p:spPr>
        <p:txBody>
          <a:bodyPr wrap="square" lIns="0" tIns="0" rIns="0" bIns="0" rtlCol="0" anchor="t"/>
          <a:lstStyle/>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Mở rộng cỡ mẫu &amp; số bài tập</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Chuẩn hóa bối cảnh ghi hình, góc quay</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Bổ sung tiêu chí tư thế (phát hiện bù trừ)</a:t>
            </a:r>
            <a:endParaRPr lang="en-US" dirty="0"/>
          </a:p>
          <a:p>
            <a:pPr marL="342900" indent="-342900">
              <a:lnSpc>
                <a:spcPct val="108000"/>
              </a:lnSpc>
              <a:spcAft>
                <a:spcPts val="1300"/>
              </a:spcAft>
              <a:buSzPct val="100000"/>
              <a:buChar char="•"/>
            </a:pPr>
            <a:r>
              <a:rPr lang="en-US" dirty="0">
                <a:solidFill>
                  <a:srgbClr val="13241B"/>
                </a:solidFill>
                <a:latin typeface="Arial" pitchFamily="34" charset="0"/>
                <a:ea typeface="Arial" pitchFamily="34" charset="-122"/>
                <a:cs typeface="Arial" pitchFamily="34" charset="-120"/>
              </a:rPr>
              <a:t>Mô hình chuỗi thời gian: LSTM, TCN, ST-GCN, Transformer</a:t>
            </a:r>
            <a:endParaRPr lang="en-US" dirty="0"/>
          </a:p>
        </p:txBody>
      </p:sp>
      <p:pic>
        <p:nvPicPr>
          <p:cNvPr id="24" name="Image 6" descr="/tmp/assets/huph_logo.png"/>
          <p:cNvPicPr>
            <a:picLocks noChangeAspect="1"/>
          </p:cNvPicPr>
          <p:nvPr/>
        </p:nvPicPr>
        <p:blipFill>
          <a:blip r:embed="rId9"/>
          <a:stretch>
            <a:fillRect/>
          </a:stretch>
        </p:blipFill>
        <p:spPr>
          <a:xfrm>
            <a:off x="566928" y="6419088"/>
            <a:ext cx="310896" cy="310896"/>
          </a:xfrm>
          <a:prstGeom prst="rect">
            <a:avLst/>
          </a:prstGeom>
        </p:spPr>
      </p:pic>
      <p:sp>
        <p:nvSpPr>
          <p:cNvPr id="25" name="Text 16"/>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6" name="Text 17"/>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17 / 19</a:t>
            </a:r>
            <a:endParaRPr lang="en-US" sz="850" dirty="0"/>
          </a:p>
        </p:txBody>
      </p:sp>
      <p:pic>
        <p:nvPicPr>
          <p:cNvPr id="27" name="Image 0" descr="/tmp/assets/qr_web.png">
            <a:extLst>
              <a:ext uri="{FF2B5EF4-FFF2-40B4-BE49-F238E27FC236}">
                <a16:creationId xmlns:a16="http://schemas.microsoft.com/office/drawing/2014/main" id="{DED33A89-6C28-3B2B-3792-E6D8BB160D3A}"/>
              </a:ext>
            </a:extLst>
          </p:cNvPr>
          <p:cNvPicPr>
            <a:picLocks noChangeAspect="1"/>
          </p:cNvPicPr>
          <p:nvPr/>
        </p:nvPicPr>
        <p:blipFill>
          <a:blip r:embed="rId10"/>
          <a:stretch>
            <a:fillRect/>
          </a:stretch>
        </p:blipFill>
        <p:spPr>
          <a:xfrm>
            <a:off x="10689336" y="146304"/>
            <a:ext cx="1170432" cy="11704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0058400" cy="292608"/>
          </a:xfrm>
          <a:prstGeom prst="rect">
            <a:avLst/>
          </a:prstGeom>
          <a:noFill/>
          <a:ln/>
        </p:spPr>
        <p:txBody>
          <a:bodyPr wrap="square" lIns="0" tIns="0" rIns="0" bIns="0" rtlCol="0" anchor="ctr"/>
          <a:lstStyle/>
          <a:p>
            <a:pPr marL="0" indent="0" algn="l">
              <a:buNone/>
            </a:pPr>
            <a:r>
              <a:rPr lang="en-US" sz="1250" b="1" kern="0" spc="220" dirty="0">
                <a:solidFill>
                  <a:srgbClr val="0C8A52"/>
                </a:solidFill>
                <a:latin typeface="Arial" pitchFamily="34" charset="0"/>
                <a:ea typeface="Arial" pitchFamily="34" charset="-122"/>
                <a:cs typeface="Arial" pitchFamily="34" charset="-120"/>
              </a:rPr>
              <a:t>TRẢI NGHIỆM HỆ THỐNG</a:t>
            </a:r>
            <a:endParaRPr lang="en-US" sz="1250" dirty="0"/>
          </a:p>
        </p:txBody>
      </p:sp>
      <p:sp>
        <p:nvSpPr>
          <p:cNvPr id="3" name="Text 1"/>
          <p:cNvSpPr/>
          <p:nvPr/>
        </p:nvSpPr>
        <p:spPr>
          <a:xfrm>
            <a:off x="548640" y="676656"/>
            <a:ext cx="11064240" cy="713232"/>
          </a:xfrm>
          <a:prstGeom prst="rect">
            <a:avLst/>
          </a:prstGeom>
          <a:noFill/>
          <a:ln/>
        </p:spPr>
        <p:txBody>
          <a:bodyPr wrap="square" lIns="0" tIns="0" rIns="0" bIns="0" rtlCol="0" anchor="ctr"/>
          <a:lstStyle/>
          <a:p>
            <a:pPr marL="0" indent="0" algn="l">
              <a:buNone/>
            </a:pPr>
            <a:r>
              <a:rPr lang="en-US" sz="2900" b="1" dirty="0">
                <a:solidFill>
                  <a:srgbClr val="13241B"/>
                </a:solidFill>
                <a:latin typeface="Arial" pitchFamily="34" charset="0"/>
                <a:ea typeface="Arial" pitchFamily="34" charset="-122"/>
                <a:cs typeface="Arial" pitchFamily="34" charset="-120"/>
              </a:rPr>
              <a:t>Quét mã QR để truy cập Rehab AI Monitor</a:t>
            </a:r>
            <a:endParaRPr lang="en-US" sz="2900" dirty="0"/>
          </a:p>
        </p:txBody>
      </p:sp>
      <p:sp>
        <p:nvSpPr>
          <p:cNvPr id="4" name="Shape 2"/>
          <p:cNvSpPr/>
          <p:nvPr/>
        </p:nvSpPr>
        <p:spPr>
          <a:xfrm>
            <a:off x="566928" y="1828800"/>
            <a:ext cx="3977640" cy="3794760"/>
          </a:xfrm>
          <a:prstGeom prst="roundRect">
            <a:avLst>
              <a:gd name="adj" fmla="val 3373"/>
            </a:avLst>
          </a:prstGeom>
          <a:solidFill>
            <a:srgbClr val="EAF4EE"/>
          </a:solidFill>
          <a:ln/>
          <a:effectLst>
            <a:outerShdw blurRad="114300" dist="50800" dir="5400000" algn="bl" rotWithShape="0">
              <a:srgbClr val="0B3322">
                <a:alpha val="13000"/>
              </a:srgbClr>
            </a:outerShdw>
          </a:effectLst>
        </p:spPr>
      </p:sp>
      <p:pic>
        <p:nvPicPr>
          <p:cNvPr id="5" name="Image 0" descr="/tmp/assets/qr_web.png"/>
          <p:cNvPicPr>
            <a:picLocks noChangeAspect="1"/>
          </p:cNvPicPr>
          <p:nvPr/>
        </p:nvPicPr>
        <p:blipFill>
          <a:blip r:embed="rId3"/>
          <a:stretch>
            <a:fillRect/>
          </a:stretch>
        </p:blipFill>
        <p:spPr>
          <a:xfrm>
            <a:off x="978408" y="2121408"/>
            <a:ext cx="3154680" cy="3154680"/>
          </a:xfrm>
          <a:prstGeom prst="rect">
            <a:avLst/>
          </a:prstGeom>
        </p:spPr>
      </p:pic>
      <p:sp>
        <p:nvSpPr>
          <p:cNvPr id="6" name="Text 3"/>
          <p:cNvSpPr/>
          <p:nvPr/>
        </p:nvSpPr>
        <p:spPr>
          <a:xfrm>
            <a:off x="566928" y="5285232"/>
            <a:ext cx="3977640" cy="292608"/>
          </a:xfrm>
          <a:prstGeom prst="rect">
            <a:avLst/>
          </a:prstGeom>
          <a:noFill/>
          <a:ln/>
        </p:spPr>
        <p:txBody>
          <a:bodyPr wrap="square" lIns="0" tIns="0" rIns="0" bIns="0" rtlCol="0" anchor="ctr"/>
          <a:lstStyle/>
          <a:p>
            <a:pPr marL="0" indent="0" algn="ctr">
              <a:buNone/>
            </a:pPr>
            <a:r>
              <a:rPr lang="en-US" sz="1250" b="1" dirty="0">
                <a:solidFill>
                  <a:srgbClr val="005F35"/>
                </a:solidFill>
                <a:latin typeface="Arial" pitchFamily="34" charset="0"/>
                <a:ea typeface="Arial" pitchFamily="34" charset="-122"/>
                <a:cs typeface="Arial" pitchFamily="34" charset="-120"/>
              </a:rPr>
              <a:t>rehab-ai-monitor.com</a:t>
            </a:r>
            <a:endParaRPr lang="en-US" sz="1250" dirty="0"/>
          </a:p>
        </p:txBody>
      </p:sp>
      <p:sp>
        <p:nvSpPr>
          <p:cNvPr id="7" name="Shape 4"/>
          <p:cNvSpPr/>
          <p:nvPr/>
        </p:nvSpPr>
        <p:spPr>
          <a:xfrm>
            <a:off x="4846320" y="1828800"/>
            <a:ext cx="6766560" cy="1783080"/>
          </a:xfrm>
          <a:prstGeom prst="roundRect">
            <a:avLst>
              <a:gd name="adj" fmla="val 6154"/>
            </a:avLst>
          </a:prstGeom>
          <a:solidFill>
            <a:srgbClr val="005F35"/>
          </a:solidFill>
          <a:ln/>
          <a:effectLst>
            <a:outerShdw blurRad="114300" dist="50800" dir="5400000" algn="bl" rotWithShape="0">
              <a:srgbClr val="0B3322">
                <a:alpha val="13000"/>
              </a:srgbClr>
            </a:outerShdw>
          </a:effectLst>
        </p:spPr>
      </p:sp>
      <p:sp>
        <p:nvSpPr>
          <p:cNvPr id="8" name="Shape 5"/>
          <p:cNvSpPr/>
          <p:nvPr/>
        </p:nvSpPr>
        <p:spPr>
          <a:xfrm>
            <a:off x="5120640" y="2121408"/>
            <a:ext cx="640080" cy="640080"/>
          </a:xfrm>
          <a:prstGeom prst="ellipse">
            <a:avLst/>
          </a:prstGeom>
          <a:solidFill>
            <a:srgbClr val="FFFFFF"/>
          </a:solidFill>
          <a:ln/>
          <a:effectLst>
            <a:outerShdw blurRad="114300" dist="50800" dir="5400000" algn="bl" rotWithShape="0">
              <a:srgbClr val="0B3322">
                <a:alpha val="13000"/>
              </a:srgbClr>
            </a:outerShdw>
          </a:effectLst>
        </p:spPr>
      </p:sp>
      <p:pic>
        <p:nvPicPr>
          <p:cNvPr id="9" name="Image 1" descr="preencoded.png"/>
          <p:cNvPicPr>
            <a:picLocks noChangeAspect="1"/>
          </p:cNvPicPr>
          <p:nvPr/>
        </p:nvPicPr>
        <p:blipFill>
          <a:blip r:embed="rId4"/>
          <a:stretch>
            <a:fillRect/>
          </a:stretch>
        </p:blipFill>
        <p:spPr>
          <a:xfrm>
            <a:off x="5280660" y="2281428"/>
            <a:ext cx="320040" cy="320040"/>
          </a:xfrm>
          <a:prstGeom prst="rect">
            <a:avLst/>
          </a:prstGeom>
        </p:spPr>
      </p:pic>
      <p:sp>
        <p:nvSpPr>
          <p:cNvPr id="10" name="Text 6"/>
          <p:cNvSpPr/>
          <p:nvPr/>
        </p:nvSpPr>
        <p:spPr>
          <a:xfrm>
            <a:off x="5925312" y="2029968"/>
            <a:ext cx="5486400" cy="384048"/>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Ứng dụng triển khai (web)</a:t>
            </a:r>
            <a:endParaRPr lang="en-US" sz="2000" dirty="0"/>
          </a:p>
        </p:txBody>
      </p:sp>
      <p:sp>
        <p:nvSpPr>
          <p:cNvPr id="11" name="Text 7">
            <a:hlinkClick r:id="rId5"/>
          </p:cNvPr>
          <p:cNvSpPr/>
          <p:nvPr/>
        </p:nvSpPr>
        <p:spPr>
          <a:xfrm>
            <a:off x="5925312" y="2432304"/>
            <a:ext cx="5486400" cy="329184"/>
          </a:xfrm>
          <a:prstGeom prst="rect">
            <a:avLst/>
          </a:prstGeom>
          <a:noFill/>
          <a:ln/>
        </p:spPr>
        <p:txBody>
          <a:bodyPr wrap="square" lIns="0" tIns="0" rIns="0" bIns="0" rtlCol="0" anchor="ctr"/>
          <a:lstStyle/>
          <a:p>
            <a:pPr marL="0" indent="0">
              <a:buNone/>
            </a:pPr>
            <a:r>
              <a:rPr lang="en-US" sz="1600" u="sng" dirty="0">
                <a:solidFill>
                  <a:srgbClr val="DCEFE4"/>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https://rehab-ai-monitor.com/</a:t>
            </a:r>
            <a:endParaRPr lang="en-US" sz="1600" dirty="0"/>
          </a:p>
        </p:txBody>
      </p:sp>
      <p:sp>
        <p:nvSpPr>
          <p:cNvPr id="12" name="Text 8"/>
          <p:cNvSpPr/>
          <p:nvPr/>
        </p:nvSpPr>
        <p:spPr>
          <a:xfrm>
            <a:off x="5925312" y="2798064"/>
            <a:ext cx="5394960" cy="731520"/>
          </a:xfrm>
          <a:prstGeom prst="rect">
            <a:avLst/>
          </a:prstGeom>
          <a:noFill/>
          <a:ln/>
        </p:spPr>
        <p:txBody>
          <a:bodyPr wrap="square" lIns="0" tIns="0" rIns="0" bIns="0" rtlCol="0" anchor="t"/>
          <a:lstStyle/>
          <a:p>
            <a:pPr marL="0" indent="0">
              <a:lnSpc>
                <a:spcPct val="104000"/>
              </a:lnSpc>
              <a:buNone/>
            </a:pPr>
            <a:r>
              <a:rPr lang="en-US" sz="1400" dirty="0">
                <a:solidFill>
                  <a:srgbClr val="CFE7DA"/>
                </a:solidFill>
                <a:latin typeface="Arial" pitchFamily="34" charset="0"/>
                <a:ea typeface="Arial" pitchFamily="34" charset="-122"/>
                <a:cs typeface="Arial" pitchFamily="34" charset="-120"/>
              </a:rPr>
              <a:t>Đăng nhập theo 4 vai trò — bệnh nhân, bác sĩ / kỹ thuật viên, nghiên cứu viên, quản trị viên — để trải nghiệm dashboard, overlay &amp; frame gallery.</a:t>
            </a:r>
            <a:endParaRPr lang="en-US" sz="1400" dirty="0"/>
          </a:p>
        </p:txBody>
      </p:sp>
      <p:sp>
        <p:nvSpPr>
          <p:cNvPr id="13" name="Shape 9"/>
          <p:cNvSpPr/>
          <p:nvPr/>
        </p:nvSpPr>
        <p:spPr>
          <a:xfrm>
            <a:off x="4846320" y="3794760"/>
            <a:ext cx="6766560" cy="1810512"/>
          </a:xfrm>
          <a:prstGeom prst="roundRect">
            <a:avLst>
              <a:gd name="adj" fmla="val 6061"/>
            </a:avLst>
          </a:prstGeom>
          <a:solidFill>
            <a:srgbClr val="FFFFFF"/>
          </a:solidFill>
          <a:ln w="15240">
            <a:solidFill>
              <a:srgbClr val="CBE0D3"/>
            </a:solidFill>
            <a:prstDash val="solid"/>
          </a:ln>
          <a:effectLst>
            <a:outerShdw blurRad="114300" dist="50800" dir="5400000" algn="bl" rotWithShape="0">
              <a:srgbClr val="0B3322">
                <a:alpha val="13000"/>
              </a:srgbClr>
            </a:outerShdw>
          </a:effectLst>
        </p:spPr>
      </p:sp>
      <p:sp>
        <p:nvSpPr>
          <p:cNvPr id="14" name="Shape 10"/>
          <p:cNvSpPr/>
          <p:nvPr/>
        </p:nvSpPr>
        <p:spPr>
          <a:xfrm>
            <a:off x="5120640" y="4087368"/>
            <a:ext cx="640080" cy="640080"/>
          </a:xfrm>
          <a:prstGeom prst="ellipse">
            <a:avLst/>
          </a:prstGeom>
          <a:solidFill>
            <a:srgbClr val="005F35"/>
          </a:solidFill>
          <a:ln/>
          <a:effectLst>
            <a:outerShdw blurRad="114300" dist="50800" dir="5400000" algn="bl" rotWithShape="0">
              <a:srgbClr val="0B3322">
                <a:alpha val="13000"/>
              </a:srgbClr>
            </a:outerShdw>
          </a:effectLst>
        </p:spPr>
      </p:sp>
      <p:pic>
        <p:nvPicPr>
          <p:cNvPr id="15" name="Image 2" descr="preencoded.png"/>
          <p:cNvPicPr>
            <a:picLocks noChangeAspect="1"/>
          </p:cNvPicPr>
          <p:nvPr/>
        </p:nvPicPr>
        <p:blipFill>
          <a:blip r:embed="rId6"/>
          <a:stretch>
            <a:fillRect/>
          </a:stretch>
        </p:blipFill>
        <p:spPr>
          <a:xfrm>
            <a:off x="5280660" y="4247388"/>
            <a:ext cx="320040" cy="320040"/>
          </a:xfrm>
          <a:prstGeom prst="rect">
            <a:avLst/>
          </a:prstGeom>
        </p:spPr>
      </p:pic>
      <p:sp>
        <p:nvSpPr>
          <p:cNvPr id="16" name="Text 11"/>
          <p:cNvSpPr/>
          <p:nvPr/>
        </p:nvSpPr>
        <p:spPr>
          <a:xfrm>
            <a:off x="5925312" y="3995928"/>
            <a:ext cx="5486400" cy="384048"/>
          </a:xfrm>
          <a:prstGeom prst="rect">
            <a:avLst/>
          </a:prstGeom>
          <a:noFill/>
          <a:ln/>
        </p:spPr>
        <p:txBody>
          <a:bodyPr wrap="square" lIns="0" tIns="0" rIns="0" bIns="0" rtlCol="0" anchor="ctr"/>
          <a:lstStyle/>
          <a:p>
            <a:pPr marL="0" indent="0">
              <a:buNone/>
            </a:pPr>
            <a:r>
              <a:rPr lang="en-US" sz="2000" b="1" dirty="0">
                <a:solidFill>
                  <a:srgbClr val="13241B"/>
                </a:solidFill>
                <a:latin typeface="Arial" pitchFamily="34" charset="0"/>
                <a:ea typeface="Arial" pitchFamily="34" charset="-122"/>
                <a:cs typeface="Arial" pitchFamily="34" charset="-120"/>
              </a:rPr>
              <a:t>Mã nguồn &amp; README</a:t>
            </a:r>
            <a:endParaRPr lang="en-US" sz="2000" dirty="0"/>
          </a:p>
        </p:txBody>
      </p:sp>
      <p:sp>
        <p:nvSpPr>
          <p:cNvPr id="17" name="Text 12">
            <a:hlinkClick r:id="rId7"/>
          </p:cNvPr>
          <p:cNvSpPr/>
          <p:nvPr/>
        </p:nvSpPr>
        <p:spPr>
          <a:xfrm>
            <a:off x="5925312" y="4398264"/>
            <a:ext cx="5486400" cy="329184"/>
          </a:xfrm>
          <a:prstGeom prst="rect">
            <a:avLst/>
          </a:prstGeom>
          <a:noFill/>
          <a:ln/>
        </p:spPr>
        <p:txBody>
          <a:bodyPr wrap="square" lIns="0" tIns="0" rIns="0" bIns="0" rtlCol="0" anchor="ctr"/>
          <a:lstStyle/>
          <a:p>
            <a:pPr marL="0" indent="0">
              <a:buNone/>
            </a:pPr>
            <a:r>
              <a:rPr lang="en-US" sz="1600" b="1" u="sng" dirty="0">
                <a:solidFill>
                  <a:srgbClr val="005F35"/>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github.com/quynhphuong1209/Rehab-AI-Monitor-UI-new</a:t>
            </a:r>
            <a:endParaRPr lang="en-US" sz="1600" dirty="0"/>
          </a:p>
        </p:txBody>
      </p:sp>
      <p:sp>
        <p:nvSpPr>
          <p:cNvPr id="18" name="Text 13"/>
          <p:cNvSpPr/>
          <p:nvPr/>
        </p:nvSpPr>
        <p:spPr>
          <a:xfrm>
            <a:off x="5925312" y="4764024"/>
            <a:ext cx="5394960" cy="731520"/>
          </a:xfrm>
          <a:prstGeom prst="rect">
            <a:avLst/>
          </a:prstGeom>
          <a:noFill/>
          <a:ln/>
        </p:spPr>
        <p:txBody>
          <a:bodyPr wrap="square" lIns="0" tIns="0" rIns="0" bIns="0" rtlCol="0" anchor="t"/>
          <a:lstStyle/>
          <a:p>
            <a:pPr marL="0" indent="0">
              <a:lnSpc>
                <a:spcPct val="104000"/>
              </a:lnSpc>
              <a:buNone/>
            </a:pPr>
            <a:r>
              <a:rPr lang="en-US" sz="1400" dirty="0">
                <a:solidFill>
                  <a:srgbClr val="5C6E64"/>
                </a:solidFill>
                <a:latin typeface="Arial" pitchFamily="34" charset="0"/>
                <a:ea typeface="Arial" pitchFamily="34" charset="-122"/>
                <a:cs typeface="Arial" pitchFamily="34" charset="-120"/>
              </a:rPr>
              <a:t>Kiến trúc frontend React/Vite · backend FastAPI · luồng AI MediaPipe + RandomForest · dữ liệu runtime dạng JSON.</a:t>
            </a:r>
            <a:endParaRPr lang="en-US" sz="1400" dirty="0"/>
          </a:p>
        </p:txBody>
      </p:sp>
      <p:pic>
        <p:nvPicPr>
          <p:cNvPr id="19" name="Image 3" descr="/tmp/assets/huph_logo.png"/>
          <p:cNvPicPr>
            <a:picLocks noChangeAspect="1"/>
          </p:cNvPicPr>
          <p:nvPr/>
        </p:nvPicPr>
        <p:blipFill>
          <a:blip r:embed="rId8"/>
          <a:stretch>
            <a:fillRect/>
          </a:stretch>
        </p:blipFill>
        <p:spPr>
          <a:xfrm>
            <a:off x="566928" y="6419088"/>
            <a:ext cx="310896" cy="310896"/>
          </a:xfrm>
          <a:prstGeom prst="rect">
            <a:avLst/>
          </a:prstGeom>
        </p:spPr>
      </p:pic>
      <p:sp>
        <p:nvSpPr>
          <p:cNvPr id="20" name="Text 14"/>
          <p:cNvSpPr/>
          <p:nvPr/>
        </p:nvSpPr>
        <p:spPr>
          <a:xfrm>
            <a:off x="941832" y="6419088"/>
            <a:ext cx="5029200" cy="310896"/>
          </a:xfrm>
          <a:prstGeom prst="rect">
            <a:avLst/>
          </a:prstGeom>
          <a:noFill/>
          <a:ln/>
        </p:spPr>
        <p:txBody>
          <a:bodyPr wrap="square" lIns="0" tIns="0" rIns="0" bIns="0" rtlCol="0" anchor="ctr"/>
          <a:lstStyle/>
          <a:p>
            <a:pPr marL="0" indent="0" algn="l">
              <a:buNone/>
            </a:pPr>
            <a:r>
              <a:rPr lang="en-US" sz="850" b="1" kern="0" spc="60" dirty="0">
                <a:solidFill>
                  <a:srgbClr val="005F35"/>
                </a:solidFill>
                <a:latin typeface="Arial" pitchFamily="34" charset="0"/>
                <a:ea typeface="Arial" pitchFamily="34" charset="-122"/>
                <a:cs typeface="Arial" pitchFamily="34" charset="-120"/>
              </a:rPr>
              <a:t>TRƯỜNG ĐẠI HỌC Y TẾ CÔNG CỘNG</a:t>
            </a:r>
            <a:endParaRPr lang="en-US" sz="850" dirty="0"/>
          </a:p>
        </p:txBody>
      </p:sp>
      <p:sp>
        <p:nvSpPr>
          <p:cNvPr id="21" name="Text 15"/>
          <p:cNvSpPr/>
          <p:nvPr/>
        </p:nvSpPr>
        <p:spPr>
          <a:xfrm>
            <a:off x="6583680" y="6419088"/>
            <a:ext cx="5029200" cy="310896"/>
          </a:xfrm>
          <a:prstGeom prst="rect">
            <a:avLst/>
          </a:prstGeom>
          <a:noFill/>
          <a:ln/>
        </p:spPr>
        <p:txBody>
          <a:bodyPr wrap="square" lIns="0" tIns="0" rIns="0" bIns="0" rtlCol="0" anchor="ctr"/>
          <a:lstStyle/>
          <a:p>
            <a:pPr marL="0" indent="0" algn="r">
              <a:buNone/>
            </a:pPr>
            <a:r>
              <a:rPr lang="en-US" sz="850" dirty="0">
                <a:solidFill>
                  <a:srgbClr val="5C6E64"/>
                </a:solidFill>
                <a:latin typeface="Arial" pitchFamily="34" charset="0"/>
                <a:ea typeface="Arial" pitchFamily="34" charset="-122"/>
                <a:cs typeface="Arial" pitchFamily="34" charset="-120"/>
              </a:rPr>
              <a:t>HNKH&amp;CN Tuổi trẻ HUPH 2026</a:t>
            </a:r>
            <a:r>
              <a:rPr lang="en-US" sz="850" b="1" dirty="0">
                <a:solidFill>
                  <a:srgbClr val="005F35"/>
                </a:solidFill>
                <a:latin typeface="Arial" pitchFamily="34" charset="0"/>
                <a:ea typeface="Arial" pitchFamily="34" charset="-122"/>
                <a:cs typeface="Arial" pitchFamily="34" charset="-120"/>
              </a:rPr>
              <a:t>    18 / 19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764530-28D2-34BD-F762-E25017BFEE45}"/>
              </a:ext>
            </a:extLst>
          </p:cNvPr>
          <p:cNvPicPr>
            <a:picLocks noChangeAspect="1"/>
          </p:cNvPicPr>
          <p:nvPr/>
        </p:nvPicPr>
        <p:blipFill>
          <a:blip r:embed="rId2"/>
          <a:stretch>
            <a:fillRect/>
          </a:stretch>
        </p:blipFill>
        <p:spPr>
          <a:xfrm>
            <a:off x="226646" y="175785"/>
            <a:ext cx="6572739" cy="3507634"/>
          </a:xfrm>
          <a:prstGeom prst="rect">
            <a:avLst/>
          </a:prstGeom>
        </p:spPr>
      </p:pic>
      <p:pic>
        <p:nvPicPr>
          <p:cNvPr id="5" name="Picture 4">
            <a:extLst>
              <a:ext uri="{FF2B5EF4-FFF2-40B4-BE49-F238E27FC236}">
                <a16:creationId xmlns:a16="http://schemas.microsoft.com/office/drawing/2014/main" id="{D7405ABD-08AF-8BDC-E0F1-F7CDBA72F293}"/>
              </a:ext>
            </a:extLst>
          </p:cNvPr>
          <p:cNvPicPr>
            <a:picLocks noChangeAspect="1"/>
          </p:cNvPicPr>
          <p:nvPr/>
        </p:nvPicPr>
        <p:blipFill>
          <a:blip r:embed="rId3"/>
          <a:stretch>
            <a:fillRect/>
          </a:stretch>
        </p:blipFill>
        <p:spPr>
          <a:xfrm>
            <a:off x="4384432" y="3376208"/>
            <a:ext cx="7580922" cy="3306007"/>
          </a:xfrm>
          <a:prstGeom prst="rect">
            <a:avLst/>
          </a:prstGeom>
        </p:spPr>
      </p:pic>
    </p:spTree>
    <p:extLst>
      <p:ext uri="{BB962C8B-B14F-4D97-AF65-F5344CB8AC3E}">
        <p14:creationId xmlns:p14="http://schemas.microsoft.com/office/powerpoint/2010/main" val="3606831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06371F"/>
        </a:solidFill>
        <a:effectLst/>
      </p:bgPr>
    </p:bg>
    <p:spTree>
      <p:nvGrpSpPr>
        <p:cNvPr id="1" name=""/>
        <p:cNvGrpSpPr/>
        <p:nvPr/>
      </p:nvGrpSpPr>
      <p:grpSpPr>
        <a:xfrm>
          <a:off x="0" y="0"/>
          <a:ext cx="0" cy="0"/>
          <a:chOff x="0" y="0"/>
          <a:chExt cx="0" cy="0"/>
        </a:xfrm>
      </p:grpSpPr>
      <p:sp>
        <p:nvSpPr>
          <p:cNvPr id="2" name="Shape 0"/>
          <p:cNvSpPr/>
          <p:nvPr/>
        </p:nvSpPr>
        <p:spPr>
          <a:xfrm>
            <a:off x="9326880" y="-1737360"/>
            <a:ext cx="4937760" cy="4937760"/>
          </a:xfrm>
          <a:prstGeom prst="ellipse">
            <a:avLst/>
          </a:prstGeom>
          <a:solidFill>
            <a:srgbClr val="0C5238"/>
          </a:solidFill>
          <a:ln/>
        </p:spPr>
      </p:sp>
      <p:sp>
        <p:nvSpPr>
          <p:cNvPr id="3" name="Shape 1"/>
          <p:cNvSpPr/>
          <p:nvPr/>
        </p:nvSpPr>
        <p:spPr>
          <a:xfrm>
            <a:off x="-1645920" y="4206240"/>
            <a:ext cx="4023360" cy="4023360"/>
          </a:xfrm>
          <a:prstGeom prst="ellipse">
            <a:avLst/>
          </a:prstGeom>
          <a:solidFill>
            <a:srgbClr val="0A4A32"/>
          </a:solidFill>
          <a:ln/>
        </p:spPr>
      </p:sp>
      <p:pic>
        <p:nvPicPr>
          <p:cNvPr id="4" name="Image 0" descr="/tmp/assets/huph_logo.png"/>
          <p:cNvPicPr>
            <a:picLocks noChangeAspect="1"/>
          </p:cNvPicPr>
          <p:nvPr/>
        </p:nvPicPr>
        <p:blipFill>
          <a:blip r:embed="rId3"/>
          <a:stretch>
            <a:fillRect/>
          </a:stretch>
        </p:blipFill>
        <p:spPr>
          <a:xfrm>
            <a:off x="5337048" y="489946"/>
            <a:ext cx="1704614" cy="1704614"/>
          </a:xfrm>
          <a:prstGeom prst="rect">
            <a:avLst/>
          </a:prstGeom>
        </p:spPr>
      </p:pic>
      <p:sp>
        <p:nvSpPr>
          <p:cNvPr id="5" name="Text 2"/>
          <p:cNvSpPr/>
          <p:nvPr/>
        </p:nvSpPr>
        <p:spPr>
          <a:xfrm>
            <a:off x="914400" y="2011680"/>
            <a:ext cx="1036015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Trân trọng cảm ơn!</a:t>
            </a:r>
            <a:endParaRPr lang="en-US" sz="4000" dirty="0"/>
          </a:p>
        </p:txBody>
      </p:sp>
      <p:sp>
        <p:nvSpPr>
          <p:cNvPr id="6" name="Text 3"/>
          <p:cNvSpPr/>
          <p:nvPr/>
        </p:nvSpPr>
        <p:spPr>
          <a:xfrm>
            <a:off x="914400" y="2971800"/>
            <a:ext cx="10360152" cy="457200"/>
          </a:xfrm>
          <a:prstGeom prst="rect">
            <a:avLst/>
          </a:prstGeom>
          <a:noFill/>
          <a:ln/>
        </p:spPr>
        <p:txBody>
          <a:bodyPr wrap="square" lIns="0" tIns="0" rIns="0" bIns="0" rtlCol="0" anchor="ctr"/>
          <a:lstStyle/>
          <a:p>
            <a:pPr marL="0" indent="0" algn="ctr">
              <a:buNone/>
            </a:pPr>
            <a:r>
              <a:rPr lang="en-US" sz="1800" i="1" dirty="0">
                <a:solidFill>
                  <a:srgbClr val="CFE7DA"/>
                </a:solidFill>
                <a:latin typeface="Arial" pitchFamily="34" charset="0"/>
                <a:ea typeface="Arial" pitchFamily="34" charset="-122"/>
                <a:cs typeface="Arial" pitchFamily="34" charset="-120"/>
              </a:rPr>
              <a:t>Xin chân thành cảm ơn Hội đồng Giám khảo đã lắng nghe và góp ý cho nghiên cứu.</a:t>
            </a:r>
            <a:endParaRPr lang="en-US" sz="1800" dirty="0"/>
          </a:p>
        </p:txBody>
      </p:sp>
      <p:sp>
        <p:nvSpPr>
          <p:cNvPr id="7" name="Shape 4"/>
          <p:cNvSpPr/>
          <p:nvPr/>
        </p:nvSpPr>
        <p:spPr>
          <a:xfrm>
            <a:off x="2377440" y="3794760"/>
            <a:ext cx="7434072" cy="1783080"/>
          </a:xfrm>
          <a:prstGeom prst="roundRect">
            <a:avLst>
              <a:gd name="adj" fmla="val 7179"/>
            </a:avLst>
          </a:prstGeom>
          <a:solidFill>
            <a:srgbClr val="0E6A45"/>
          </a:solidFill>
          <a:ln/>
        </p:spPr>
      </p:sp>
      <p:sp>
        <p:nvSpPr>
          <p:cNvPr id="8" name="Text 5"/>
          <p:cNvSpPr/>
          <p:nvPr/>
        </p:nvSpPr>
        <p:spPr>
          <a:xfrm>
            <a:off x="2697480" y="3931920"/>
            <a:ext cx="6858000" cy="1508760"/>
          </a:xfrm>
          <a:prstGeom prst="rect">
            <a:avLst/>
          </a:prstGeom>
          <a:noFill/>
          <a:ln/>
        </p:spPr>
        <p:txBody>
          <a:bodyPr wrap="square" lIns="0" tIns="0" rIns="0" bIns="0" rtlCol="0" anchor="ctr"/>
          <a:lstStyle/>
          <a:p>
            <a:pPr marL="0" indent="0" algn="ctr">
              <a:lnSpc>
                <a:spcPct val="132000"/>
              </a:lnSpc>
              <a:buNone/>
            </a:pPr>
            <a:endParaRPr lang="en-US" sz="1600" dirty="0"/>
          </a:p>
        </p:txBody>
      </p:sp>
      <p:sp>
        <p:nvSpPr>
          <p:cNvPr id="9" name="Text 6"/>
          <p:cNvSpPr/>
          <p:nvPr/>
        </p:nvSpPr>
        <p:spPr>
          <a:xfrm>
            <a:off x="914400" y="5989320"/>
            <a:ext cx="10360152" cy="365760"/>
          </a:xfrm>
          <a:prstGeom prst="rect">
            <a:avLst/>
          </a:prstGeom>
          <a:noFill/>
          <a:ln/>
        </p:spPr>
        <p:txBody>
          <a:bodyPr wrap="square" lIns="0" tIns="0" rIns="0" bIns="0" rtlCol="0" anchor="ctr"/>
          <a:lstStyle/>
          <a:p>
            <a:pPr marL="0" indent="0" algn="ctr">
              <a:buNone/>
            </a:pPr>
            <a:r>
              <a:rPr lang="en-US" sz="1100" dirty="0">
                <a:solidFill>
                  <a:srgbClr val="8FBBA4"/>
                </a:solidFill>
                <a:latin typeface="Arial" pitchFamily="34" charset="0"/>
                <a:ea typeface="Arial" pitchFamily="34" charset="-122"/>
                <a:cs typeface="Arial" pitchFamily="34" charset="-120"/>
              </a:rPr>
              <a:t>rehab-ai-monitor.com  ·  Hội nghị Khoa học và Công nghệ tuổi trẻ HUPH 2026</a:t>
            </a:r>
            <a:endParaRPr lang="en-US" sz="1100" dirty="0"/>
          </a:p>
        </p:txBody>
      </p:sp>
      <p:pic>
        <p:nvPicPr>
          <p:cNvPr id="10" name="Image 0" descr="/tmp/assets/qr_web.png">
            <a:extLst>
              <a:ext uri="{FF2B5EF4-FFF2-40B4-BE49-F238E27FC236}">
                <a16:creationId xmlns:a16="http://schemas.microsoft.com/office/drawing/2014/main" id="{92DEA4FE-AB78-0484-BCF9-7FD85F04F83C}"/>
              </a:ext>
            </a:extLst>
          </p:cNvPr>
          <p:cNvPicPr>
            <a:picLocks noChangeAspect="1"/>
          </p:cNvPicPr>
          <p:nvPr/>
        </p:nvPicPr>
        <p:blipFill>
          <a:blip r:embed="rId4"/>
          <a:stretch>
            <a:fillRect/>
          </a:stretch>
        </p:blipFill>
        <p:spPr>
          <a:xfrm>
            <a:off x="5509260" y="4101084"/>
            <a:ext cx="1170432" cy="11704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8DDE09B-919A-431F-B0BE-15BEC56BFEAE}">
  <we:reference id="wa200010001" version="1.0.0.1" store="en-US" storeType="OMEX"/>
  <we:alternateReferences>
    <we:reference id="wa200010001" version="1.0.0.1" store="en-US" storeType="OMEX"/>
  </we:alternateReferences>
  <we:properties>
    <we:property name="claude.fileId" value="&quot;148feaf3-8c2a-4c34-a243-a3798f270c0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248</TotalTime>
  <Words>3945</Words>
  <Application>Microsoft Office PowerPoint</Application>
  <PresentationFormat>Widescreen</PresentationFormat>
  <Paragraphs>348</Paragraphs>
  <Slides>20</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Rehab AI Monitor — HNKH&amp;CN Tuổi trẻ HUPH 2026</dc:title>
  <dc:subject>PptxGenJS Presentation</dc:subject>
  <dc:creator>Đinh Lê Quỳnh Phương</dc:creator>
  <cp:lastModifiedBy>Quỳnh Phương</cp:lastModifiedBy>
  <cp:revision>15</cp:revision>
  <dcterms:created xsi:type="dcterms:W3CDTF">2026-06-29T04:21:58Z</dcterms:created>
  <dcterms:modified xsi:type="dcterms:W3CDTF">2026-06-30T16:09:35Z</dcterms:modified>
</cp:coreProperties>
</file>